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71" r:id="rId5"/>
    <p:sldId id="286" r:id="rId6"/>
    <p:sldId id="289" r:id="rId7"/>
    <p:sldId id="290" r:id="rId8"/>
    <p:sldId id="291" r:id="rId9"/>
    <p:sldId id="292" r:id="rId10"/>
    <p:sldId id="295" r:id="rId11"/>
    <p:sldId id="309" r:id="rId12"/>
    <p:sldId id="296" r:id="rId13"/>
    <p:sldId id="299" r:id="rId14"/>
    <p:sldId id="307" r:id="rId15"/>
    <p:sldId id="308" r:id="rId16"/>
    <p:sldId id="297" r:id="rId17"/>
    <p:sldId id="298" r:id="rId18"/>
    <p:sldId id="300" r:id="rId19"/>
    <p:sldId id="301" r:id="rId20"/>
    <p:sldId id="302" r:id="rId21"/>
    <p:sldId id="313" r:id="rId22"/>
    <p:sldId id="306" r:id="rId23"/>
    <p:sldId id="304" r:id="rId24"/>
    <p:sldId id="314" r:id="rId25"/>
    <p:sldId id="305" r:id="rId26"/>
    <p:sldId id="310" r:id="rId27"/>
    <p:sldId id="311" r:id="rId28"/>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70"/>
    <p:restoredTop sz="96293"/>
  </p:normalViewPr>
  <p:slideViewPr>
    <p:cSldViewPr snapToGrid="0" snapToObjects="1">
      <p:cViewPr varScale="1">
        <p:scale>
          <a:sx n="204" d="100"/>
          <a:sy n="204" d="100"/>
        </p:scale>
        <p:origin x="2032" y="192"/>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27.05.2026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2" name="Picture 1">
            <a:extLst>
              <a:ext uri="{FF2B5EF4-FFF2-40B4-BE49-F238E27FC236}">
                <a16:creationId xmlns:a16="http://schemas.microsoft.com/office/drawing/2014/main" id="{682F59B5-E815-AE43-BAE2-FA594BB42C02}"/>
              </a:ext>
            </a:extLst>
          </p:cNvPr>
          <p:cNvPicPr>
            <a:picLocks noChangeAspect="1"/>
          </p:cNvPicPr>
          <p:nvPr userDrawn="1"/>
        </p:nvPicPr>
        <p:blipFill>
          <a:blip r:embed="rId3"/>
          <a:src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27.05.2026</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p:txBody>
          <a:bodyPr>
            <a:noAutofit/>
          </a:bodyPr>
          <a:lstStyle/>
          <a:p>
            <a:r>
              <a:rPr lang="en-RU" sz="3200" cap="small" dirty="0"/>
              <a:t>Разработка системы для распознавания сгенерированных искусственным интеллектом текстов в академическом письме</a:t>
            </a:r>
            <a:endParaRPr lang="ru-RU" sz="3200" dirty="0"/>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83864" y="1262742"/>
            <a:ext cx="3848717" cy="285359"/>
          </a:xfrm>
        </p:spPr>
        <p:txBody>
          <a:bodyPr/>
          <a:lstStyle/>
          <a:p>
            <a:r>
              <a:rPr lang="ru-RU" dirty="0"/>
              <a:t>Факультет Компьютерных Наук</a:t>
            </a:r>
          </a:p>
        </p:txBody>
      </p:sp>
      <p:sp>
        <p:nvSpPr>
          <p:cNvPr id="4" name="Текст 3">
            <a:extLst>
              <a:ext uri="{FF2B5EF4-FFF2-40B4-BE49-F238E27FC236}">
                <a16:creationId xmlns:a16="http://schemas.microsoft.com/office/drawing/2014/main" id="{DB8D49EC-434A-5443-AC3F-85F01995E632}"/>
              </a:ext>
            </a:extLst>
          </p:cNvPr>
          <p:cNvSpPr>
            <a:spLocks noGrp="1"/>
          </p:cNvSpPr>
          <p:nvPr>
            <p:ph type="body" sz="quarter" idx="11"/>
          </p:nvPr>
        </p:nvSpPr>
        <p:spPr>
          <a:xfrm>
            <a:off x="6259421" y="1302222"/>
            <a:ext cx="2278063" cy="206397"/>
          </a:xfrm>
        </p:spPr>
        <p:txBody>
          <a:bodyPr/>
          <a:lstStyle/>
          <a:p>
            <a:pPr algn="ctr"/>
            <a:r>
              <a:rPr lang="ru-RU" dirty="0"/>
              <a:t>Искусственный Интеллект</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a:xfrm>
            <a:off x="8793070" y="1302221"/>
            <a:ext cx="2217738" cy="206397"/>
          </a:xfrm>
        </p:spPr>
        <p:txBody>
          <a:bodyPr/>
          <a:lstStyle/>
          <a:p>
            <a:pPr algn="ctr"/>
            <a:r>
              <a:rPr lang="ru-RU" dirty="0"/>
              <a:t>Москва 2026</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a:xfrm>
            <a:off x="1027967" y="4578350"/>
            <a:ext cx="7625267" cy="899424"/>
          </a:xfrm>
        </p:spPr>
        <p:txBody>
          <a:bodyPr/>
          <a:lstStyle/>
          <a:p>
            <a:r>
              <a:rPr lang="ru-RU" dirty="0"/>
              <a:t>Студент: 			Васильев Андрей Александрович</a:t>
            </a:r>
          </a:p>
          <a:p>
            <a:r>
              <a:rPr lang="ru-RU" dirty="0"/>
              <a:t>Научный руководитель: 	</a:t>
            </a:r>
            <a:r>
              <a:rPr lang="ru-RU" dirty="0" err="1"/>
              <a:t>Кантонистова</a:t>
            </a:r>
            <a:r>
              <a:rPr lang="ru-RU" dirty="0"/>
              <a:t> Елена Олеговна</a:t>
            </a:r>
          </a:p>
          <a:p>
            <a:r>
              <a:rPr lang="ru-RU" dirty="0"/>
              <a:t>Соруководитель: 		Неволина Арина Станиславовна</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E612A-9814-B1D4-6DBD-DC7FAB01461C}"/>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948530E-FFCA-211B-1E5A-5A9C9F544E40}"/>
              </a:ext>
            </a:extLst>
          </p:cNvPr>
          <p:cNvSpPr>
            <a:spLocks noGrp="1"/>
          </p:cNvSpPr>
          <p:nvPr>
            <p:ph type="title"/>
          </p:nvPr>
        </p:nvSpPr>
        <p:spPr/>
        <p:txBody>
          <a:bodyPr/>
          <a:lstStyle/>
          <a:p>
            <a:r>
              <a:rPr lang="ru-RU" dirty="0"/>
              <a:t>Описание проблемы</a:t>
            </a:r>
          </a:p>
        </p:txBody>
      </p:sp>
      <p:sp>
        <p:nvSpPr>
          <p:cNvPr id="4" name="Текст 3">
            <a:extLst>
              <a:ext uri="{FF2B5EF4-FFF2-40B4-BE49-F238E27FC236}">
                <a16:creationId xmlns:a16="http://schemas.microsoft.com/office/drawing/2014/main" id="{72C2E1A3-88F9-87D7-CA19-10A591DC8097}"/>
              </a:ext>
            </a:extLst>
          </p:cNvPr>
          <p:cNvSpPr>
            <a:spLocks noGrp="1"/>
          </p:cNvSpPr>
          <p:nvPr>
            <p:ph type="body" sz="quarter" idx="12"/>
          </p:nvPr>
        </p:nvSpPr>
        <p:spPr/>
        <p:txBody>
          <a:bodyPr/>
          <a:lstStyle/>
          <a:p>
            <a:pPr marL="342900" indent="-342900">
              <a:buAutoNum type="arabicPeriod"/>
            </a:pPr>
            <a:r>
              <a:rPr lang="ru-RU" dirty="0"/>
              <a:t>Снижение уровня самостоятельной работы студентов.</a:t>
            </a:r>
          </a:p>
          <a:p>
            <a:pPr marL="342900" indent="-342900">
              <a:buAutoNum type="arabicPeriod"/>
            </a:pPr>
            <a:r>
              <a:rPr lang="ru-RU" dirty="0"/>
              <a:t>Нарушение принципов академической честности.</a:t>
            </a:r>
          </a:p>
          <a:p>
            <a:pPr marL="342900" indent="-342900">
              <a:buAutoNum type="arabicPeriod"/>
            </a:pPr>
            <a:r>
              <a:rPr lang="ru-RU" dirty="0"/>
              <a:t>Риск распространения недостоверной информации.</a:t>
            </a:r>
          </a:p>
        </p:txBody>
      </p:sp>
      <p:sp>
        <p:nvSpPr>
          <p:cNvPr id="5" name="Текст 4">
            <a:extLst>
              <a:ext uri="{FF2B5EF4-FFF2-40B4-BE49-F238E27FC236}">
                <a16:creationId xmlns:a16="http://schemas.microsoft.com/office/drawing/2014/main" id="{23F888AD-B388-E66A-5A96-8022641D88B6}"/>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F33834E3-D802-B00F-B745-81485B0690B8}"/>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D1EA9F81-F1EE-403F-1A2F-56DB65A29F1E}"/>
              </a:ext>
            </a:extLst>
          </p:cNvPr>
          <p:cNvSpPr>
            <a:spLocks noGrp="1"/>
          </p:cNvSpPr>
          <p:nvPr>
            <p:ph type="body" sz="quarter" idx="15"/>
          </p:nvPr>
        </p:nvSpPr>
        <p:spPr>
          <a:xfrm>
            <a:off x="6259893" y="654193"/>
            <a:ext cx="2070100" cy="181530"/>
          </a:xfrm>
        </p:spPr>
        <p:txBody>
          <a:bodyPr/>
          <a:lstStyle/>
          <a:p>
            <a:r>
              <a:rPr lang="ru-RU" dirty="0"/>
              <a:t>Описание проблемы</a:t>
            </a:r>
          </a:p>
        </p:txBody>
      </p:sp>
      <p:sp>
        <p:nvSpPr>
          <p:cNvPr id="9" name="TextBox 8">
            <a:extLst>
              <a:ext uri="{FF2B5EF4-FFF2-40B4-BE49-F238E27FC236}">
                <a16:creationId xmlns:a16="http://schemas.microsoft.com/office/drawing/2014/main" id="{1CE60A98-5C4C-3045-F79F-04D49951B0E5}"/>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Tree>
    <p:extLst>
      <p:ext uri="{BB962C8B-B14F-4D97-AF65-F5344CB8AC3E}">
        <p14:creationId xmlns:p14="http://schemas.microsoft.com/office/powerpoint/2010/main" val="570268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2C913-8508-00D6-1731-25BF25BC706B}"/>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468983C5-AE2E-B70B-BC3D-9BCE8E68C6AC}"/>
              </a:ext>
            </a:extLst>
          </p:cNvPr>
          <p:cNvSpPr>
            <a:spLocks noGrp="1"/>
          </p:cNvSpPr>
          <p:nvPr>
            <p:ph type="title"/>
          </p:nvPr>
        </p:nvSpPr>
        <p:spPr/>
        <p:txBody>
          <a:bodyPr/>
          <a:lstStyle/>
          <a:p>
            <a:r>
              <a:rPr lang="ru-RU" dirty="0"/>
              <a:t>Современное состояние</a:t>
            </a:r>
          </a:p>
        </p:txBody>
      </p:sp>
      <p:sp>
        <p:nvSpPr>
          <p:cNvPr id="5" name="Текст 4">
            <a:extLst>
              <a:ext uri="{FF2B5EF4-FFF2-40B4-BE49-F238E27FC236}">
                <a16:creationId xmlns:a16="http://schemas.microsoft.com/office/drawing/2014/main" id="{FD0E78AC-ED3B-6DAA-260B-CBB515494789}"/>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6ED44A08-2788-0238-DE10-E1D933292166}"/>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A3D28AC5-31D5-32F3-4AF8-DC54B401D6AC}"/>
              </a:ext>
            </a:extLst>
          </p:cNvPr>
          <p:cNvSpPr>
            <a:spLocks noGrp="1"/>
          </p:cNvSpPr>
          <p:nvPr>
            <p:ph type="body" sz="quarter" idx="15"/>
          </p:nvPr>
        </p:nvSpPr>
        <p:spPr>
          <a:xfrm>
            <a:off x="6259893" y="654193"/>
            <a:ext cx="2070100" cy="181530"/>
          </a:xfrm>
        </p:spPr>
        <p:txBody>
          <a:bodyPr/>
          <a:lstStyle/>
          <a:p>
            <a:r>
              <a:rPr lang="ru-RU" dirty="0"/>
              <a:t>Современное состояние</a:t>
            </a:r>
          </a:p>
        </p:txBody>
      </p:sp>
      <p:sp>
        <p:nvSpPr>
          <p:cNvPr id="9" name="TextBox 8">
            <a:extLst>
              <a:ext uri="{FF2B5EF4-FFF2-40B4-BE49-F238E27FC236}">
                <a16:creationId xmlns:a16="http://schemas.microsoft.com/office/drawing/2014/main" id="{37A3C566-D822-7676-F234-6FBDE079F9A8}"/>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
        <p:nvSpPr>
          <p:cNvPr id="17" name="Rounded Rectangle 16">
            <a:extLst>
              <a:ext uri="{FF2B5EF4-FFF2-40B4-BE49-F238E27FC236}">
                <a16:creationId xmlns:a16="http://schemas.microsoft.com/office/drawing/2014/main" id="{30FEFCBB-B522-6D6B-07CC-AA8997F4FA0C}"/>
              </a:ext>
            </a:extLst>
          </p:cNvPr>
          <p:cNvSpPr/>
          <p:nvPr/>
        </p:nvSpPr>
        <p:spPr>
          <a:xfrm>
            <a:off x="5005613" y="2503590"/>
            <a:ext cx="1852991" cy="7770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600" dirty="0"/>
              <a:t>Детекция сгенерированных текстов</a:t>
            </a:r>
            <a:endParaRPr lang="en-RU" sz="1600" dirty="0"/>
          </a:p>
        </p:txBody>
      </p:sp>
      <p:sp>
        <p:nvSpPr>
          <p:cNvPr id="18" name="Rounded Rectangle 17">
            <a:extLst>
              <a:ext uri="{FF2B5EF4-FFF2-40B4-BE49-F238E27FC236}">
                <a16:creationId xmlns:a16="http://schemas.microsoft.com/office/drawing/2014/main" id="{C76FE2DF-0F26-3DA8-D64C-95DBC43D3C22}"/>
              </a:ext>
            </a:extLst>
          </p:cNvPr>
          <p:cNvSpPr/>
          <p:nvPr/>
        </p:nvSpPr>
        <p:spPr>
          <a:xfrm>
            <a:off x="1809455" y="4057640"/>
            <a:ext cx="1852991" cy="7770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sz="1600" dirty="0"/>
              <a:t>Обучаемые классификаторы</a:t>
            </a:r>
            <a:endParaRPr lang="en-RU" sz="1600" dirty="0"/>
          </a:p>
        </p:txBody>
      </p:sp>
      <p:sp>
        <p:nvSpPr>
          <p:cNvPr id="19" name="Rounded Rectangle 18">
            <a:extLst>
              <a:ext uri="{FF2B5EF4-FFF2-40B4-BE49-F238E27FC236}">
                <a16:creationId xmlns:a16="http://schemas.microsoft.com/office/drawing/2014/main" id="{84FDC54C-6AEF-6F86-A616-B7D07A967C1A}"/>
              </a:ext>
            </a:extLst>
          </p:cNvPr>
          <p:cNvSpPr/>
          <p:nvPr/>
        </p:nvSpPr>
        <p:spPr>
          <a:xfrm>
            <a:off x="3949405" y="4057640"/>
            <a:ext cx="1852991" cy="7770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sz="1600" dirty="0"/>
              <a:t>Статистические характеристики текста</a:t>
            </a:r>
            <a:endParaRPr lang="en-RU" sz="1600" dirty="0"/>
          </a:p>
        </p:txBody>
      </p:sp>
      <p:sp>
        <p:nvSpPr>
          <p:cNvPr id="20" name="Rounded Rectangle 19">
            <a:extLst>
              <a:ext uri="{FF2B5EF4-FFF2-40B4-BE49-F238E27FC236}">
                <a16:creationId xmlns:a16="http://schemas.microsoft.com/office/drawing/2014/main" id="{E4681002-E4E5-000B-F1ED-AF94C0B59D87}"/>
              </a:ext>
            </a:extLst>
          </p:cNvPr>
          <p:cNvSpPr/>
          <p:nvPr/>
        </p:nvSpPr>
        <p:spPr>
          <a:xfrm>
            <a:off x="6089355" y="4057639"/>
            <a:ext cx="1852991" cy="7770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sz="1600" dirty="0"/>
              <a:t>Водяные знаки</a:t>
            </a:r>
            <a:endParaRPr lang="en-RU" sz="1600" dirty="0"/>
          </a:p>
        </p:txBody>
      </p:sp>
      <p:sp>
        <p:nvSpPr>
          <p:cNvPr id="21" name="Rounded Rectangle 20">
            <a:extLst>
              <a:ext uri="{FF2B5EF4-FFF2-40B4-BE49-F238E27FC236}">
                <a16:creationId xmlns:a16="http://schemas.microsoft.com/office/drawing/2014/main" id="{452E5D3E-E972-4618-168E-F2025AD3DAB4}"/>
              </a:ext>
            </a:extLst>
          </p:cNvPr>
          <p:cNvSpPr/>
          <p:nvPr/>
        </p:nvSpPr>
        <p:spPr>
          <a:xfrm>
            <a:off x="8229305" y="4057638"/>
            <a:ext cx="1852991" cy="77702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ru-RU" sz="1600" dirty="0"/>
              <a:t>Без обучения на целевой задаче</a:t>
            </a:r>
            <a:endParaRPr lang="en-RU" sz="1600" dirty="0"/>
          </a:p>
        </p:txBody>
      </p:sp>
      <p:cxnSp>
        <p:nvCxnSpPr>
          <p:cNvPr id="27" name="Elbow Connector 26">
            <a:extLst>
              <a:ext uri="{FF2B5EF4-FFF2-40B4-BE49-F238E27FC236}">
                <a16:creationId xmlns:a16="http://schemas.microsoft.com/office/drawing/2014/main" id="{EFC4B493-14A4-F866-5DA3-F8A52483FBB1}"/>
              </a:ext>
            </a:extLst>
          </p:cNvPr>
          <p:cNvCxnSpPr>
            <a:stCxn id="17" idx="2"/>
            <a:endCxn id="18" idx="0"/>
          </p:cNvCxnSpPr>
          <p:nvPr/>
        </p:nvCxnSpPr>
        <p:spPr>
          <a:xfrm rot="5400000">
            <a:off x="3945518" y="2071048"/>
            <a:ext cx="777025" cy="319615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8" name="Elbow Connector 27">
            <a:extLst>
              <a:ext uri="{FF2B5EF4-FFF2-40B4-BE49-F238E27FC236}">
                <a16:creationId xmlns:a16="http://schemas.microsoft.com/office/drawing/2014/main" id="{23C5A59C-CA81-47A1-8C28-7B711F54F4C1}"/>
              </a:ext>
            </a:extLst>
          </p:cNvPr>
          <p:cNvCxnSpPr>
            <a:cxnSpLocks/>
            <a:stCxn id="17" idx="2"/>
            <a:endCxn id="19" idx="0"/>
          </p:cNvCxnSpPr>
          <p:nvPr/>
        </p:nvCxnSpPr>
        <p:spPr>
          <a:xfrm rot="5400000">
            <a:off x="5015493" y="3141023"/>
            <a:ext cx="777025" cy="105620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1" name="Elbow Connector 30">
            <a:extLst>
              <a:ext uri="{FF2B5EF4-FFF2-40B4-BE49-F238E27FC236}">
                <a16:creationId xmlns:a16="http://schemas.microsoft.com/office/drawing/2014/main" id="{B21C4E2F-640B-2605-01EB-5DCCBCD033E4}"/>
              </a:ext>
            </a:extLst>
          </p:cNvPr>
          <p:cNvCxnSpPr>
            <a:cxnSpLocks/>
            <a:stCxn id="17" idx="2"/>
            <a:endCxn id="20" idx="0"/>
          </p:cNvCxnSpPr>
          <p:nvPr/>
        </p:nvCxnSpPr>
        <p:spPr>
          <a:xfrm rot="16200000" flipH="1">
            <a:off x="6085468" y="3127256"/>
            <a:ext cx="777024" cy="108374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4" name="Elbow Connector 33">
            <a:extLst>
              <a:ext uri="{FF2B5EF4-FFF2-40B4-BE49-F238E27FC236}">
                <a16:creationId xmlns:a16="http://schemas.microsoft.com/office/drawing/2014/main" id="{718A2876-D906-71F6-1C80-C9D39BCC8FE7}"/>
              </a:ext>
            </a:extLst>
          </p:cNvPr>
          <p:cNvCxnSpPr>
            <a:cxnSpLocks/>
            <a:stCxn id="17" idx="2"/>
            <a:endCxn id="21" idx="0"/>
          </p:cNvCxnSpPr>
          <p:nvPr/>
        </p:nvCxnSpPr>
        <p:spPr>
          <a:xfrm rot="16200000" flipH="1">
            <a:off x="7155444" y="2057280"/>
            <a:ext cx="777023" cy="322369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11476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80890-2992-1E50-8FE4-662B394BFF90}"/>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FBB3E38B-8994-429F-5255-61DEF811A29E}"/>
              </a:ext>
            </a:extLst>
          </p:cNvPr>
          <p:cNvSpPr>
            <a:spLocks noGrp="1"/>
          </p:cNvSpPr>
          <p:nvPr>
            <p:ph type="title"/>
          </p:nvPr>
        </p:nvSpPr>
        <p:spPr/>
        <p:txBody>
          <a:bodyPr/>
          <a:lstStyle/>
          <a:p>
            <a:r>
              <a:rPr lang="ru-RU" dirty="0"/>
              <a:t>Проблемы существующих методов</a:t>
            </a:r>
          </a:p>
        </p:txBody>
      </p:sp>
      <p:sp>
        <p:nvSpPr>
          <p:cNvPr id="4" name="Текст 3">
            <a:extLst>
              <a:ext uri="{FF2B5EF4-FFF2-40B4-BE49-F238E27FC236}">
                <a16:creationId xmlns:a16="http://schemas.microsoft.com/office/drawing/2014/main" id="{DC17152E-55A7-589C-F842-705D7EDEAD57}"/>
              </a:ext>
            </a:extLst>
          </p:cNvPr>
          <p:cNvSpPr>
            <a:spLocks noGrp="1"/>
          </p:cNvSpPr>
          <p:nvPr>
            <p:ph type="body" sz="quarter" idx="12"/>
          </p:nvPr>
        </p:nvSpPr>
        <p:spPr>
          <a:xfrm>
            <a:off x="585897" y="2379663"/>
            <a:ext cx="5599003" cy="3393234"/>
          </a:xfrm>
        </p:spPr>
        <p:txBody>
          <a:bodyPr/>
          <a:lstStyle/>
          <a:p>
            <a:pPr marL="342900" indent="-342900">
              <a:buAutoNum type="arabicPeriod"/>
            </a:pPr>
            <a:r>
              <a:rPr lang="ru-RU" dirty="0"/>
              <a:t>Эффект работы с данными, отличными от обучающих.</a:t>
            </a:r>
          </a:p>
          <a:p>
            <a:pPr marL="342900" indent="-342900">
              <a:buAutoNum type="arabicPeriod"/>
            </a:pPr>
            <a:r>
              <a:rPr lang="ru-RU" dirty="0"/>
              <a:t>Устойчивость к атакам (например, перефразирование).</a:t>
            </a:r>
          </a:p>
          <a:p>
            <a:pPr marL="342900" indent="-342900">
              <a:buAutoNum type="arabicPeriod"/>
            </a:pPr>
            <a:r>
              <a:rPr lang="ru-RU" dirty="0"/>
              <a:t>Предвзятость детекторов (например, текст написал не носитель языка).</a:t>
            </a:r>
          </a:p>
          <a:p>
            <a:pPr marL="342900" indent="-342900">
              <a:buAutoNum type="arabicPeriod"/>
            </a:pPr>
            <a:r>
              <a:rPr lang="ru-RU" dirty="0"/>
              <a:t>Рост качества моделей.</a:t>
            </a:r>
          </a:p>
        </p:txBody>
      </p:sp>
      <p:sp>
        <p:nvSpPr>
          <p:cNvPr id="5" name="Текст 4">
            <a:extLst>
              <a:ext uri="{FF2B5EF4-FFF2-40B4-BE49-F238E27FC236}">
                <a16:creationId xmlns:a16="http://schemas.microsoft.com/office/drawing/2014/main" id="{C4387C08-DDB5-BF56-E0C4-6596DC5E2162}"/>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96690533-7AD5-3F1B-7D3B-1375312AF81A}"/>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B964E1F5-2501-864F-B324-AAC2A5EB4755}"/>
              </a:ext>
            </a:extLst>
          </p:cNvPr>
          <p:cNvSpPr>
            <a:spLocks noGrp="1"/>
          </p:cNvSpPr>
          <p:nvPr>
            <p:ph type="body" sz="quarter" idx="15"/>
          </p:nvPr>
        </p:nvSpPr>
        <p:spPr>
          <a:xfrm>
            <a:off x="6259893" y="654193"/>
            <a:ext cx="2070100" cy="181530"/>
          </a:xfrm>
        </p:spPr>
        <p:txBody>
          <a:bodyPr/>
          <a:lstStyle/>
          <a:p>
            <a:r>
              <a:rPr lang="ru-RU" dirty="0"/>
              <a:t>Проблемы существующих методов</a:t>
            </a:r>
          </a:p>
        </p:txBody>
      </p:sp>
      <p:sp>
        <p:nvSpPr>
          <p:cNvPr id="9" name="TextBox 8">
            <a:extLst>
              <a:ext uri="{FF2B5EF4-FFF2-40B4-BE49-F238E27FC236}">
                <a16:creationId xmlns:a16="http://schemas.microsoft.com/office/drawing/2014/main" id="{15A5DB43-04DE-57A5-19EB-E3EEDA478990}"/>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Tree>
    <p:extLst>
      <p:ext uri="{BB962C8B-B14F-4D97-AF65-F5344CB8AC3E}">
        <p14:creationId xmlns:p14="http://schemas.microsoft.com/office/powerpoint/2010/main" val="3215028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6B8-7B9D-654C-8F7B-276BC48F9BD9}"/>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9CC0DA9B-28CA-DDC1-70B1-0880439B3A6B}"/>
              </a:ext>
            </a:extLst>
          </p:cNvPr>
          <p:cNvSpPr>
            <a:spLocks noGrp="1"/>
          </p:cNvSpPr>
          <p:nvPr>
            <p:ph type="title"/>
          </p:nvPr>
        </p:nvSpPr>
        <p:spPr/>
        <p:txBody>
          <a:bodyPr/>
          <a:lstStyle/>
          <a:p>
            <a:r>
              <a:rPr lang="ru-RU" dirty="0"/>
              <a:t>Описание метода</a:t>
            </a:r>
          </a:p>
        </p:txBody>
      </p:sp>
      <p:sp>
        <p:nvSpPr>
          <p:cNvPr id="4" name="Текст 3">
            <a:extLst>
              <a:ext uri="{FF2B5EF4-FFF2-40B4-BE49-F238E27FC236}">
                <a16:creationId xmlns:a16="http://schemas.microsoft.com/office/drawing/2014/main" id="{FAAE366D-D0CB-6AE0-556C-65189C8ECF3D}"/>
              </a:ext>
            </a:extLst>
          </p:cNvPr>
          <p:cNvSpPr>
            <a:spLocks noGrp="1"/>
          </p:cNvSpPr>
          <p:nvPr>
            <p:ph type="body" sz="quarter" idx="12"/>
          </p:nvPr>
        </p:nvSpPr>
        <p:spPr>
          <a:xfrm>
            <a:off x="585897" y="2379663"/>
            <a:ext cx="5599003" cy="3393234"/>
          </a:xfrm>
        </p:spPr>
        <p:txBody>
          <a:bodyPr/>
          <a:lstStyle/>
          <a:p>
            <a:pPr marL="342900" indent="-342900">
              <a:buAutoNum type="arabicPeriod"/>
            </a:pPr>
            <a:r>
              <a:rPr lang="ru-RU" dirty="0"/>
              <a:t>Определяем, какие данные считаем нормальными, а какие - аномальными.</a:t>
            </a:r>
          </a:p>
          <a:p>
            <a:pPr marL="342900" indent="-342900">
              <a:buAutoNum type="arabicPeriod"/>
            </a:pPr>
            <a:r>
              <a:rPr lang="ru-RU" dirty="0"/>
              <a:t>Формируем </a:t>
            </a:r>
            <a:r>
              <a:rPr lang="ru-RU" dirty="0" err="1"/>
              <a:t>эмбеддинги</a:t>
            </a:r>
            <a:r>
              <a:rPr lang="en-US" dirty="0"/>
              <a:t> </a:t>
            </a:r>
            <a:r>
              <a:rPr lang="ru-RU" dirty="0" err="1"/>
              <a:t>предобученной</a:t>
            </a:r>
            <a:r>
              <a:rPr lang="ru-RU" dirty="0"/>
              <a:t> моделью.</a:t>
            </a:r>
          </a:p>
          <a:p>
            <a:pPr marL="342900" indent="-342900">
              <a:buAutoNum type="arabicPeriod"/>
            </a:pPr>
            <a:r>
              <a:rPr lang="ru-RU" dirty="0"/>
              <a:t>Обучаем модель-классификатор на </a:t>
            </a:r>
            <a:r>
              <a:rPr lang="ru-RU" dirty="0" err="1"/>
              <a:t>эмбеддингах</a:t>
            </a:r>
            <a:r>
              <a:rPr lang="ru-RU" dirty="0"/>
              <a:t> нормальных данных.</a:t>
            </a:r>
          </a:p>
          <a:p>
            <a:pPr marL="342900" indent="-342900">
              <a:buAutoNum type="arabicPeriod"/>
            </a:pPr>
            <a:r>
              <a:rPr lang="ru-RU" dirty="0"/>
              <a:t>Вычисляем скоры для </a:t>
            </a:r>
            <a:r>
              <a:rPr lang="ru-RU" dirty="0" err="1"/>
              <a:t>эмбеддингов</a:t>
            </a:r>
            <a:r>
              <a:rPr lang="ru-RU" dirty="0"/>
              <a:t> тестовых данных.</a:t>
            </a:r>
          </a:p>
          <a:p>
            <a:pPr marL="342900" indent="-342900">
              <a:buAutoNum type="arabicPeriod"/>
            </a:pPr>
            <a:r>
              <a:rPr lang="ru-RU" dirty="0"/>
              <a:t>Отвечаем на вопрос: лежат ли тестовые данные в распределении нормальных (</a:t>
            </a:r>
            <a:r>
              <a:rPr lang="en-US" dirty="0"/>
              <a:t>in-distribution</a:t>
            </a:r>
            <a:r>
              <a:rPr lang="ru-RU" dirty="0"/>
              <a:t>) или нет</a:t>
            </a:r>
            <a:r>
              <a:rPr lang="en-US" dirty="0"/>
              <a:t> (out-of-distribution)</a:t>
            </a:r>
            <a:r>
              <a:rPr lang="ru-RU" dirty="0"/>
              <a:t>.</a:t>
            </a:r>
          </a:p>
          <a:p>
            <a:pPr marL="342900" indent="-342900">
              <a:buAutoNum type="arabicPeriod"/>
            </a:pPr>
            <a:endParaRPr lang="ru-RU" dirty="0"/>
          </a:p>
        </p:txBody>
      </p:sp>
      <p:sp>
        <p:nvSpPr>
          <p:cNvPr id="5" name="Текст 4">
            <a:extLst>
              <a:ext uri="{FF2B5EF4-FFF2-40B4-BE49-F238E27FC236}">
                <a16:creationId xmlns:a16="http://schemas.microsoft.com/office/drawing/2014/main" id="{94A3AA83-C789-69E9-BCC2-2A5439A72568}"/>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987E6621-D531-90C8-7332-EA4A01357DCA}"/>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6040C6E2-7B10-A976-F1F6-4024D7503D8A}"/>
              </a:ext>
            </a:extLst>
          </p:cNvPr>
          <p:cNvSpPr>
            <a:spLocks noGrp="1"/>
          </p:cNvSpPr>
          <p:nvPr>
            <p:ph type="body" sz="quarter" idx="15"/>
          </p:nvPr>
        </p:nvSpPr>
        <p:spPr>
          <a:xfrm>
            <a:off x="6259893" y="654193"/>
            <a:ext cx="2070100" cy="181530"/>
          </a:xfrm>
        </p:spPr>
        <p:txBody>
          <a:bodyPr/>
          <a:lstStyle/>
          <a:p>
            <a:r>
              <a:rPr lang="ru-RU" dirty="0"/>
              <a:t>Описание метода</a:t>
            </a:r>
          </a:p>
        </p:txBody>
      </p:sp>
      <p:sp>
        <p:nvSpPr>
          <p:cNvPr id="9" name="TextBox 8">
            <a:extLst>
              <a:ext uri="{FF2B5EF4-FFF2-40B4-BE49-F238E27FC236}">
                <a16:creationId xmlns:a16="http://schemas.microsoft.com/office/drawing/2014/main" id="{6C65875A-9372-BB1C-E72C-6E158465E1CB}"/>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pic>
        <p:nvPicPr>
          <p:cNvPr id="6146" name="Picture 2">
            <a:extLst>
              <a:ext uri="{FF2B5EF4-FFF2-40B4-BE49-F238E27FC236}">
                <a16:creationId xmlns:a16="http://schemas.microsoft.com/office/drawing/2014/main" id="{151ABC39-6235-7076-325A-C1CD56109D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35" t="14689" r="49656" b="9599"/>
          <a:stretch>
            <a:fillRect/>
          </a:stretch>
        </p:blipFill>
        <p:spPr bwMode="auto">
          <a:xfrm>
            <a:off x="6737350" y="2030099"/>
            <a:ext cx="4152900" cy="315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46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D584-629D-1DDA-027D-0E1039A0AC9C}"/>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D7CAFA4-83F5-8685-DFD2-C8C1D562CA76}"/>
              </a:ext>
            </a:extLst>
          </p:cNvPr>
          <p:cNvSpPr>
            <a:spLocks noGrp="1"/>
          </p:cNvSpPr>
          <p:nvPr>
            <p:ph type="title"/>
          </p:nvPr>
        </p:nvSpPr>
        <p:spPr/>
        <p:txBody>
          <a:bodyPr/>
          <a:lstStyle/>
          <a:p>
            <a:r>
              <a:rPr lang="ru-RU" dirty="0"/>
              <a:t>Описание метода</a:t>
            </a:r>
          </a:p>
        </p:txBody>
      </p:sp>
      <p:sp>
        <p:nvSpPr>
          <p:cNvPr id="4" name="Текст 3">
            <a:extLst>
              <a:ext uri="{FF2B5EF4-FFF2-40B4-BE49-F238E27FC236}">
                <a16:creationId xmlns:a16="http://schemas.microsoft.com/office/drawing/2014/main" id="{9C4BBE1B-D41D-6B05-AE82-BA19691E0629}"/>
              </a:ext>
            </a:extLst>
          </p:cNvPr>
          <p:cNvSpPr>
            <a:spLocks noGrp="1"/>
          </p:cNvSpPr>
          <p:nvPr>
            <p:ph type="body" sz="quarter" idx="12"/>
          </p:nvPr>
        </p:nvSpPr>
        <p:spPr>
          <a:xfrm>
            <a:off x="585897" y="2379663"/>
            <a:ext cx="5599003" cy="3393234"/>
          </a:xfrm>
        </p:spPr>
        <p:txBody>
          <a:bodyPr/>
          <a:lstStyle/>
          <a:p>
            <a:r>
              <a:rPr lang="ru-RU" dirty="0"/>
              <a:t>Методы агрегирования (</a:t>
            </a:r>
            <a:r>
              <a:rPr lang="ru-RU" dirty="0" err="1"/>
              <a:t>пуллинги</a:t>
            </a:r>
            <a:r>
              <a:rPr lang="ru-RU" dirty="0"/>
              <a:t>) – методы получения из множества </a:t>
            </a:r>
            <a:r>
              <a:rPr lang="ru-RU" dirty="0" err="1"/>
              <a:t>эмбеддингов</a:t>
            </a:r>
            <a:r>
              <a:rPr lang="ru-RU" dirty="0"/>
              <a:t> частей текста (например, предложений) одного </a:t>
            </a:r>
            <a:r>
              <a:rPr lang="ru-RU" dirty="0" err="1"/>
              <a:t>эмбеддинга</a:t>
            </a:r>
            <a:r>
              <a:rPr lang="ru-RU" dirty="0"/>
              <a:t>.</a:t>
            </a:r>
          </a:p>
          <a:p>
            <a:r>
              <a:rPr lang="ru-RU" dirty="0"/>
              <a:t>Предположения:</a:t>
            </a:r>
          </a:p>
          <a:p>
            <a:pPr marL="342900" indent="-342900">
              <a:buFont typeface="+mj-lt"/>
              <a:buAutoNum type="arabicPeriod"/>
            </a:pPr>
            <a:r>
              <a:rPr lang="ru-RU" dirty="0"/>
              <a:t>Различные методы агрегирования позволяют извлекать из текста различные аспекты.</a:t>
            </a:r>
          </a:p>
          <a:p>
            <a:pPr marL="342900" indent="-342900">
              <a:buFont typeface="+mj-lt"/>
              <a:buAutoNum type="arabicPeriod"/>
            </a:pPr>
            <a:r>
              <a:rPr lang="ru-RU" dirty="0"/>
              <a:t>Извлеченные аспекты могут быть комплиментарными – дополнять друг друга.</a:t>
            </a:r>
          </a:p>
          <a:p>
            <a:pPr marL="342900" indent="-342900">
              <a:buFont typeface="+mj-lt"/>
              <a:buAutoNum type="arabicPeriod"/>
            </a:pPr>
            <a:r>
              <a:rPr lang="ru-RU" dirty="0"/>
              <a:t>Увеличение размерности пространства за счет сочетания комплиментарных </a:t>
            </a:r>
            <a:r>
              <a:rPr lang="ru-RU" dirty="0" err="1"/>
              <a:t>эмбеддингов</a:t>
            </a:r>
            <a:r>
              <a:rPr lang="ru-RU" dirty="0"/>
              <a:t> может способствовать лучшему разделению объектов. </a:t>
            </a:r>
          </a:p>
        </p:txBody>
      </p:sp>
      <p:sp>
        <p:nvSpPr>
          <p:cNvPr id="5" name="Текст 4">
            <a:extLst>
              <a:ext uri="{FF2B5EF4-FFF2-40B4-BE49-F238E27FC236}">
                <a16:creationId xmlns:a16="http://schemas.microsoft.com/office/drawing/2014/main" id="{F45C100D-ABC0-5D4F-F2BE-B0FB8AB7E202}"/>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3C23B8D0-2F0E-9F7B-0C06-F32D4A5AFAED}"/>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1B741478-72F2-E7DB-0E9D-94C2F627A4A4}"/>
              </a:ext>
            </a:extLst>
          </p:cNvPr>
          <p:cNvSpPr>
            <a:spLocks noGrp="1"/>
          </p:cNvSpPr>
          <p:nvPr>
            <p:ph type="body" sz="quarter" idx="15"/>
          </p:nvPr>
        </p:nvSpPr>
        <p:spPr>
          <a:xfrm>
            <a:off x="6259893" y="654193"/>
            <a:ext cx="2070100" cy="181530"/>
          </a:xfrm>
        </p:spPr>
        <p:txBody>
          <a:bodyPr/>
          <a:lstStyle/>
          <a:p>
            <a:r>
              <a:rPr lang="ru-RU" dirty="0"/>
              <a:t>Описание метода</a:t>
            </a:r>
          </a:p>
        </p:txBody>
      </p:sp>
      <p:sp>
        <p:nvSpPr>
          <p:cNvPr id="9" name="TextBox 8">
            <a:extLst>
              <a:ext uri="{FF2B5EF4-FFF2-40B4-BE49-F238E27FC236}">
                <a16:creationId xmlns:a16="http://schemas.microsoft.com/office/drawing/2014/main" id="{A958B086-D8DC-8AAB-E53E-5A92A2CB74AD}"/>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
        <p:nvSpPr>
          <p:cNvPr id="2" name="Parallelogram 1">
            <a:extLst>
              <a:ext uri="{FF2B5EF4-FFF2-40B4-BE49-F238E27FC236}">
                <a16:creationId xmlns:a16="http://schemas.microsoft.com/office/drawing/2014/main" id="{3B383416-24E2-2FEC-A3E2-C993F80B1E99}"/>
              </a:ext>
            </a:extLst>
          </p:cNvPr>
          <p:cNvSpPr/>
          <p:nvPr/>
        </p:nvSpPr>
        <p:spPr>
          <a:xfrm>
            <a:off x="6718300" y="3956050"/>
            <a:ext cx="1847850" cy="400050"/>
          </a:xfrm>
          <a:prstGeom prst="parallelogram">
            <a:avLst/>
          </a:prstGeom>
          <a:solidFill>
            <a:schemeClr val="bg1">
              <a:lumMod val="9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RU"/>
          </a:p>
        </p:txBody>
      </p:sp>
      <p:sp>
        <p:nvSpPr>
          <p:cNvPr id="8" name="Oval 7">
            <a:extLst>
              <a:ext uri="{FF2B5EF4-FFF2-40B4-BE49-F238E27FC236}">
                <a16:creationId xmlns:a16="http://schemas.microsoft.com/office/drawing/2014/main" id="{770618F7-BF55-FDFF-7223-C09EDEBD23BF}"/>
              </a:ext>
            </a:extLst>
          </p:cNvPr>
          <p:cNvSpPr/>
          <p:nvPr/>
        </p:nvSpPr>
        <p:spPr>
          <a:xfrm>
            <a:off x="7268940" y="4057650"/>
            <a:ext cx="509207" cy="184150"/>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RU"/>
          </a:p>
        </p:txBody>
      </p:sp>
      <p:sp>
        <p:nvSpPr>
          <p:cNvPr id="10" name="Oval 9">
            <a:extLst>
              <a:ext uri="{FF2B5EF4-FFF2-40B4-BE49-F238E27FC236}">
                <a16:creationId xmlns:a16="http://schemas.microsoft.com/office/drawing/2014/main" id="{05660F72-EF89-F87B-8E83-09F3FA0D7B7D}"/>
              </a:ext>
            </a:extLst>
          </p:cNvPr>
          <p:cNvSpPr/>
          <p:nvPr/>
        </p:nvSpPr>
        <p:spPr>
          <a:xfrm>
            <a:off x="7523543" y="4057650"/>
            <a:ext cx="509207" cy="18415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RU"/>
          </a:p>
        </p:txBody>
      </p:sp>
      <p:sp>
        <p:nvSpPr>
          <p:cNvPr id="12" name="Parallelogram 11">
            <a:extLst>
              <a:ext uri="{FF2B5EF4-FFF2-40B4-BE49-F238E27FC236}">
                <a16:creationId xmlns:a16="http://schemas.microsoft.com/office/drawing/2014/main" id="{01B611CF-C6A0-1ECE-7222-8D26B84470EE}"/>
              </a:ext>
            </a:extLst>
          </p:cNvPr>
          <p:cNvSpPr/>
          <p:nvPr/>
        </p:nvSpPr>
        <p:spPr>
          <a:xfrm>
            <a:off x="9518650" y="3956050"/>
            <a:ext cx="1847850" cy="400050"/>
          </a:xfrm>
          <a:prstGeom prst="parallelogram">
            <a:avLst/>
          </a:prstGeom>
          <a:solidFill>
            <a:schemeClr val="bg1">
              <a:lumMod val="9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RU"/>
          </a:p>
        </p:txBody>
      </p:sp>
      <p:sp>
        <p:nvSpPr>
          <p:cNvPr id="13" name="Oval 12">
            <a:extLst>
              <a:ext uri="{FF2B5EF4-FFF2-40B4-BE49-F238E27FC236}">
                <a16:creationId xmlns:a16="http://schemas.microsoft.com/office/drawing/2014/main" id="{8290B439-6F99-13E3-4407-7F210E240DD7}"/>
              </a:ext>
            </a:extLst>
          </p:cNvPr>
          <p:cNvSpPr/>
          <p:nvPr/>
        </p:nvSpPr>
        <p:spPr>
          <a:xfrm>
            <a:off x="10069290" y="4057650"/>
            <a:ext cx="509207" cy="184150"/>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RU"/>
          </a:p>
        </p:txBody>
      </p:sp>
      <p:sp>
        <p:nvSpPr>
          <p:cNvPr id="14" name="Oval 13">
            <a:extLst>
              <a:ext uri="{FF2B5EF4-FFF2-40B4-BE49-F238E27FC236}">
                <a16:creationId xmlns:a16="http://schemas.microsoft.com/office/drawing/2014/main" id="{F36FF79A-71D4-DD42-FF13-CEA057128D0E}"/>
              </a:ext>
            </a:extLst>
          </p:cNvPr>
          <p:cNvSpPr/>
          <p:nvPr/>
        </p:nvSpPr>
        <p:spPr>
          <a:xfrm>
            <a:off x="10323893" y="4057650"/>
            <a:ext cx="509207" cy="18415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RU"/>
          </a:p>
        </p:txBody>
      </p:sp>
      <p:sp>
        <p:nvSpPr>
          <p:cNvPr id="15" name="Oval 14">
            <a:extLst>
              <a:ext uri="{FF2B5EF4-FFF2-40B4-BE49-F238E27FC236}">
                <a16:creationId xmlns:a16="http://schemas.microsoft.com/office/drawing/2014/main" id="{074D6E11-965A-2731-3B71-D4E88BCA8239}"/>
              </a:ext>
            </a:extLst>
          </p:cNvPr>
          <p:cNvSpPr/>
          <p:nvPr/>
        </p:nvSpPr>
        <p:spPr>
          <a:xfrm>
            <a:off x="10069289" y="2886075"/>
            <a:ext cx="509207" cy="476250"/>
          </a:xfrm>
          <a:prstGeom prst="ellipse">
            <a:avLst/>
          </a:prstGeom>
          <a:solidFill>
            <a:schemeClr val="tx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RU"/>
          </a:p>
        </p:txBody>
      </p:sp>
      <p:cxnSp>
        <p:nvCxnSpPr>
          <p:cNvPr id="18" name="Straight Arrow Connector 17">
            <a:extLst>
              <a:ext uri="{FF2B5EF4-FFF2-40B4-BE49-F238E27FC236}">
                <a16:creationId xmlns:a16="http://schemas.microsoft.com/office/drawing/2014/main" id="{FE0FC542-75F2-4885-8220-9911EB39455E}"/>
              </a:ext>
            </a:extLst>
          </p:cNvPr>
          <p:cNvCxnSpPr>
            <a:cxnSpLocks/>
            <a:stCxn id="12" idx="5"/>
          </p:cNvCxnSpPr>
          <p:nvPr/>
        </p:nvCxnSpPr>
        <p:spPr>
          <a:xfrm flipV="1">
            <a:off x="9568656" y="2597150"/>
            <a:ext cx="0" cy="15589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5579C25D-AD5B-A57F-5848-9DA83B2F47AF}"/>
              </a:ext>
            </a:extLst>
          </p:cNvPr>
          <p:cNvCxnSpPr>
            <a:stCxn id="15" idx="2"/>
            <a:endCxn id="13" idx="2"/>
          </p:cNvCxnSpPr>
          <p:nvPr/>
        </p:nvCxnSpPr>
        <p:spPr>
          <a:xfrm>
            <a:off x="10069289" y="3124200"/>
            <a:ext cx="1" cy="1025525"/>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F6AFA7-A78F-B7C9-B772-622056B1206A}"/>
              </a:ext>
            </a:extLst>
          </p:cNvPr>
          <p:cNvCxnSpPr>
            <a:cxnSpLocks/>
            <a:stCxn id="15" idx="6"/>
            <a:endCxn id="13" idx="6"/>
          </p:cNvCxnSpPr>
          <p:nvPr/>
        </p:nvCxnSpPr>
        <p:spPr>
          <a:xfrm>
            <a:off x="10578496" y="3124200"/>
            <a:ext cx="1" cy="1025525"/>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5582098-5A9B-B892-D038-701AD3622EF7}"/>
              </a:ext>
            </a:extLst>
          </p:cNvPr>
          <p:cNvSpPr/>
          <p:nvPr/>
        </p:nvSpPr>
        <p:spPr>
          <a:xfrm>
            <a:off x="10323892" y="3365500"/>
            <a:ext cx="509207" cy="476250"/>
          </a:xfrm>
          <a:prstGeom prst="ellipse">
            <a:avLst/>
          </a:prstGeom>
          <a:solidFill>
            <a:schemeClr val="accent2"/>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n-RU"/>
          </a:p>
        </p:txBody>
      </p:sp>
      <p:cxnSp>
        <p:nvCxnSpPr>
          <p:cNvPr id="27" name="Straight Connector 26">
            <a:extLst>
              <a:ext uri="{FF2B5EF4-FFF2-40B4-BE49-F238E27FC236}">
                <a16:creationId xmlns:a16="http://schemas.microsoft.com/office/drawing/2014/main" id="{2731D1DB-1E29-5BDD-3701-AF8273983244}"/>
              </a:ext>
            </a:extLst>
          </p:cNvPr>
          <p:cNvCxnSpPr>
            <a:cxnSpLocks/>
            <a:stCxn id="16" idx="2"/>
            <a:endCxn id="14" idx="2"/>
          </p:cNvCxnSpPr>
          <p:nvPr/>
        </p:nvCxnSpPr>
        <p:spPr>
          <a:xfrm>
            <a:off x="10323892" y="3603625"/>
            <a:ext cx="1" cy="546100"/>
          </a:xfrm>
          <a:prstGeom prst="line">
            <a:avLst/>
          </a:prstGeom>
          <a:ln>
            <a:prstDash val="sysDot"/>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B418F812-643A-125D-E16E-5F024EEFEC9D}"/>
              </a:ext>
            </a:extLst>
          </p:cNvPr>
          <p:cNvCxnSpPr>
            <a:cxnSpLocks/>
            <a:stCxn id="16" idx="6"/>
          </p:cNvCxnSpPr>
          <p:nvPr/>
        </p:nvCxnSpPr>
        <p:spPr>
          <a:xfrm>
            <a:off x="10833099" y="3603625"/>
            <a:ext cx="0" cy="549275"/>
          </a:xfrm>
          <a:prstGeom prst="line">
            <a:avLst/>
          </a:prstGeom>
          <a:ln>
            <a:prstDash val="sysDot"/>
          </a:ln>
        </p:spPr>
        <p:style>
          <a:lnRef idx="1">
            <a:schemeClr val="accent2"/>
          </a:lnRef>
          <a:fillRef idx="0">
            <a:schemeClr val="accent2"/>
          </a:fillRef>
          <a:effectRef idx="0">
            <a:schemeClr val="accent2"/>
          </a:effectRef>
          <a:fontRef idx="minor">
            <a:schemeClr val="tx1"/>
          </a:fontRef>
        </p:style>
      </p:cxnSp>
      <p:sp>
        <p:nvSpPr>
          <p:cNvPr id="33" name="Right Arrow 32">
            <a:extLst>
              <a:ext uri="{FF2B5EF4-FFF2-40B4-BE49-F238E27FC236}">
                <a16:creationId xmlns:a16="http://schemas.microsoft.com/office/drawing/2014/main" id="{CBCEDCF1-91F2-027A-9A77-6E0649961A13}"/>
              </a:ext>
            </a:extLst>
          </p:cNvPr>
          <p:cNvSpPr/>
          <p:nvPr/>
        </p:nvSpPr>
        <p:spPr>
          <a:xfrm>
            <a:off x="8967084" y="3541282"/>
            <a:ext cx="184731" cy="6009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cxnSp>
        <p:nvCxnSpPr>
          <p:cNvPr id="35" name="Straight Arrow Connector 34">
            <a:extLst>
              <a:ext uri="{FF2B5EF4-FFF2-40B4-BE49-F238E27FC236}">
                <a16:creationId xmlns:a16="http://schemas.microsoft.com/office/drawing/2014/main" id="{447380C5-4AD7-770D-8C08-944228A9E8E6}"/>
              </a:ext>
            </a:extLst>
          </p:cNvPr>
          <p:cNvCxnSpPr>
            <a:cxnSpLocks/>
          </p:cNvCxnSpPr>
          <p:nvPr/>
        </p:nvCxnSpPr>
        <p:spPr>
          <a:xfrm>
            <a:off x="7092950" y="3175000"/>
            <a:ext cx="549275" cy="977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D74EAE2-F72E-29CC-5862-9A9B1F1D1C98}"/>
              </a:ext>
            </a:extLst>
          </p:cNvPr>
          <p:cNvSpPr txBox="1"/>
          <p:nvPr/>
        </p:nvSpPr>
        <p:spPr>
          <a:xfrm>
            <a:off x="6856047" y="2834243"/>
            <a:ext cx="327334" cy="461665"/>
          </a:xfrm>
          <a:prstGeom prst="rect">
            <a:avLst/>
          </a:prstGeom>
          <a:noFill/>
        </p:spPr>
        <p:txBody>
          <a:bodyPr wrap="none" rtlCol="0">
            <a:spAutoFit/>
          </a:bodyPr>
          <a:lstStyle/>
          <a:p>
            <a:pPr algn="l"/>
            <a:r>
              <a:rPr lang="en-US" sz="2400" b="1" dirty="0">
                <a:latin typeface="HSE Sans" panose="02000000000000000000" pitchFamily="2" charset="0"/>
              </a:rPr>
              <a:t>?</a:t>
            </a:r>
            <a:endParaRPr lang="en-RU" sz="2400" b="1" dirty="0">
              <a:latin typeface="HSE Sans" panose="02000000000000000000" pitchFamily="2" charset="0"/>
            </a:endParaRPr>
          </a:p>
        </p:txBody>
      </p:sp>
    </p:spTree>
    <p:extLst>
      <p:ext uri="{BB962C8B-B14F-4D97-AF65-F5344CB8AC3E}">
        <p14:creationId xmlns:p14="http://schemas.microsoft.com/office/powerpoint/2010/main" val="179342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C389D-FD1F-38A2-4073-63ED0DC605C0}"/>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181B5EF1-2684-015C-57BC-DF7BECBE0CDA}"/>
              </a:ext>
            </a:extLst>
          </p:cNvPr>
          <p:cNvSpPr>
            <a:spLocks noGrp="1"/>
          </p:cNvSpPr>
          <p:nvPr>
            <p:ph type="title"/>
          </p:nvPr>
        </p:nvSpPr>
        <p:spPr/>
        <p:txBody>
          <a:bodyPr/>
          <a:lstStyle/>
          <a:p>
            <a:r>
              <a:rPr lang="ru-RU" dirty="0"/>
              <a:t>Наборы данных</a:t>
            </a:r>
          </a:p>
        </p:txBody>
      </p:sp>
      <p:sp>
        <p:nvSpPr>
          <p:cNvPr id="4" name="Текст 3">
            <a:extLst>
              <a:ext uri="{FF2B5EF4-FFF2-40B4-BE49-F238E27FC236}">
                <a16:creationId xmlns:a16="http://schemas.microsoft.com/office/drawing/2014/main" id="{A2B27D21-77A0-F0CB-D54B-BAE4FEF66606}"/>
              </a:ext>
            </a:extLst>
          </p:cNvPr>
          <p:cNvSpPr>
            <a:spLocks noGrp="1"/>
          </p:cNvSpPr>
          <p:nvPr>
            <p:ph type="body" sz="quarter" idx="12"/>
          </p:nvPr>
        </p:nvSpPr>
        <p:spPr>
          <a:xfrm>
            <a:off x="585897" y="2379663"/>
            <a:ext cx="5599003" cy="3393234"/>
          </a:xfrm>
        </p:spPr>
        <p:txBody>
          <a:bodyPr>
            <a:normAutofit lnSpcReduction="10000"/>
          </a:bodyPr>
          <a:lstStyle/>
          <a:p>
            <a:r>
              <a:rPr lang="ru-RU" dirty="0"/>
              <a:t>Требования:</a:t>
            </a:r>
          </a:p>
          <a:p>
            <a:pPr marL="342900" indent="-342900">
              <a:buAutoNum type="arabicPeriod"/>
            </a:pPr>
            <a:r>
              <a:rPr lang="ru-RU" dirty="0"/>
              <a:t>Тексты должны быть сопоставимы: </a:t>
            </a:r>
            <a:r>
              <a:rPr lang="en-RU" dirty="0"/>
              <a:t>быть близки по теме, стилю и длине</a:t>
            </a:r>
            <a:r>
              <a:rPr lang="ru-RU" dirty="0"/>
              <a:t>.</a:t>
            </a:r>
          </a:p>
          <a:p>
            <a:pPr marL="342900" indent="-342900">
              <a:buAutoNum type="arabicPeriod"/>
            </a:pPr>
            <a:r>
              <a:rPr lang="ru-RU" dirty="0"/>
              <a:t>Использовать несколько моделей. *</a:t>
            </a:r>
          </a:p>
          <a:p>
            <a:pPr marL="342900" indent="-342900">
              <a:buAutoNum type="arabicPeriod"/>
            </a:pPr>
            <a:r>
              <a:rPr lang="ru-RU" dirty="0"/>
              <a:t>Набор данных должен быть разнообразным.</a:t>
            </a:r>
          </a:p>
          <a:p>
            <a:pPr marL="342900" indent="-342900">
              <a:buAutoNum type="arabicPeriod"/>
            </a:pPr>
            <a:r>
              <a:rPr lang="ru-RU" dirty="0"/>
              <a:t>Не должно быть утечек.</a:t>
            </a:r>
          </a:p>
          <a:p>
            <a:r>
              <a:rPr lang="ru-RU" dirty="0"/>
              <a:t>Запросы (</a:t>
            </a:r>
            <a:r>
              <a:rPr lang="ru-RU" dirty="0" err="1"/>
              <a:t>промпты</a:t>
            </a:r>
            <a:r>
              <a:rPr lang="ru-RU" dirty="0"/>
              <a:t>):</a:t>
            </a:r>
          </a:p>
          <a:p>
            <a:pPr marL="342900" indent="-342900">
              <a:buAutoNum type="arabicPeriod"/>
            </a:pPr>
            <a:r>
              <a:rPr lang="en-RU" dirty="0"/>
              <a:t>Базовый запрос на написание эссе заданной длины и темы</a:t>
            </a:r>
            <a:r>
              <a:rPr lang="ru-RU" dirty="0"/>
              <a:t>.</a:t>
            </a:r>
          </a:p>
          <a:p>
            <a:pPr marL="342900" indent="-342900">
              <a:buAutoNum type="arabicPeriod"/>
            </a:pPr>
            <a:r>
              <a:rPr lang="en-RU" dirty="0"/>
              <a:t>Запрос с явными требованиями к академическому стилю и структуре</a:t>
            </a:r>
            <a:r>
              <a:rPr lang="ru-RU" dirty="0"/>
              <a:t>.</a:t>
            </a:r>
          </a:p>
          <a:p>
            <a:pPr marL="342900" indent="-342900">
              <a:buAutoNum type="arabicPeriod"/>
            </a:pPr>
            <a:r>
              <a:rPr lang="en-RU" dirty="0"/>
              <a:t>Запрос с использованием примера</a:t>
            </a:r>
            <a:r>
              <a:rPr lang="ru-RU" dirty="0"/>
              <a:t>.</a:t>
            </a:r>
          </a:p>
          <a:p>
            <a:pPr marL="342900" indent="-342900">
              <a:buAutoNum type="arabicPeriod"/>
            </a:pPr>
            <a:r>
              <a:rPr lang="en-RU" dirty="0"/>
              <a:t>Двухшаговый сценарий, включающий извлечение описания стиля</a:t>
            </a:r>
            <a:r>
              <a:rPr lang="ru-RU" dirty="0"/>
              <a:t>.</a:t>
            </a:r>
          </a:p>
          <a:p>
            <a:pPr marL="342900" indent="-342900">
              <a:buAutoNum type="arabicPeriod"/>
            </a:pPr>
            <a:r>
              <a:rPr lang="en-RU" dirty="0"/>
              <a:t>Двухшаговый сценарий с предварительным построением плана эссе</a:t>
            </a:r>
            <a:r>
              <a:rPr lang="ru-RU" dirty="0"/>
              <a:t>.</a:t>
            </a:r>
          </a:p>
          <a:p>
            <a:endParaRPr lang="ru-RU" dirty="0"/>
          </a:p>
          <a:p>
            <a:endParaRPr lang="ru-RU" dirty="0"/>
          </a:p>
        </p:txBody>
      </p:sp>
      <p:sp>
        <p:nvSpPr>
          <p:cNvPr id="5" name="Текст 4">
            <a:extLst>
              <a:ext uri="{FF2B5EF4-FFF2-40B4-BE49-F238E27FC236}">
                <a16:creationId xmlns:a16="http://schemas.microsoft.com/office/drawing/2014/main" id="{EAE64F97-94EF-4487-040E-F2E12581A8F5}"/>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80248CC1-EAA1-15BF-09A2-0EFC332EF90D}"/>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1B830DC8-78CE-3C14-8D4D-5DE3FA5BED2C}"/>
              </a:ext>
            </a:extLst>
          </p:cNvPr>
          <p:cNvSpPr>
            <a:spLocks noGrp="1"/>
          </p:cNvSpPr>
          <p:nvPr>
            <p:ph type="body" sz="quarter" idx="15"/>
          </p:nvPr>
        </p:nvSpPr>
        <p:spPr>
          <a:xfrm>
            <a:off x="6259893" y="654193"/>
            <a:ext cx="2070100" cy="181530"/>
          </a:xfrm>
        </p:spPr>
        <p:txBody>
          <a:bodyPr/>
          <a:lstStyle/>
          <a:p>
            <a:r>
              <a:rPr lang="ru-RU" dirty="0"/>
              <a:t>Наборы данных</a:t>
            </a:r>
          </a:p>
        </p:txBody>
      </p:sp>
      <p:sp>
        <p:nvSpPr>
          <p:cNvPr id="9" name="TextBox 8">
            <a:extLst>
              <a:ext uri="{FF2B5EF4-FFF2-40B4-BE49-F238E27FC236}">
                <a16:creationId xmlns:a16="http://schemas.microsoft.com/office/drawing/2014/main" id="{90E60E41-473A-54BC-84A3-225C183D8507}"/>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graphicFrame>
        <p:nvGraphicFramePr>
          <p:cNvPr id="2" name="Table 1">
            <a:extLst>
              <a:ext uri="{FF2B5EF4-FFF2-40B4-BE49-F238E27FC236}">
                <a16:creationId xmlns:a16="http://schemas.microsoft.com/office/drawing/2014/main" id="{15497656-B36E-77B1-8A9E-B68EBC0C8CEC}"/>
              </a:ext>
            </a:extLst>
          </p:cNvPr>
          <p:cNvGraphicFramePr>
            <a:graphicFrameLocks noGrp="1"/>
          </p:cNvGraphicFramePr>
          <p:nvPr>
            <p:extLst>
              <p:ext uri="{D42A27DB-BD31-4B8C-83A1-F6EECF244321}">
                <p14:modId xmlns:p14="http://schemas.microsoft.com/office/powerpoint/2010/main" val="523837372"/>
              </p:ext>
            </p:extLst>
          </p:nvPr>
        </p:nvGraphicFramePr>
        <p:xfrm>
          <a:off x="6870700" y="1435100"/>
          <a:ext cx="4737101" cy="4768703"/>
        </p:xfrm>
        <a:graphic>
          <a:graphicData uri="http://schemas.openxmlformats.org/drawingml/2006/table">
            <a:tbl>
              <a:tblPr firstRow="1" firstCol="1" bandRow="1">
                <a:tableStyleId>{5C22544A-7EE6-4342-B048-85BDC9FD1C3A}</a:tableStyleId>
              </a:tblPr>
              <a:tblGrid>
                <a:gridCol w="1428750">
                  <a:extLst>
                    <a:ext uri="{9D8B030D-6E8A-4147-A177-3AD203B41FA5}">
                      <a16:colId xmlns:a16="http://schemas.microsoft.com/office/drawing/2014/main" val="2598280895"/>
                    </a:ext>
                  </a:extLst>
                </a:gridCol>
                <a:gridCol w="968946">
                  <a:extLst>
                    <a:ext uri="{9D8B030D-6E8A-4147-A177-3AD203B41FA5}">
                      <a16:colId xmlns:a16="http://schemas.microsoft.com/office/drawing/2014/main" val="2050788506"/>
                    </a:ext>
                  </a:extLst>
                </a:gridCol>
                <a:gridCol w="1219644">
                  <a:extLst>
                    <a:ext uri="{9D8B030D-6E8A-4147-A177-3AD203B41FA5}">
                      <a16:colId xmlns:a16="http://schemas.microsoft.com/office/drawing/2014/main" val="3606005432"/>
                    </a:ext>
                  </a:extLst>
                </a:gridCol>
                <a:gridCol w="504681">
                  <a:extLst>
                    <a:ext uri="{9D8B030D-6E8A-4147-A177-3AD203B41FA5}">
                      <a16:colId xmlns:a16="http://schemas.microsoft.com/office/drawing/2014/main" val="1780084736"/>
                    </a:ext>
                  </a:extLst>
                </a:gridCol>
                <a:gridCol w="615080">
                  <a:extLst>
                    <a:ext uri="{9D8B030D-6E8A-4147-A177-3AD203B41FA5}">
                      <a16:colId xmlns:a16="http://schemas.microsoft.com/office/drawing/2014/main" val="909246156"/>
                    </a:ext>
                  </a:extLst>
                </a:gridCol>
              </a:tblGrid>
              <a:tr h="437222">
                <a:tc>
                  <a:txBody>
                    <a:bodyPr/>
                    <a:lstStyle/>
                    <a:p>
                      <a:pPr algn="just">
                        <a:lnSpc>
                          <a:spcPct val="150000"/>
                        </a:lnSpc>
                        <a:buNone/>
                      </a:pPr>
                      <a:r>
                        <a:rPr lang="ru-RU" sz="1000" dirty="0">
                          <a:effectLst/>
                        </a:rPr>
                        <a:t>Модель</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Тип запроса</a:t>
                      </a:r>
                      <a:endParaRPr lang="en-RU" sz="1000">
                        <a:effectLst/>
                        <a:latin typeface="Times New Roman" panose="02020603050405020304" pitchFamily="18" charset="0"/>
                        <a:ea typeface="Times New Roman" panose="02020603050405020304" pitchFamily="18" charset="0"/>
                      </a:endParaRPr>
                    </a:p>
                  </a:txBody>
                  <a:tcPr marL="67428" marR="67428" marT="0" marB="0"/>
                </a:tc>
                <a:tc gridSpan="3">
                  <a:txBody>
                    <a:bodyPr/>
                    <a:lstStyle/>
                    <a:p>
                      <a:pPr algn="just">
                        <a:lnSpc>
                          <a:spcPct val="150000"/>
                        </a:lnSpc>
                        <a:buNone/>
                      </a:pPr>
                      <a:r>
                        <a:rPr lang="ru-RU" sz="1000">
                          <a:effectLst/>
                        </a:rPr>
                        <a:t>Количество текстов</a:t>
                      </a:r>
                      <a:endParaRPr lang="en-RU" sz="1000">
                        <a:effectLst/>
                        <a:latin typeface="Times New Roman" panose="02020603050405020304" pitchFamily="18" charset="0"/>
                        <a:ea typeface="Times New Roman" panose="02020603050405020304" pitchFamily="18" charset="0"/>
                      </a:endParaRPr>
                    </a:p>
                  </a:txBody>
                  <a:tcPr marL="67428" marR="67428" marT="0" marB="0"/>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2087337566"/>
                  </a:ext>
                </a:extLst>
              </a:tr>
              <a:tr h="206261">
                <a:tc rowSpan="5">
                  <a:txBody>
                    <a:bodyPr/>
                    <a:lstStyle/>
                    <a:p>
                      <a:pPr algn="just">
                        <a:lnSpc>
                          <a:spcPct val="150000"/>
                        </a:lnSpc>
                        <a:buNone/>
                      </a:pPr>
                      <a:r>
                        <a:rPr lang="en-US" sz="1000" dirty="0">
                          <a:effectLst/>
                        </a:rPr>
                        <a:t>Mistral 7B</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en-US" sz="1000">
                          <a:effectLst/>
                        </a:rPr>
                        <a:t>1</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1500</a:t>
                      </a:r>
                      <a:endParaRPr lang="en-RU" sz="1000">
                        <a:effectLst/>
                        <a:latin typeface="Times New Roman" panose="02020603050405020304" pitchFamily="18" charset="0"/>
                        <a:ea typeface="Times New Roman" panose="02020603050405020304" pitchFamily="18" charset="0"/>
                      </a:endParaRPr>
                    </a:p>
                  </a:txBody>
                  <a:tcPr marL="67428" marR="67428" marT="0" marB="0"/>
                </a:tc>
                <a:tc rowSpan="5">
                  <a:txBody>
                    <a:bodyPr/>
                    <a:lstStyle/>
                    <a:p>
                      <a:pPr algn="just">
                        <a:lnSpc>
                          <a:spcPct val="150000"/>
                        </a:lnSpc>
                        <a:buNone/>
                      </a:pPr>
                      <a:r>
                        <a:rPr lang="en-RU" sz="1000">
                          <a:effectLst/>
                        </a:rPr>
                        <a:t>7500</a:t>
                      </a:r>
                      <a:endParaRPr lang="en-RU" sz="1000">
                        <a:effectLst/>
                        <a:latin typeface="Times New Roman" panose="02020603050405020304" pitchFamily="18" charset="0"/>
                        <a:ea typeface="Times New Roman" panose="02020603050405020304" pitchFamily="18" charset="0"/>
                      </a:endParaRPr>
                    </a:p>
                  </a:txBody>
                  <a:tcPr marL="67428" marR="67428" marT="0" marB="0"/>
                </a:tc>
                <a:tc rowSpan="20">
                  <a:txBody>
                    <a:bodyPr/>
                    <a:lstStyle/>
                    <a:p>
                      <a:pPr algn="just">
                        <a:lnSpc>
                          <a:spcPct val="150000"/>
                        </a:lnSpc>
                        <a:buNone/>
                      </a:pPr>
                      <a:r>
                        <a:rPr lang="en-RU" sz="1000" dirty="0">
                          <a:effectLst/>
                        </a:rPr>
                        <a:t>37 488</a:t>
                      </a:r>
                      <a:endParaRPr lang="en-RU" sz="1000" dirty="0">
                        <a:effectLst/>
                        <a:latin typeface="Times New Roman" panose="02020603050405020304" pitchFamily="18" charset="0"/>
                        <a:ea typeface="Times New Roman" panose="02020603050405020304" pitchFamily="18" charset="0"/>
                      </a:endParaRPr>
                    </a:p>
                  </a:txBody>
                  <a:tcPr marL="67428" marR="67428" marT="0" marB="0"/>
                </a:tc>
                <a:extLst>
                  <a:ext uri="{0D108BD9-81ED-4DB2-BD59-A6C34878D82A}">
                    <a16:rowId xmlns:a16="http://schemas.microsoft.com/office/drawing/2014/main" val="3111112422"/>
                  </a:ext>
                </a:extLst>
              </a:tr>
              <a:tr h="206261">
                <a:tc vMerge="1">
                  <a:txBody>
                    <a:bodyPr/>
                    <a:lstStyle/>
                    <a:p>
                      <a:endParaRPr lang="en-RU"/>
                    </a:p>
                  </a:txBody>
                  <a:tcPr/>
                </a:tc>
                <a:tc>
                  <a:txBody>
                    <a:bodyPr/>
                    <a:lstStyle/>
                    <a:p>
                      <a:pPr algn="just">
                        <a:lnSpc>
                          <a:spcPct val="150000"/>
                        </a:lnSpc>
                        <a:buNone/>
                      </a:pPr>
                      <a:r>
                        <a:rPr lang="en-US" sz="1000">
                          <a:effectLst/>
                        </a:rPr>
                        <a:t>2</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1500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3362538103"/>
                  </a:ext>
                </a:extLst>
              </a:tr>
              <a:tr h="206261">
                <a:tc vMerge="1">
                  <a:txBody>
                    <a:bodyPr/>
                    <a:lstStyle/>
                    <a:p>
                      <a:endParaRPr lang="en-RU"/>
                    </a:p>
                  </a:txBody>
                  <a:tcPr/>
                </a:tc>
                <a:tc>
                  <a:txBody>
                    <a:bodyPr/>
                    <a:lstStyle/>
                    <a:p>
                      <a:pPr algn="just">
                        <a:lnSpc>
                          <a:spcPct val="150000"/>
                        </a:lnSpc>
                        <a:buNone/>
                      </a:pPr>
                      <a:r>
                        <a:rPr lang="en-US" sz="1000">
                          <a:effectLst/>
                        </a:rPr>
                        <a:t>3</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1500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2581163457"/>
                  </a:ext>
                </a:extLst>
              </a:tr>
              <a:tr h="206261">
                <a:tc vMerge="1">
                  <a:txBody>
                    <a:bodyPr/>
                    <a:lstStyle/>
                    <a:p>
                      <a:endParaRPr lang="en-RU"/>
                    </a:p>
                  </a:txBody>
                  <a:tcPr/>
                </a:tc>
                <a:tc>
                  <a:txBody>
                    <a:bodyPr/>
                    <a:lstStyle/>
                    <a:p>
                      <a:pPr algn="just">
                        <a:lnSpc>
                          <a:spcPct val="150000"/>
                        </a:lnSpc>
                        <a:buNone/>
                      </a:pPr>
                      <a:r>
                        <a:rPr lang="en-US" sz="1000" dirty="0">
                          <a:effectLst/>
                        </a:rPr>
                        <a:t>4</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1500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864689564"/>
                  </a:ext>
                </a:extLst>
              </a:tr>
              <a:tr h="206261">
                <a:tc vMerge="1">
                  <a:txBody>
                    <a:bodyPr/>
                    <a:lstStyle/>
                    <a:p>
                      <a:endParaRPr lang="en-RU"/>
                    </a:p>
                  </a:txBody>
                  <a:tcPr/>
                </a:tc>
                <a:tc>
                  <a:txBody>
                    <a:bodyPr/>
                    <a:lstStyle/>
                    <a:p>
                      <a:pPr algn="just">
                        <a:lnSpc>
                          <a:spcPct val="150000"/>
                        </a:lnSpc>
                        <a:buNone/>
                      </a:pPr>
                      <a:r>
                        <a:rPr lang="en-US" sz="1000">
                          <a:effectLst/>
                        </a:rPr>
                        <a:t>5</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dirty="0">
                          <a:effectLst/>
                        </a:rPr>
                        <a:t>1500</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573595237"/>
                  </a:ext>
                </a:extLst>
              </a:tr>
              <a:tr h="206261">
                <a:tc rowSpan="5">
                  <a:txBody>
                    <a:bodyPr/>
                    <a:lstStyle/>
                    <a:p>
                      <a:pPr algn="just">
                        <a:lnSpc>
                          <a:spcPct val="150000"/>
                        </a:lnSpc>
                        <a:buNone/>
                      </a:pPr>
                      <a:r>
                        <a:rPr lang="en-US" sz="1000">
                          <a:effectLst/>
                        </a:rPr>
                        <a:t>Llama 3 13B</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en-US" sz="1000">
                          <a:effectLst/>
                        </a:rPr>
                        <a:t>1</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999</a:t>
                      </a:r>
                      <a:endParaRPr lang="en-RU" sz="1000">
                        <a:effectLst/>
                        <a:latin typeface="Times New Roman" panose="02020603050405020304" pitchFamily="18" charset="0"/>
                        <a:ea typeface="Times New Roman" panose="02020603050405020304" pitchFamily="18" charset="0"/>
                      </a:endParaRPr>
                    </a:p>
                  </a:txBody>
                  <a:tcPr marL="67428" marR="67428" marT="0" marB="0"/>
                </a:tc>
                <a:tc rowSpan="5">
                  <a:txBody>
                    <a:bodyPr/>
                    <a:lstStyle/>
                    <a:p>
                      <a:pPr algn="just">
                        <a:lnSpc>
                          <a:spcPct val="150000"/>
                        </a:lnSpc>
                        <a:buNone/>
                      </a:pPr>
                      <a:r>
                        <a:rPr lang="ru-RU" sz="1000" dirty="0">
                          <a:effectLst/>
                        </a:rPr>
                        <a:t>4 989</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extLst>
                  <a:ext uri="{0D108BD9-81ED-4DB2-BD59-A6C34878D82A}">
                    <a16:rowId xmlns:a16="http://schemas.microsoft.com/office/drawing/2014/main" val="1320608399"/>
                  </a:ext>
                </a:extLst>
              </a:tr>
              <a:tr h="206261">
                <a:tc vMerge="1">
                  <a:txBody>
                    <a:bodyPr/>
                    <a:lstStyle/>
                    <a:p>
                      <a:endParaRPr lang="en-RU"/>
                    </a:p>
                  </a:txBody>
                  <a:tcPr/>
                </a:tc>
                <a:tc>
                  <a:txBody>
                    <a:bodyPr/>
                    <a:lstStyle/>
                    <a:p>
                      <a:pPr algn="just">
                        <a:lnSpc>
                          <a:spcPct val="150000"/>
                        </a:lnSpc>
                        <a:buNone/>
                      </a:pPr>
                      <a:r>
                        <a:rPr lang="en-US" sz="1000">
                          <a:effectLst/>
                        </a:rPr>
                        <a:t>2</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1000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2618420749"/>
                  </a:ext>
                </a:extLst>
              </a:tr>
              <a:tr h="206261">
                <a:tc vMerge="1">
                  <a:txBody>
                    <a:bodyPr/>
                    <a:lstStyle/>
                    <a:p>
                      <a:endParaRPr lang="en-RU"/>
                    </a:p>
                  </a:txBody>
                  <a:tcPr/>
                </a:tc>
                <a:tc>
                  <a:txBody>
                    <a:bodyPr/>
                    <a:lstStyle/>
                    <a:p>
                      <a:pPr algn="just">
                        <a:lnSpc>
                          <a:spcPct val="150000"/>
                        </a:lnSpc>
                        <a:buNone/>
                      </a:pPr>
                      <a:r>
                        <a:rPr lang="en-US" sz="1000">
                          <a:effectLst/>
                        </a:rPr>
                        <a:t>3</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994</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1247865357"/>
                  </a:ext>
                </a:extLst>
              </a:tr>
              <a:tr h="206261">
                <a:tc vMerge="1">
                  <a:txBody>
                    <a:bodyPr/>
                    <a:lstStyle/>
                    <a:p>
                      <a:endParaRPr lang="en-RU"/>
                    </a:p>
                  </a:txBody>
                  <a:tcPr/>
                </a:tc>
                <a:tc>
                  <a:txBody>
                    <a:bodyPr/>
                    <a:lstStyle/>
                    <a:p>
                      <a:pPr algn="just">
                        <a:lnSpc>
                          <a:spcPct val="150000"/>
                        </a:lnSpc>
                        <a:buNone/>
                      </a:pPr>
                      <a:r>
                        <a:rPr lang="en-US" sz="1000">
                          <a:effectLst/>
                        </a:rPr>
                        <a:t>4</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997</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564346237"/>
                  </a:ext>
                </a:extLst>
              </a:tr>
              <a:tr h="206261">
                <a:tc vMerge="1">
                  <a:txBody>
                    <a:bodyPr/>
                    <a:lstStyle/>
                    <a:p>
                      <a:endParaRPr lang="en-RU"/>
                    </a:p>
                  </a:txBody>
                  <a:tcPr/>
                </a:tc>
                <a:tc>
                  <a:txBody>
                    <a:bodyPr/>
                    <a:lstStyle/>
                    <a:p>
                      <a:pPr algn="just">
                        <a:lnSpc>
                          <a:spcPct val="150000"/>
                        </a:lnSpc>
                        <a:buNone/>
                      </a:pPr>
                      <a:r>
                        <a:rPr lang="en-US" sz="1000">
                          <a:effectLst/>
                        </a:rPr>
                        <a:t>5</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999</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1381161226"/>
                  </a:ext>
                </a:extLst>
              </a:tr>
              <a:tr h="206261">
                <a:tc rowSpan="5">
                  <a:txBody>
                    <a:bodyPr/>
                    <a:lstStyle/>
                    <a:p>
                      <a:pPr algn="just">
                        <a:lnSpc>
                          <a:spcPct val="150000"/>
                        </a:lnSpc>
                        <a:buNone/>
                      </a:pPr>
                      <a:r>
                        <a:rPr lang="en-US" sz="1000">
                          <a:effectLst/>
                        </a:rPr>
                        <a:t>DeepSeek (chat)</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en-US" sz="1000">
                          <a:effectLst/>
                        </a:rPr>
                        <a:t>1</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3000</a:t>
                      </a:r>
                      <a:endParaRPr lang="en-RU" sz="1000">
                        <a:effectLst/>
                        <a:latin typeface="Times New Roman" panose="02020603050405020304" pitchFamily="18" charset="0"/>
                        <a:ea typeface="Times New Roman" panose="02020603050405020304" pitchFamily="18" charset="0"/>
                      </a:endParaRPr>
                    </a:p>
                  </a:txBody>
                  <a:tcPr marL="67428" marR="67428" marT="0" marB="0"/>
                </a:tc>
                <a:tc rowSpan="5">
                  <a:txBody>
                    <a:bodyPr/>
                    <a:lstStyle/>
                    <a:p>
                      <a:pPr algn="just">
                        <a:lnSpc>
                          <a:spcPct val="150000"/>
                        </a:lnSpc>
                        <a:buNone/>
                      </a:pPr>
                      <a:r>
                        <a:rPr lang="ru-RU" sz="1000">
                          <a:effectLst/>
                        </a:rPr>
                        <a:t>14999</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extLst>
                  <a:ext uri="{0D108BD9-81ED-4DB2-BD59-A6C34878D82A}">
                    <a16:rowId xmlns:a16="http://schemas.microsoft.com/office/drawing/2014/main" val="4291318130"/>
                  </a:ext>
                </a:extLst>
              </a:tr>
              <a:tr h="206261">
                <a:tc vMerge="1">
                  <a:txBody>
                    <a:bodyPr/>
                    <a:lstStyle/>
                    <a:p>
                      <a:endParaRPr lang="en-RU"/>
                    </a:p>
                  </a:txBody>
                  <a:tcPr/>
                </a:tc>
                <a:tc>
                  <a:txBody>
                    <a:bodyPr/>
                    <a:lstStyle/>
                    <a:p>
                      <a:pPr algn="just">
                        <a:lnSpc>
                          <a:spcPct val="150000"/>
                        </a:lnSpc>
                        <a:buNone/>
                      </a:pPr>
                      <a:r>
                        <a:rPr lang="en-US" sz="1000">
                          <a:effectLst/>
                        </a:rPr>
                        <a:t>2</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3000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4037310650"/>
                  </a:ext>
                </a:extLst>
              </a:tr>
              <a:tr h="206261">
                <a:tc vMerge="1">
                  <a:txBody>
                    <a:bodyPr/>
                    <a:lstStyle/>
                    <a:p>
                      <a:endParaRPr lang="en-RU"/>
                    </a:p>
                  </a:txBody>
                  <a:tcPr/>
                </a:tc>
                <a:tc>
                  <a:txBody>
                    <a:bodyPr/>
                    <a:lstStyle/>
                    <a:p>
                      <a:pPr algn="just">
                        <a:lnSpc>
                          <a:spcPct val="150000"/>
                        </a:lnSpc>
                        <a:buNone/>
                      </a:pPr>
                      <a:r>
                        <a:rPr lang="en-US" sz="1000">
                          <a:effectLst/>
                        </a:rPr>
                        <a:t>3</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2999</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2461577758"/>
                  </a:ext>
                </a:extLst>
              </a:tr>
              <a:tr h="206261">
                <a:tc vMerge="1">
                  <a:txBody>
                    <a:bodyPr/>
                    <a:lstStyle/>
                    <a:p>
                      <a:endParaRPr lang="en-RU"/>
                    </a:p>
                  </a:txBody>
                  <a:tcPr/>
                </a:tc>
                <a:tc>
                  <a:txBody>
                    <a:bodyPr/>
                    <a:lstStyle/>
                    <a:p>
                      <a:pPr algn="just">
                        <a:lnSpc>
                          <a:spcPct val="150000"/>
                        </a:lnSpc>
                        <a:buNone/>
                      </a:pPr>
                      <a:r>
                        <a:rPr lang="en-US" sz="1000">
                          <a:effectLst/>
                        </a:rPr>
                        <a:t>4</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3000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1035007605"/>
                  </a:ext>
                </a:extLst>
              </a:tr>
              <a:tr h="206261">
                <a:tc vMerge="1">
                  <a:txBody>
                    <a:bodyPr/>
                    <a:lstStyle/>
                    <a:p>
                      <a:endParaRPr lang="en-RU"/>
                    </a:p>
                  </a:txBody>
                  <a:tcPr/>
                </a:tc>
                <a:tc>
                  <a:txBody>
                    <a:bodyPr/>
                    <a:lstStyle/>
                    <a:p>
                      <a:pPr algn="just">
                        <a:lnSpc>
                          <a:spcPct val="150000"/>
                        </a:lnSpc>
                        <a:buNone/>
                      </a:pPr>
                      <a:r>
                        <a:rPr lang="en-US" sz="1000">
                          <a:effectLst/>
                        </a:rPr>
                        <a:t>5</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3000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993013233"/>
                  </a:ext>
                </a:extLst>
              </a:tr>
              <a:tr h="206261">
                <a:tc rowSpan="5">
                  <a:txBody>
                    <a:bodyPr/>
                    <a:lstStyle/>
                    <a:p>
                      <a:pPr algn="just">
                        <a:lnSpc>
                          <a:spcPct val="150000"/>
                        </a:lnSpc>
                        <a:buNone/>
                      </a:pPr>
                      <a:r>
                        <a:rPr lang="en-US" sz="1000" dirty="0">
                          <a:effectLst/>
                        </a:rPr>
                        <a:t>ChatGPT (</a:t>
                      </a:r>
                      <a:r>
                        <a:rPr lang="en-US" sz="1000" dirty="0" err="1">
                          <a:effectLst/>
                        </a:rPr>
                        <a:t>gpt</a:t>
                      </a:r>
                      <a:r>
                        <a:rPr lang="en-US" sz="1000" dirty="0">
                          <a:effectLst/>
                        </a:rPr>
                        <a:t> 4.1)</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en-US" sz="1000">
                          <a:effectLst/>
                        </a:rPr>
                        <a:t>1</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2000</a:t>
                      </a:r>
                      <a:endParaRPr lang="en-RU" sz="1000">
                        <a:effectLst/>
                        <a:latin typeface="Times New Roman" panose="02020603050405020304" pitchFamily="18" charset="0"/>
                        <a:ea typeface="Times New Roman" panose="02020603050405020304" pitchFamily="18" charset="0"/>
                      </a:endParaRPr>
                    </a:p>
                  </a:txBody>
                  <a:tcPr marL="67428" marR="67428" marT="0" marB="0"/>
                </a:tc>
                <a:tc rowSpan="5">
                  <a:txBody>
                    <a:bodyPr/>
                    <a:lstStyle/>
                    <a:p>
                      <a:pPr algn="just">
                        <a:lnSpc>
                          <a:spcPct val="150000"/>
                        </a:lnSpc>
                        <a:buNone/>
                      </a:pPr>
                      <a:r>
                        <a:rPr lang="ru-RU" sz="1000">
                          <a:effectLst/>
                        </a:rPr>
                        <a:t>10000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extLst>
                  <a:ext uri="{0D108BD9-81ED-4DB2-BD59-A6C34878D82A}">
                    <a16:rowId xmlns:a16="http://schemas.microsoft.com/office/drawing/2014/main" val="820338576"/>
                  </a:ext>
                </a:extLst>
              </a:tr>
              <a:tr h="206261">
                <a:tc vMerge="1">
                  <a:txBody>
                    <a:bodyPr/>
                    <a:lstStyle/>
                    <a:p>
                      <a:endParaRPr lang="en-RU"/>
                    </a:p>
                  </a:txBody>
                  <a:tcPr/>
                </a:tc>
                <a:tc>
                  <a:txBody>
                    <a:bodyPr/>
                    <a:lstStyle/>
                    <a:p>
                      <a:pPr algn="just">
                        <a:lnSpc>
                          <a:spcPct val="150000"/>
                        </a:lnSpc>
                        <a:buNone/>
                      </a:pPr>
                      <a:r>
                        <a:rPr lang="en-US" sz="1000">
                          <a:effectLst/>
                        </a:rPr>
                        <a:t>2</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153211414"/>
                  </a:ext>
                </a:extLst>
              </a:tr>
              <a:tr h="206261">
                <a:tc vMerge="1">
                  <a:txBody>
                    <a:bodyPr/>
                    <a:lstStyle/>
                    <a:p>
                      <a:endParaRPr lang="en-RU"/>
                    </a:p>
                  </a:txBody>
                  <a:tcPr/>
                </a:tc>
                <a:tc>
                  <a:txBody>
                    <a:bodyPr/>
                    <a:lstStyle/>
                    <a:p>
                      <a:pPr algn="just">
                        <a:lnSpc>
                          <a:spcPct val="150000"/>
                        </a:lnSpc>
                        <a:buNone/>
                      </a:pPr>
                      <a:r>
                        <a:rPr lang="en-US" sz="1000">
                          <a:effectLst/>
                        </a:rPr>
                        <a:t>3</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3766395042"/>
                  </a:ext>
                </a:extLst>
              </a:tr>
              <a:tr h="206261">
                <a:tc vMerge="1">
                  <a:txBody>
                    <a:bodyPr/>
                    <a:lstStyle/>
                    <a:p>
                      <a:endParaRPr lang="en-RU"/>
                    </a:p>
                  </a:txBody>
                  <a:tcPr/>
                </a:tc>
                <a:tc>
                  <a:txBody>
                    <a:bodyPr/>
                    <a:lstStyle/>
                    <a:p>
                      <a:pPr algn="just">
                        <a:lnSpc>
                          <a:spcPct val="150000"/>
                        </a:lnSpc>
                        <a:buNone/>
                      </a:pPr>
                      <a:r>
                        <a:rPr lang="en-US" sz="1000">
                          <a:effectLst/>
                        </a:rPr>
                        <a:t>4</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863175765"/>
                  </a:ext>
                </a:extLst>
              </a:tr>
              <a:tr h="206261">
                <a:tc vMerge="1">
                  <a:txBody>
                    <a:bodyPr/>
                    <a:lstStyle/>
                    <a:p>
                      <a:endParaRPr lang="en-RU"/>
                    </a:p>
                  </a:txBody>
                  <a:tcPr/>
                </a:tc>
                <a:tc>
                  <a:txBody>
                    <a:bodyPr/>
                    <a:lstStyle/>
                    <a:p>
                      <a:pPr algn="just">
                        <a:lnSpc>
                          <a:spcPct val="150000"/>
                        </a:lnSpc>
                        <a:buNone/>
                      </a:pPr>
                      <a:r>
                        <a:rPr lang="en-US" sz="1000">
                          <a:effectLst/>
                        </a:rPr>
                        <a:t>5</a:t>
                      </a:r>
                      <a:endParaRPr lang="en-RU" sz="100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2000</a:t>
                      </a:r>
                      <a:endParaRPr lang="en-RU" sz="1000">
                        <a:effectLst/>
                        <a:latin typeface="Times New Roman" panose="02020603050405020304" pitchFamily="18" charset="0"/>
                        <a:ea typeface="Times New Roman" panose="02020603050405020304" pitchFamily="18" charset="0"/>
                      </a:endParaRPr>
                    </a:p>
                  </a:txBody>
                  <a:tcPr marL="67428" marR="67428" marT="0" marB="0"/>
                </a:tc>
                <a:tc vMerge="1">
                  <a:txBody>
                    <a:bodyPr/>
                    <a:lstStyle/>
                    <a:p>
                      <a:endParaRPr lang="en-RU"/>
                    </a:p>
                  </a:txBody>
                  <a:tcPr/>
                </a:tc>
                <a:tc vMerge="1">
                  <a:txBody>
                    <a:bodyPr/>
                    <a:lstStyle/>
                    <a:p>
                      <a:endParaRPr lang="en-RU"/>
                    </a:p>
                  </a:txBody>
                  <a:tcPr/>
                </a:tc>
                <a:extLst>
                  <a:ext uri="{0D108BD9-81ED-4DB2-BD59-A6C34878D82A}">
                    <a16:rowId xmlns:a16="http://schemas.microsoft.com/office/drawing/2014/main" val="3879504694"/>
                  </a:ext>
                </a:extLst>
              </a:tr>
              <a:tr h="206261">
                <a:tc>
                  <a:txBody>
                    <a:bodyPr/>
                    <a:lstStyle/>
                    <a:p>
                      <a:pPr algn="just">
                        <a:lnSpc>
                          <a:spcPct val="150000"/>
                        </a:lnSpc>
                        <a:buNone/>
                      </a:pPr>
                      <a:r>
                        <a:rPr lang="en-US" sz="1000" dirty="0" err="1">
                          <a:effectLst/>
                        </a:rPr>
                        <a:t>IvyPanda</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a:txBody>
                    <a:bodyPr/>
                    <a:lstStyle/>
                    <a:p>
                      <a:pPr algn="just">
                        <a:lnSpc>
                          <a:spcPct val="150000"/>
                        </a:lnSpc>
                        <a:buNone/>
                      </a:pPr>
                      <a:r>
                        <a:rPr lang="ru-RU" sz="1000">
                          <a:effectLst/>
                        </a:rPr>
                        <a:t>живые</a:t>
                      </a:r>
                      <a:endParaRPr lang="en-RU" sz="1000">
                        <a:effectLst/>
                        <a:latin typeface="Times New Roman" panose="02020603050405020304" pitchFamily="18" charset="0"/>
                        <a:ea typeface="Times New Roman" panose="02020603050405020304" pitchFamily="18" charset="0"/>
                      </a:endParaRPr>
                    </a:p>
                  </a:txBody>
                  <a:tcPr marL="67428" marR="67428" marT="0" marB="0"/>
                </a:tc>
                <a:tc gridSpan="3">
                  <a:txBody>
                    <a:bodyPr/>
                    <a:lstStyle/>
                    <a:p>
                      <a:pPr algn="just">
                        <a:lnSpc>
                          <a:spcPct val="150000"/>
                        </a:lnSpc>
                        <a:buNone/>
                      </a:pPr>
                      <a:r>
                        <a:rPr lang="en-US" sz="1000" dirty="0">
                          <a:effectLst/>
                        </a:rPr>
                        <a:t>128,293</a:t>
                      </a:r>
                      <a:endParaRPr lang="en-RU" sz="1000" dirty="0">
                        <a:effectLst/>
                        <a:latin typeface="Times New Roman" panose="02020603050405020304" pitchFamily="18" charset="0"/>
                        <a:ea typeface="Times New Roman" panose="02020603050405020304" pitchFamily="18" charset="0"/>
                      </a:endParaRPr>
                    </a:p>
                  </a:txBody>
                  <a:tcPr marL="67428" marR="67428" marT="0" marB="0"/>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292374505"/>
                  </a:ext>
                </a:extLst>
              </a:tr>
            </a:tbl>
          </a:graphicData>
        </a:graphic>
      </p:graphicFrame>
    </p:spTree>
    <p:extLst>
      <p:ext uri="{BB962C8B-B14F-4D97-AF65-F5344CB8AC3E}">
        <p14:creationId xmlns:p14="http://schemas.microsoft.com/office/powerpoint/2010/main" val="1790113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2762-C7BB-8665-264B-C6B21679134A}"/>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6172AE53-4F58-1433-796F-73E6C114EFDC}"/>
              </a:ext>
            </a:extLst>
          </p:cNvPr>
          <p:cNvSpPr>
            <a:spLocks noGrp="1"/>
          </p:cNvSpPr>
          <p:nvPr>
            <p:ph type="title"/>
          </p:nvPr>
        </p:nvSpPr>
        <p:spPr/>
        <p:txBody>
          <a:bodyPr/>
          <a:lstStyle/>
          <a:p>
            <a:r>
              <a:rPr lang="ru-RU" dirty="0"/>
              <a:t>Примеры текстов</a:t>
            </a:r>
          </a:p>
        </p:txBody>
      </p:sp>
      <p:sp>
        <p:nvSpPr>
          <p:cNvPr id="4" name="Текст 3">
            <a:extLst>
              <a:ext uri="{FF2B5EF4-FFF2-40B4-BE49-F238E27FC236}">
                <a16:creationId xmlns:a16="http://schemas.microsoft.com/office/drawing/2014/main" id="{A087AD19-CA12-F3A4-1ACB-6A3269522D33}"/>
              </a:ext>
            </a:extLst>
          </p:cNvPr>
          <p:cNvSpPr>
            <a:spLocks noGrp="1"/>
          </p:cNvSpPr>
          <p:nvPr>
            <p:ph type="body" sz="quarter" idx="12"/>
          </p:nvPr>
        </p:nvSpPr>
        <p:spPr>
          <a:xfrm>
            <a:off x="585897" y="2379663"/>
            <a:ext cx="5245561" cy="3393234"/>
          </a:xfrm>
        </p:spPr>
        <p:txBody>
          <a:bodyPr>
            <a:normAutofit fontScale="92500" lnSpcReduction="20000"/>
          </a:bodyPr>
          <a:lstStyle/>
          <a:p>
            <a:r>
              <a:rPr lang="en-GB" b="1" dirty="0"/>
              <a:t>Is Tipping a Police Officer a Bribe?</a:t>
            </a:r>
            <a:endParaRPr lang="ru-RU" b="1" dirty="0"/>
          </a:p>
          <a:p>
            <a:r>
              <a:rPr lang="en-GB" dirty="0"/>
              <a:t>In the context of law enforcement, a gratuity is a gift to operating officers based on their occupation. Commonly, it is a sign of goodwill in the form of free coffee or other insignificant benefits (Fleming, 2019). As such, the primary argument for allowing gratuities is that it is a voluntary gesture with no implications, unlike bribes (Fleming, 2019). However, there is a blurry line between tips, gratuity, and bribes, and it is the main argument against allowing gratuities.</a:t>
            </a:r>
          </a:p>
          <a:p>
            <a:r>
              <a:rPr lang="en-GB" dirty="0"/>
              <a:t>If I were the chief of police, I would advocate against allowing gratuities to maintain a neutral public image of the law enforcement organization. In my opinion, a gratuity can become the first step toward corruption or at least might be understood as such by the public. From these considerations, I believe that accepting gratuities should be prohibited for police officers, and a verbal commendation is sufficient in most cases.</a:t>
            </a:r>
          </a:p>
          <a:p>
            <a:r>
              <a:rPr lang="en-GB" dirty="0"/>
              <a:t>References</a:t>
            </a:r>
          </a:p>
          <a:p>
            <a:r>
              <a:rPr lang="en-GB" dirty="0"/>
              <a:t>Fleming, E. (2019). Should officers accept gratuities if so what is acceptable? . </a:t>
            </a:r>
            <a:r>
              <a:rPr lang="en-GB" dirty="0" err="1"/>
              <a:t>SidmartinBio</a:t>
            </a:r>
            <a:r>
              <a:rPr lang="en-GB" dirty="0"/>
              <a:t>. Web.</a:t>
            </a:r>
          </a:p>
          <a:p>
            <a:r>
              <a:rPr lang="en-GB" dirty="0"/>
              <a:t>Spodek Law Group. (n.d.). What is a BOLO traffic stop?. Web.</a:t>
            </a:r>
            <a:endParaRPr lang="en-RU" dirty="0"/>
          </a:p>
        </p:txBody>
      </p:sp>
      <p:sp>
        <p:nvSpPr>
          <p:cNvPr id="5" name="Текст 4">
            <a:extLst>
              <a:ext uri="{FF2B5EF4-FFF2-40B4-BE49-F238E27FC236}">
                <a16:creationId xmlns:a16="http://schemas.microsoft.com/office/drawing/2014/main" id="{4C521D80-DC25-5384-E75B-7D3292F84A57}"/>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04880446-DCF7-C8A8-62E5-724E07B401E8}"/>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6C1B15AC-0CB5-22F8-B788-B604FE961E4F}"/>
              </a:ext>
            </a:extLst>
          </p:cNvPr>
          <p:cNvSpPr>
            <a:spLocks noGrp="1"/>
          </p:cNvSpPr>
          <p:nvPr>
            <p:ph type="body" sz="quarter" idx="15"/>
          </p:nvPr>
        </p:nvSpPr>
        <p:spPr>
          <a:xfrm>
            <a:off x="6259893" y="654193"/>
            <a:ext cx="2070100" cy="181530"/>
          </a:xfrm>
        </p:spPr>
        <p:txBody>
          <a:bodyPr/>
          <a:lstStyle/>
          <a:p>
            <a:r>
              <a:rPr lang="ru-RU" dirty="0"/>
              <a:t>Примеры текстов</a:t>
            </a:r>
          </a:p>
        </p:txBody>
      </p:sp>
      <p:sp>
        <p:nvSpPr>
          <p:cNvPr id="9" name="TextBox 8">
            <a:extLst>
              <a:ext uri="{FF2B5EF4-FFF2-40B4-BE49-F238E27FC236}">
                <a16:creationId xmlns:a16="http://schemas.microsoft.com/office/drawing/2014/main" id="{2ADE34E9-85E1-B1FD-9F50-CC567D671A2D}"/>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
        <p:nvSpPr>
          <p:cNvPr id="8" name="Текст 3">
            <a:extLst>
              <a:ext uri="{FF2B5EF4-FFF2-40B4-BE49-F238E27FC236}">
                <a16:creationId xmlns:a16="http://schemas.microsoft.com/office/drawing/2014/main" id="{4D7E378D-AF78-2420-CF9F-2AB8EB983AE8}"/>
              </a:ext>
            </a:extLst>
          </p:cNvPr>
          <p:cNvSpPr txBox="1">
            <a:spLocks/>
          </p:cNvSpPr>
          <p:nvPr/>
        </p:nvSpPr>
        <p:spPr>
          <a:xfrm>
            <a:off x="6007100" y="2379663"/>
            <a:ext cx="5599003" cy="3393234"/>
          </a:xfrm>
          <a:prstGeom prst="rect">
            <a:avLst/>
          </a:prstGeom>
        </p:spPr>
        <p:txBody>
          <a:bodyPr vert="horz" lIns="0" tIns="0" rIns="0" bIns="45720" rtlCol="0">
            <a:normAutofit fontScale="85000" lnSpcReduction="1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Is Tipping a Police Officer a Bribe?</a:t>
            </a:r>
            <a:endParaRPr lang="ru-RU" b="1" dirty="0"/>
          </a:p>
          <a:p>
            <a:r>
              <a:rPr lang="en-RU" dirty="0"/>
              <a:t>Background Context</a:t>
            </a:r>
            <a:br>
              <a:rPr lang="en-RU" dirty="0"/>
            </a:br>
            <a:br>
              <a:rPr lang="en-RU" dirty="0"/>
            </a:br>
            <a:r>
              <a:rPr lang="en-RU" dirty="0"/>
              <a:t>The act of tipping for services rendered is customary in many industries; however, when applied to law enforcement, the intention and ethical implications differ considerably. Police officers are entrusted with upholding the law and maintaining public trust, necessitating strict professional boundaries.</a:t>
            </a:r>
            <a:br>
              <a:rPr lang="en-RU" dirty="0"/>
            </a:br>
            <a:br>
              <a:rPr lang="en-RU" dirty="0"/>
            </a:br>
            <a:r>
              <a:rPr lang="en-RU" dirty="0"/>
              <a:t>Analytical Considerations</a:t>
            </a:r>
            <a:br>
              <a:rPr lang="en-RU" dirty="0"/>
            </a:br>
            <a:br>
              <a:rPr lang="en-RU" dirty="0"/>
            </a:br>
            <a:r>
              <a:rPr lang="en-RU" dirty="0"/>
              <a:t>Offering a tip to a police officer typically constitutes a violation of established codes of conduct. Such gestures can be perceived as attempts to influence official actions or decisions, qualifying as bribery rather than gratitude. Unlike service industry norms, police officers are expected to refuse gratuities to prevent conflicts of interest and maintain impartiality.</a:t>
            </a:r>
            <a:br>
              <a:rPr lang="en-RU" dirty="0"/>
            </a:br>
            <a:br>
              <a:rPr lang="en-RU" dirty="0"/>
            </a:br>
            <a:r>
              <a:rPr lang="en-RU" dirty="0"/>
              <a:t>Conclusion</a:t>
            </a:r>
            <a:br>
              <a:rPr lang="en-RU" dirty="0"/>
            </a:br>
            <a:br>
              <a:rPr lang="en-RU" dirty="0"/>
            </a:br>
            <a:r>
              <a:rPr lang="en-RU" dirty="0"/>
              <a:t>In summary, tipping a police officer should generally be regarded as a form of bribery rather than a legitimate expression of appreciation. Legal and ethical standards require law enforcement officials to avoid accepting any form of gratuity, ensuring fairness and fostering public trust in the justice system.</a:t>
            </a:r>
          </a:p>
        </p:txBody>
      </p:sp>
    </p:spTree>
    <p:extLst>
      <p:ext uri="{BB962C8B-B14F-4D97-AF65-F5344CB8AC3E}">
        <p14:creationId xmlns:p14="http://schemas.microsoft.com/office/powerpoint/2010/main" val="1506898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E6F2F-6B0A-CEEC-6616-D9751B2E97B6}"/>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9004360C-DB4F-CA8E-8D11-4071EC423FB2}"/>
              </a:ext>
            </a:extLst>
          </p:cNvPr>
          <p:cNvSpPr>
            <a:spLocks noGrp="1"/>
          </p:cNvSpPr>
          <p:nvPr>
            <p:ph type="title"/>
          </p:nvPr>
        </p:nvSpPr>
        <p:spPr/>
        <p:txBody>
          <a:bodyPr/>
          <a:lstStyle/>
          <a:p>
            <a:r>
              <a:rPr lang="ru-RU" dirty="0"/>
              <a:t>Модели-энкодеры</a:t>
            </a:r>
          </a:p>
        </p:txBody>
      </p:sp>
      <p:sp>
        <p:nvSpPr>
          <p:cNvPr id="4" name="Текст 3">
            <a:extLst>
              <a:ext uri="{FF2B5EF4-FFF2-40B4-BE49-F238E27FC236}">
                <a16:creationId xmlns:a16="http://schemas.microsoft.com/office/drawing/2014/main" id="{844C6107-3C50-6F63-7F71-EDEE61916A96}"/>
              </a:ext>
            </a:extLst>
          </p:cNvPr>
          <p:cNvSpPr>
            <a:spLocks noGrp="1"/>
          </p:cNvSpPr>
          <p:nvPr>
            <p:ph type="body" sz="quarter" idx="12"/>
          </p:nvPr>
        </p:nvSpPr>
        <p:spPr>
          <a:xfrm>
            <a:off x="585897" y="2379663"/>
            <a:ext cx="5935553" cy="3393234"/>
          </a:xfrm>
        </p:spPr>
        <p:txBody>
          <a:bodyPr/>
          <a:lstStyle/>
          <a:p>
            <a:pPr marL="342900" indent="-342900">
              <a:buAutoNum type="arabicPeriod"/>
            </a:pPr>
            <a:r>
              <a:rPr lang="en-US" b="1" dirty="0"/>
              <a:t>all-MiniLM-L6-v2</a:t>
            </a:r>
            <a:r>
              <a:rPr lang="ru-RU" dirty="0"/>
              <a:t>. 22М. В</a:t>
            </a:r>
            <a:r>
              <a:rPr lang="en-RU" dirty="0"/>
              <a:t>ысокая вычислительная эффективность</a:t>
            </a:r>
            <a:r>
              <a:rPr lang="ru-RU" dirty="0"/>
              <a:t>.</a:t>
            </a:r>
            <a:r>
              <a:rPr lang="en-RU" dirty="0"/>
              <a:t> </a:t>
            </a:r>
            <a:r>
              <a:rPr lang="ru-RU" dirty="0"/>
              <a:t>Размерность </a:t>
            </a:r>
            <a:r>
              <a:rPr lang="en-RU" dirty="0"/>
              <a:t>384</a:t>
            </a:r>
            <a:r>
              <a:rPr lang="ru-RU" dirty="0"/>
              <a:t>.</a:t>
            </a:r>
          </a:p>
          <a:p>
            <a:pPr marL="342900" indent="-342900">
              <a:buAutoNum type="arabicPeriod"/>
            </a:pPr>
            <a:r>
              <a:rPr lang="en-US" b="1" dirty="0"/>
              <a:t>all-mpnet-base-v2</a:t>
            </a:r>
            <a:r>
              <a:rPr lang="ru-RU" dirty="0"/>
              <a:t>. 110М. Б</a:t>
            </a:r>
            <a:r>
              <a:rPr lang="en-RU" dirty="0"/>
              <a:t>олее высокое качество семантических представлений</a:t>
            </a:r>
            <a:r>
              <a:rPr lang="ru-RU" dirty="0"/>
              <a:t>. Размерность </a:t>
            </a:r>
            <a:r>
              <a:rPr lang="en-RU" dirty="0"/>
              <a:t>768</a:t>
            </a:r>
            <a:r>
              <a:rPr lang="ru-RU" dirty="0"/>
              <a:t>.</a:t>
            </a:r>
          </a:p>
          <a:p>
            <a:pPr marL="342900" indent="-342900">
              <a:buAutoNum type="arabicPeriod"/>
            </a:pPr>
            <a:r>
              <a:rPr lang="en-RU" b="1" dirty="0"/>
              <a:t>e5-base</a:t>
            </a:r>
            <a:r>
              <a:rPr lang="ru-RU" dirty="0"/>
              <a:t>. 100М. В</a:t>
            </a:r>
            <a:r>
              <a:rPr lang="en-RU" dirty="0"/>
              <a:t>ысокое качество</a:t>
            </a:r>
            <a:r>
              <a:rPr lang="ru-RU" dirty="0"/>
              <a:t>, </a:t>
            </a:r>
            <a:r>
              <a:rPr lang="en-RU" dirty="0"/>
              <a:t>специального формата входных данных</a:t>
            </a:r>
            <a:r>
              <a:rPr lang="ru-RU" dirty="0"/>
              <a:t>. Размерность </a:t>
            </a:r>
            <a:r>
              <a:rPr lang="en-RU" dirty="0"/>
              <a:t>768</a:t>
            </a:r>
            <a:r>
              <a:rPr lang="ru-RU" dirty="0"/>
              <a:t>.</a:t>
            </a:r>
          </a:p>
          <a:p>
            <a:r>
              <a:rPr lang="ru-RU" dirty="0"/>
              <a:t>В</a:t>
            </a:r>
            <a:r>
              <a:rPr lang="en-RU" dirty="0"/>
              <a:t>ыбранные модели различаются по архитектуре и размеру</a:t>
            </a:r>
            <a:r>
              <a:rPr lang="ru-RU" dirty="0"/>
              <a:t>, предназначены для решения разных задач и широко распространены.</a:t>
            </a:r>
          </a:p>
        </p:txBody>
      </p:sp>
      <p:sp>
        <p:nvSpPr>
          <p:cNvPr id="5" name="Текст 4">
            <a:extLst>
              <a:ext uri="{FF2B5EF4-FFF2-40B4-BE49-F238E27FC236}">
                <a16:creationId xmlns:a16="http://schemas.microsoft.com/office/drawing/2014/main" id="{79ADA624-24D9-37FB-2465-59AA097A8DA3}"/>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D7D326BB-FBB9-AECE-7B90-A89BB9A33AE3}"/>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2F7D57F2-8472-4553-734E-20297CF69A16}"/>
              </a:ext>
            </a:extLst>
          </p:cNvPr>
          <p:cNvSpPr>
            <a:spLocks noGrp="1"/>
          </p:cNvSpPr>
          <p:nvPr>
            <p:ph type="body" sz="quarter" idx="15"/>
          </p:nvPr>
        </p:nvSpPr>
        <p:spPr>
          <a:xfrm>
            <a:off x="6259893" y="654193"/>
            <a:ext cx="2070100" cy="181530"/>
          </a:xfrm>
        </p:spPr>
        <p:txBody>
          <a:bodyPr/>
          <a:lstStyle/>
          <a:p>
            <a:r>
              <a:rPr lang="ru-RU" dirty="0"/>
              <a:t>Модели-энкодеры</a:t>
            </a:r>
          </a:p>
        </p:txBody>
      </p:sp>
      <p:sp>
        <p:nvSpPr>
          <p:cNvPr id="9" name="TextBox 8">
            <a:extLst>
              <a:ext uri="{FF2B5EF4-FFF2-40B4-BE49-F238E27FC236}">
                <a16:creationId xmlns:a16="http://schemas.microsoft.com/office/drawing/2014/main" id="{A7271810-BFE9-FC96-D6F4-49BA95185DD9}"/>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Tree>
    <p:extLst>
      <p:ext uri="{BB962C8B-B14F-4D97-AF65-F5344CB8AC3E}">
        <p14:creationId xmlns:p14="http://schemas.microsoft.com/office/powerpoint/2010/main" val="2472462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77D6-4930-B489-F6D6-275C711A9808}"/>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4F4CE72D-75CB-F63D-7DB0-6417E3F5BB85}"/>
              </a:ext>
            </a:extLst>
          </p:cNvPr>
          <p:cNvSpPr>
            <a:spLocks noGrp="1"/>
          </p:cNvSpPr>
          <p:nvPr>
            <p:ph type="title"/>
          </p:nvPr>
        </p:nvSpPr>
        <p:spPr/>
        <p:txBody>
          <a:bodyPr/>
          <a:lstStyle/>
          <a:p>
            <a:r>
              <a:rPr lang="ru-RU" dirty="0"/>
              <a:t>Методы агрегирования</a:t>
            </a:r>
          </a:p>
        </p:txBody>
      </p:sp>
      <p:sp>
        <p:nvSpPr>
          <p:cNvPr id="4" name="Текст 3">
            <a:extLst>
              <a:ext uri="{FF2B5EF4-FFF2-40B4-BE49-F238E27FC236}">
                <a16:creationId xmlns:a16="http://schemas.microsoft.com/office/drawing/2014/main" id="{9E8BDC73-C019-B213-05EA-3B4FD2F1B2A2}"/>
              </a:ext>
            </a:extLst>
          </p:cNvPr>
          <p:cNvSpPr>
            <a:spLocks noGrp="1"/>
          </p:cNvSpPr>
          <p:nvPr>
            <p:ph type="body" sz="quarter" idx="12"/>
          </p:nvPr>
        </p:nvSpPr>
        <p:spPr>
          <a:xfrm>
            <a:off x="585897" y="2379663"/>
            <a:ext cx="5599003" cy="3393234"/>
          </a:xfrm>
        </p:spPr>
        <p:txBody>
          <a:bodyPr>
            <a:normAutofit/>
          </a:bodyPr>
          <a:lstStyle/>
          <a:p>
            <a:r>
              <a:rPr lang="ru-RU" dirty="0"/>
              <a:t>Простые:</a:t>
            </a:r>
          </a:p>
          <a:p>
            <a:pPr marL="285750" indent="-285750">
              <a:buFont typeface="Arial" panose="020B0604020202020204" pitchFamily="34" charset="0"/>
              <a:buChar char="•"/>
            </a:pPr>
            <a:r>
              <a:rPr lang="ru-RU" b="1" dirty="0"/>
              <a:t>Усреднение </a:t>
            </a:r>
            <a:r>
              <a:rPr lang="ru-RU" b="1" dirty="0" err="1"/>
              <a:t>эмбеддингов</a:t>
            </a:r>
            <a:r>
              <a:rPr lang="ru-RU" b="1" dirty="0"/>
              <a:t> (</a:t>
            </a:r>
            <a:r>
              <a:rPr lang="en-US" b="1" dirty="0"/>
              <a:t>mean pooling</a:t>
            </a:r>
            <a:r>
              <a:rPr lang="ru-RU" b="1" dirty="0"/>
              <a:t>);</a:t>
            </a:r>
          </a:p>
          <a:p>
            <a:pPr marL="285750" indent="-285750">
              <a:buFont typeface="Arial" panose="020B0604020202020204" pitchFamily="34" charset="0"/>
              <a:buChar char="•"/>
            </a:pPr>
            <a:r>
              <a:rPr lang="ru-RU" dirty="0"/>
              <a:t>Максимум </a:t>
            </a:r>
            <a:r>
              <a:rPr lang="ru-RU" dirty="0" err="1"/>
              <a:t>эмбеддингов</a:t>
            </a:r>
            <a:r>
              <a:rPr lang="ru-RU" dirty="0"/>
              <a:t> (</a:t>
            </a:r>
            <a:r>
              <a:rPr lang="en-US" dirty="0"/>
              <a:t>max pooling</a:t>
            </a:r>
            <a:r>
              <a:rPr lang="ru-RU" dirty="0"/>
              <a:t>)</a:t>
            </a:r>
            <a:r>
              <a:rPr lang="en-US" dirty="0"/>
              <a:t>;</a:t>
            </a:r>
            <a:endParaRPr lang="ru-RU" dirty="0"/>
          </a:p>
          <a:p>
            <a:pPr marL="285750" indent="-285750">
              <a:buFont typeface="Arial" panose="020B0604020202020204" pitchFamily="34" charset="0"/>
              <a:buChar char="•"/>
            </a:pPr>
            <a:r>
              <a:rPr lang="ru-RU" dirty="0"/>
              <a:t>Дисперсия </a:t>
            </a:r>
            <a:r>
              <a:rPr lang="ru-RU" dirty="0" err="1"/>
              <a:t>эмбеддингов</a:t>
            </a:r>
            <a:r>
              <a:rPr lang="ru-RU" dirty="0"/>
              <a:t> (</a:t>
            </a:r>
            <a:r>
              <a:rPr lang="en-US" dirty="0"/>
              <a:t>var pooling</a:t>
            </a:r>
            <a:r>
              <a:rPr lang="ru-RU" dirty="0"/>
              <a:t>)</a:t>
            </a:r>
            <a:r>
              <a:rPr lang="en-US" dirty="0"/>
              <a:t>;</a:t>
            </a:r>
            <a:endParaRPr lang="ru-RU" dirty="0"/>
          </a:p>
          <a:p>
            <a:pPr marL="285750" indent="-285750">
              <a:buFont typeface="Arial" panose="020B0604020202020204" pitchFamily="34" charset="0"/>
              <a:buChar char="•"/>
            </a:pPr>
            <a:r>
              <a:rPr lang="ru-RU" dirty="0"/>
              <a:t>Медиана </a:t>
            </a:r>
            <a:r>
              <a:rPr lang="ru-RU" dirty="0" err="1"/>
              <a:t>эмбеддингов</a:t>
            </a:r>
            <a:r>
              <a:rPr lang="ru-RU" dirty="0"/>
              <a:t> </a:t>
            </a:r>
            <a:r>
              <a:rPr lang="en-US" dirty="0"/>
              <a:t>(median pooling)</a:t>
            </a:r>
            <a:r>
              <a:rPr lang="ru-RU" dirty="0"/>
              <a:t>.</a:t>
            </a:r>
          </a:p>
          <a:p>
            <a:endParaRPr lang="ru-RU" dirty="0"/>
          </a:p>
          <a:p>
            <a:endParaRPr lang="ru-RU" dirty="0"/>
          </a:p>
        </p:txBody>
      </p:sp>
      <p:sp>
        <p:nvSpPr>
          <p:cNvPr id="5" name="Текст 4">
            <a:extLst>
              <a:ext uri="{FF2B5EF4-FFF2-40B4-BE49-F238E27FC236}">
                <a16:creationId xmlns:a16="http://schemas.microsoft.com/office/drawing/2014/main" id="{A83B57A4-8176-7E43-FEFC-815C27A517CC}"/>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D5900F28-FC6C-FD20-4CDF-2B36AE937E48}"/>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EE4F8681-C5DB-AAED-818D-9EA26201CA18}"/>
              </a:ext>
            </a:extLst>
          </p:cNvPr>
          <p:cNvSpPr>
            <a:spLocks noGrp="1"/>
          </p:cNvSpPr>
          <p:nvPr>
            <p:ph type="body" sz="quarter" idx="15"/>
          </p:nvPr>
        </p:nvSpPr>
        <p:spPr>
          <a:xfrm>
            <a:off x="6259893" y="654193"/>
            <a:ext cx="2070100" cy="181530"/>
          </a:xfrm>
        </p:spPr>
        <p:txBody>
          <a:bodyPr/>
          <a:lstStyle/>
          <a:p>
            <a:r>
              <a:rPr lang="ru-RU" dirty="0"/>
              <a:t>Методы агрегирования</a:t>
            </a:r>
          </a:p>
        </p:txBody>
      </p:sp>
      <p:sp>
        <p:nvSpPr>
          <p:cNvPr id="2" name="Rectangle 1">
            <a:extLst>
              <a:ext uri="{FF2B5EF4-FFF2-40B4-BE49-F238E27FC236}">
                <a16:creationId xmlns:a16="http://schemas.microsoft.com/office/drawing/2014/main" id="{0C73C45C-8042-E6CF-3D64-0B17B5B4B303}"/>
              </a:ext>
            </a:extLst>
          </p:cNvPr>
          <p:cNvSpPr/>
          <p:nvPr/>
        </p:nvSpPr>
        <p:spPr>
          <a:xfrm>
            <a:off x="6418756"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6</a:t>
            </a:r>
            <a:endParaRPr lang="en-RU" dirty="0"/>
          </a:p>
        </p:txBody>
      </p:sp>
      <p:sp>
        <p:nvSpPr>
          <p:cNvPr id="8" name="Rectangle 7">
            <a:extLst>
              <a:ext uri="{FF2B5EF4-FFF2-40B4-BE49-F238E27FC236}">
                <a16:creationId xmlns:a16="http://schemas.microsoft.com/office/drawing/2014/main" id="{A9BBA471-92C9-39E6-F405-7B86802F39B6}"/>
              </a:ext>
            </a:extLst>
          </p:cNvPr>
          <p:cNvSpPr/>
          <p:nvPr/>
        </p:nvSpPr>
        <p:spPr>
          <a:xfrm>
            <a:off x="6418756"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7</a:t>
            </a:r>
            <a:endParaRPr lang="en-RU" dirty="0"/>
          </a:p>
        </p:txBody>
      </p:sp>
      <p:sp>
        <p:nvSpPr>
          <p:cNvPr id="10" name="Rectangle 9">
            <a:extLst>
              <a:ext uri="{FF2B5EF4-FFF2-40B4-BE49-F238E27FC236}">
                <a16:creationId xmlns:a16="http://schemas.microsoft.com/office/drawing/2014/main" id="{B1FBD99C-26C9-7090-3FBF-70C8F6B7E9F9}"/>
              </a:ext>
            </a:extLst>
          </p:cNvPr>
          <p:cNvSpPr/>
          <p:nvPr/>
        </p:nvSpPr>
        <p:spPr>
          <a:xfrm>
            <a:off x="6418756"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8</a:t>
            </a:r>
            <a:endParaRPr lang="en-RU" dirty="0"/>
          </a:p>
        </p:txBody>
      </p:sp>
      <p:sp>
        <p:nvSpPr>
          <p:cNvPr id="11" name="Rectangle 10">
            <a:extLst>
              <a:ext uri="{FF2B5EF4-FFF2-40B4-BE49-F238E27FC236}">
                <a16:creationId xmlns:a16="http://schemas.microsoft.com/office/drawing/2014/main" id="{35EE2765-8B03-DE69-9B8A-831353B6F768}"/>
              </a:ext>
            </a:extLst>
          </p:cNvPr>
          <p:cNvSpPr/>
          <p:nvPr/>
        </p:nvSpPr>
        <p:spPr>
          <a:xfrm>
            <a:off x="6418756"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9</a:t>
            </a:r>
            <a:endParaRPr lang="en-RU" dirty="0"/>
          </a:p>
        </p:txBody>
      </p:sp>
      <p:sp>
        <p:nvSpPr>
          <p:cNvPr id="12" name="Rectangle 11">
            <a:extLst>
              <a:ext uri="{FF2B5EF4-FFF2-40B4-BE49-F238E27FC236}">
                <a16:creationId xmlns:a16="http://schemas.microsoft.com/office/drawing/2014/main" id="{AD6EA348-7962-C171-30FC-8A3439048559}"/>
              </a:ext>
            </a:extLst>
          </p:cNvPr>
          <p:cNvSpPr/>
          <p:nvPr/>
        </p:nvSpPr>
        <p:spPr>
          <a:xfrm>
            <a:off x="6418756"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9</a:t>
            </a:r>
            <a:endParaRPr lang="en-RU" dirty="0"/>
          </a:p>
        </p:txBody>
      </p:sp>
      <p:sp>
        <p:nvSpPr>
          <p:cNvPr id="13" name="TextBox 12">
            <a:extLst>
              <a:ext uri="{FF2B5EF4-FFF2-40B4-BE49-F238E27FC236}">
                <a16:creationId xmlns:a16="http://schemas.microsoft.com/office/drawing/2014/main" id="{2EB95225-D183-2432-F885-89249974DE8D}"/>
              </a:ext>
            </a:extLst>
          </p:cNvPr>
          <p:cNvSpPr txBox="1"/>
          <p:nvPr/>
        </p:nvSpPr>
        <p:spPr>
          <a:xfrm>
            <a:off x="5831458" y="2224815"/>
            <a:ext cx="3890809" cy="246221"/>
          </a:xfrm>
          <a:prstGeom prst="rect">
            <a:avLst/>
          </a:prstGeom>
          <a:noFill/>
        </p:spPr>
        <p:txBody>
          <a:bodyPr wrap="none" rtlCol="0">
            <a:spAutoFit/>
          </a:bodyPr>
          <a:lstStyle/>
          <a:p>
            <a:pPr algn="l"/>
            <a:r>
              <a:rPr lang="ru-RU" sz="1000" dirty="0">
                <a:latin typeface="HSE Sans" panose="02000000000000000000" pitchFamily="2" charset="0"/>
              </a:rPr>
              <a:t>Первое предложение. Второе предложение. Третье предложение…</a:t>
            </a:r>
            <a:endParaRPr lang="en-RU" sz="1000" dirty="0">
              <a:latin typeface="HSE Sans" panose="02000000000000000000" pitchFamily="2" charset="0"/>
            </a:endParaRPr>
          </a:p>
        </p:txBody>
      </p:sp>
      <p:sp>
        <p:nvSpPr>
          <p:cNvPr id="14" name="Left Brace 13">
            <a:extLst>
              <a:ext uri="{FF2B5EF4-FFF2-40B4-BE49-F238E27FC236}">
                <a16:creationId xmlns:a16="http://schemas.microsoft.com/office/drawing/2014/main" id="{781A561F-727F-8A7F-B44B-F892E441F182}"/>
              </a:ext>
            </a:extLst>
          </p:cNvPr>
          <p:cNvSpPr/>
          <p:nvPr/>
        </p:nvSpPr>
        <p:spPr>
          <a:xfrm rot="16200000">
            <a:off x="6420602"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15" name="Rectangle 14">
            <a:extLst>
              <a:ext uri="{FF2B5EF4-FFF2-40B4-BE49-F238E27FC236}">
                <a16:creationId xmlns:a16="http://schemas.microsoft.com/office/drawing/2014/main" id="{38815B44-28B8-BD31-12D6-240B7285C057}"/>
              </a:ext>
            </a:extLst>
          </p:cNvPr>
          <p:cNvSpPr/>
          <p:nvPr/>
        </p:nvSpPr>
        <p:spPr>
          <a:xfrm>
            <a:off x="7627729"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6" name="Rectangle 15">
            <a:extLst>
              <a:ext uri="{FF2B5EF4-FFF2-40B4-BE49-F238E27FC236}">
                <a16:creationId xmlns:a16="http://schemas.microsoft.com/office/drawing/2014/main" id="{B5592A54-FE7A-E081-7D5B-E3BEBE8E66F5}"/>
              </a:ext>
            </a:extLst>
          </p:cNvPr>
          <p:cNvSpPr/>
          <p:nvPr/>
        </p:nvSpPr>
        <p:spPr>
          <a:xfrm>
            <a:off x="7627729"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7" name="Rectangle 16">
            <a:extLst>
              <a:ext uri="{FF2B5EF4-FFF2-40B4-BE49-F238E27FC236}">
                <a16:creationId xmlns:a16="http://schemas.microsoft.com/office/drawing/2014/main" id="{47C2C4A3-5801-CA43-502E-0F5AAE85F308}"/>
              </a:ext>
            </a:extLst>
          </p:cNvPr>
          <p:cNvSpPr/>
          <p:nvPr/>
        </p:nvSpPr>
        <p:spPr>
          <a:xfrm>
            <a:off x="7627729"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8" name="Rectangle 17">
            <a:extLst>
              <a:ext uri="{FF2B5EF4-FFF2-40B4-BE49-F238E27FC236}">
                <a16:creationId xmlns:a16="http://schemas.microsoft.com/office/drawing/2014/main" id="{DBF8FFE1-F28E-A0F3-AA8C-E32E6EBA2051}"/>
              </a:ext>
            </a:extLst>
          </p:cNvPr>
          <p:cNvSpPr/>
          <p:nvPr/>
        </p:nvSpPr>
        <p:spPr>
          <a:xfrm>
            <a:off x="7627729"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9" name="Rectangle 18">
            <a:extLst>
              <a:ext uri="{FF2B5EF4-FFF2-40B4-BE49-F238E27FC236}">
                <a16:creationId xmlns:a16="http://schemas.microsoft.com/office/drawing/2014/main" id="{3FBE141B-1363-B6B6-3EB9-FF3C23E0634A}"/>
              </a:ext>
            </a:extLst>
          </p:cNvPr>
          <p:cNvSpPr/>
          <p:nvPr/>
        </p:nvSpPr>
        <p:spPr>
          <a:xfrm>
            <a:off x="7627729"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20" name="Left Brace 19">
            <a:extLst>
              <a:ext uri="{FF2B5EF4-FFF2-40B4-BE49-F238E27FC236}">
                <a16:creationId xmlns:a16="http://schemas.microsoft.com/office/drawing/2014/main" id="{801E6067-EA05-7165-3F30-2755E0A7BBFE}"/>
              </a:ext>
            </a:extLst>
          </p:cNvPr>
          <p:cNvSpPr/>
          <p:nvPr/>
        </p:nvSpPr>
        <p:spPr>
          <a:xfrm rot="16200000">
            <a:off x="7629575"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21" name="Rectangle 20">
            <a:extLst>
              <a:ext uri="{FF2B5EF4-FFF2-40B4-BE49-F238E27FC236}">
                <a16:creationId xmlns:a16="http://schemas.microsoft.com/office/drawing/2014/main" id="{593B784D-ADE0-8DFF-B1C5-A81E9B218420}"/>
              </a:ext>
            </a:extLst>
          </p:cNvPr>
          <p:cNvSpPr/>
          <p:nvPr/>
        </p:nvSpPr>
        <p:spPr>
          <a:xfrm>
            <a:off x="8836702"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2" name="Rectangle 21">
            <a:extLst>
              <a:ext uri="{FF2B5EF4-FFF2-40B4-BE49-F238E27FC236}">
                <a16:creationId xmlns:a16="http://schemas.microsoft.com/office/drawing/2014/main" id="{3EAF222A-B267-7678-CCF9-A765B0DDEC4D}"/>
              </a:ext>
            </a:extLst>
          </p:cNvPr>
          <p:cNvSpPr/>
          <p:nvPr/>
        </p:nvSpPr>
        <p:spPr>
          <a:xfrm>
            <a:off x="8836702"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3" name="Rectangle 22">
            <a:extLst>
              <a:ext uri="{FF2B5EF4-FFF2-40B4-BE49-F238E27FC236}">
                <a16:creationId xmlns:a16="http://schemas.microsoft.com/office/drawing/2014/main" id="{C86B4386-F82D-2A11-44F9-AF8EE58F01D8}"/>
              </a:ext>
            </a:extLst>
          </p:cNvPr>
          <p:cNvSpPr/>
          <p:nvPr/>
        </p:nvSpPr>
        <p:spPr>
          <a:xfrm>
            <a:off x="8836702"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4" name="Rectangle 23">
            <a:extLst>
              <a:ext uri="{FF2B5EF4-FFF2-40B4-BE49-F238E27FC236}">
                <a16:creationId xmlns:a16="http://schemas.microsoft.com/office/drawing/2014/main" id="{C9BD57AA-5AA5-3B61-78F3-8DF7D5C41E8C}"/>
              </a:ext>
            </a:extLst>
          </p:cNvPr>
          <p:cNvSpPr/>
          <p:nvPr/>
        </p:nvSpPr>
        <p:spPr>
          <a:xfrm>
            <a:off x="8836702"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5" name="Rectangle 24">
            <a:extLst>
              <a:ext uri="{FF2B5EF4-FFF2-40B4-BE49-F238E27FC236}">
                <a16:creationId xmlns:a16="http://schemas.microsoft.com/office/drawing/2014/main" id="{36EE72A4-754E-BDF0-01A3-8A256A6AFD7A}"/>
              </a:ext>
            </a:extLst>
          </p:cNvPr>
          <p:cNvSpPr/>
          <p:nvPr/>
        </p:nvSpPr>
        <p:spPr>
          <a:xfrm>
            <a:off x="8836702"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6" name="Left Brace 25">
            <a:extLst>
              <a:ext uri="{FF2B5EF4-FFF2-40B4-BE49-F238E27FC236}">
                <a16:creationId xmlns:a16="http://schemas.microsoft.com/office/drawing/2014/main" id="{E4D26D6B-0433-9293-F4EF-BE98660C7F7B}"/>
              </a:ext>
            </a:extLst>
          </p:cNvPr>
          <p:cNvSpPr/>
          <p:nvPr/>
        </p:nvSpPr>
        <p:spPr>
          <a:xfrm rot="16200000">
            <a:off x="8838548"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27" name="Rectangle 26">
            <a:extLst>
              <a:ext uri="{FF2B5EF4-FFF2-40B4-BE49-F238E27FC236}">
                <a16:creationId xmlns:a16="http://schemas.microsoft.com/office/drawing/2014/main" id="{051E9CE2-4DC0-46BE-BCB0-60DDAC377823}"/>
              </a:ext>
            </a:extLst>
          </p:cNvPr>
          <p:cNvSpPr/>
          <p:nvPr/>
        </p:nvSpPr>
        <p:spPr>
          <a:xfrm>
            <a:off x="10842450"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8" name="Rectangle 27">
            <a:extLst>
              <a:ext uri="{FF2B5EF4-FFF2-40B4-BE49-F238E27FC236}">
                <a16:creationId xmlns:a16="http://schemas.microsoft.com/office/drawing/2014/main" id="{E128EECB-F6C0-74BC-87B3-C9ABDE342EDD}"/>
              </a:ext>
            </a:extLst>
          </p:cNvPr>
          <p:cNvSpPr/>
          <p:nvPr/>
        </p:nvSpPr>
        <p:spPr>
          <a:xfrm>
            <a:off x="10842450"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29" name="Rectangle 28">
            <a:extLst>
              <a:ext uri="{FF2B5EF4-FFF2-40B4-BE49-F238E27FC236}">
                <a16:creationId xmlns:a16="http://schemas.microsoft.com/office/drawing/2014/main" id="{ACA6C83C-EACC-F91D-3F01-C079CBA3CFF0}"/>
              </a:ext>
            </a:extLst>
          </p:cNvPr>
          <p:cNvSpPr/>
          <p:nvPr/>
        </p:nvSpPr>
        <p:spPr>
          <a:xfrm>
            <a:off x="10842450"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3</a:t>
            </a:r>
            <a:endParaRPr lang="en-RU" dirty="0"/>
          </a:p>
        </p:txBody>
      </p:sp>
      <p:sp>
        <p:nvSpPr>
          <p:cNvPr id="30" name="Rectangle 29">
            <a:extLst>
              <a:ext uri="{FF2B5EF4-FFF2-40B4-BE49-F238E27FC236}">
                <a16:creationId xmlns:a16="http://schemas.microsoft.com/office/drawing/2014/main" id="{B0730104-C15F-B3E6-BE8B-7670CBE597A1}"/>
              </a:ext>
            </a:extLst>
          </p:cNvPr>
          <p:cNvSpPr/>
          <p:nvPr/>
        </p:nvSpPr>
        <p:spPr>
          <a:xfrm>
            <a:off x="10842450"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4</a:t>
            </a:r>
            <a:endParaRPr lang="en-RU" dirty="0"/>
          </a:p>
        </p:txBody>
      </p:sp>
      <p:sp>
        <p:nvSpPr>
          <p:cNvPr id="31" name="Rectangle 30">
            <a:extLst>
              <a:ext uri="{FF2B5EF4-FFF2-40B4-BE49-F238E27FC236}">
                <a16:creationId xmlns:a16="http://schemas.microsoft.com/office/drawing/2014/main" id="{B2EDC4E9-993E-88E5-AD4E-8627687029D0}"/>
              </a:ext>
            </a:extLst>
          </p:cNvPr>
          <p:cNvSpPr/>
          <p:nvPr/>
        </p:nvSpPr>
        <p:spPr>
          <a:xfrm>
            <a:off x="10842450"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5</a:t>
            </a:r>
            <a:endParaRPr lang="en-RU" dirty="0"/>
          </a:p>
        </p:txBody>
      </p:sp>
      <p:sp>
        <p:nvSpPr>
          <p:cNvPr id="32" name="Right Arrow 31">
            <a:extLst>
              <a:ext uri="{FF2B5EF4-FFF2-40B4-BE49-F238E27FC236}">
                <a16:creationId xmlns:a16="http://schemas.microsoft.com/office/drawing/2014/main" id="{6BEE2163-D074-FAAA-2BC9-51AC54AE5C42}"/>
              </a:ext>
            </a:extLst>
          </p:cNvPr>
          <p:cNvSpPr/>
          <p:nvPr/>
        </p:nvSpPr>
        <p:spPr>
          <a:xfrm>
            <a:off x="9658147" y="3217286"/>
            <a:ext cx="723049" cy="214792"/>
          </a:xfrm>
          <a:prstGeom prst="rightArrow">
            <a:avLst>
              <a:gd name="adj1" fmla="val 50000"/>
              <a:gd name="adj2" fmla="val 4428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dirty="0"/>
          </a:p>
        </p:txBody>
      </p:sp>
      <p:sp>
        <p:nvSpPr>
          <p:cNvPr id="34" name="TextBox 33">
            <a:extLst>
              <a:ext uri="{FF2B5EF4-FFF2-40B4-BE49-F238E27FC236}">
                <a16:creationId xmlns:a16="http://schemas.microsoft.com/office/drawing/2014/main" id="{2FD901E0-5891-CA3A-933D-EC7A646F9515}"/>
              </a:ext>
            </a:extLst>
          </p:cNvPr>
          <p:cNvSpPr txBox="1"/>
          <p:nvPr/>
        </p:nvSpPr>
        <p:spPr>
          <a:xfrm>
            <a:off x="9522579" y="2969137"/>
            <a:ext cx="994183" cy="246221"/>
          </a:xfrm>
          <a:prstGeom prst="rect">
            <a:avLst/>
          </a:prstGeom>
          <a:noFill/>
        </p:spPr>
        <p:txBody>
          <a:bodyPr wrap="none" rtlCol="0">
            <a:spAutoFit/>
          </a:bodyPr>
          <a:lstStyle/>
          <a:p>
            <a:pPr algn="l"/>
            <a:r>
              <a:rPr lang="ru-RU" sz="1000" dirty="0">
                <a:latin typeface="HSE Sans" panose="02000000000000000000" pitchFamily="2" charset="0"/>
              </a:rPr>
              <a:t>агрегирование</a:t>
            </a:r>
            <a:endParaRPr lang="en-RU" sz="1000" dirty="0">
              <a:latin typeface="HSE Sans" panose="02000000000000000000" pitchFamily="2" charset="0"/>
            </a:endParaRPr>
          </a:p>
        </p:txBody>
      </p:sp>
    </p:spTree>
    <p:extLst>
      <p:ext uri="{BB962C8B-B14F-4D97-AF65-F5344CB8AC3E}">
        <p14:creationId xmlns:p14="http://schemas.microsoft.com/office/powerpoint/2010/main" val="2760832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DAF0-0DF5-9ECD-F8F9-268A13F353E7}"/>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E7B0B5C6-D6C2-98AF-A94C-218E2008CC3E}"/>
              </a:ext>
            </a:extLst>
          </p:cNvPr>
          <p:cNvSpPr>
            <a:spLocks noGrp="1"/>
          </p:cNvSpPr>
          <p:nvPr>
            <p:ph type="title"/>
          </p:nvPr>
        </p:nvSpPr>
        <p:spPr/>
        <p:txBody>
          <a:bodyPr/>
          <a:lstStyle/>
          <a:p>
            <a:r>
              <a:rPr lang="ru-RU" dirty="0"/>
              <a:t>Методы агрегирования</a:t>
            </a:r>
          </a:p>
        </p:txBody>
      </p:sp>
      <p:sp>
        <p:nvSpPr>
          <p:cNvPr id="4" name="Текст 3">
            <a:extLst>
              <a:ext uri="{FF2B5EF4-FFF2-40B4-BE49-F238E27FC236}">
                <a16:creationId xmlns:a16="http://schemas.microsoft.com/office/drawing/2014/main" id="{E6FA9E46-97D8-447A-A3D4-D5BEA2FCAC5C}"/>
              </a:ext>
            </a:extLst>
          </p:cNvPr>
          <p:cNvSpPr>
            <a:spLocks noGrp="1"/>
          </p:cNvSpPr>
          <p:nvPr>
            <p:ph type="body" sz="quarter" idx="12"/>
          </p:nvPr>
        </p:nvSpPr>
        <p:spPr>
          <a:xfrm>
            <a:off x="585897" y="2379663"/>
            <a:ext cx="5599003" cy="3393234"/>
          </a:xfrm>
        </p:spPr>
        <p:txBody>
          <a:bodyPr>
            <a:normAutofit/>
          </a:bodyPr>
          <a:lstStyle/>
          <a:p>
            <a:r>
              <a:rPr lang="ru-RU" dirty="0"/>
              <a:t>Различия между предложениями:</a:t>
            </a:r>
          </a:p>
          <a:p>
            <a:pPr marL="285750" indent="-285750">
              <a:buFont typeface="Arial" panose="020B0604020202020204" pitchFamily="34" charset="0"/>
              <a:buChar char="•"/>
            </a:pPr>
            <a:r>
              <a:rPr lang="ru-RU" dirty="0"/>
              <a:t>Усреднение разностей </a:t>
            </a:r>
            <a:r>
              <a:rPr lang="ru-RU" dirty="0" err="1"/>
              <a:t>эмбеддингов</a:t>
            </a:r>
            <a:r>
              <a:rPr lang="ru-RU" dirty="0"/>
              <a:t> (</a:t>
            </a:r>
            <a:r>
              <a:rPr lang="en-US" dirty="0"/>
              <a:t>mean diff pooling</a:t>
            </a:r>
            <a:r>
              <a:rPr lang="ru-RU" dirty="0"/>
              <a:t>)</a:t>
            </a:r>
            <a:r>
              <a:rPr lang="en-US" dirty="0"/>
              <a:t>;</a:t>
            </a:r>
            <a:endParaRPr lang="ru-RU" dirty="0"/>
          </a:p>
          <a:p>
            <a:pPr marL="285750" indent="-285750">
              <a:buFont typeface="Arial" panose="020B0604020202020204" pitchFamily="34" charset="0"/>
              <a:buChar char="•"/>
            </a:pPr>
            <a:r>
              <a:rPr lang="ru-RU" dirty="0"/>
              <a:t>Максимум разностей </a:t>
            </a:r>
            <a:r>
              <a:rPr lang="ru-RU" dirty="0" err="1"/>
              <a:t>эмбеддингов</a:t>
            </a:r>
            <a:r>
              <a:rPr lang="ru-RU" dirty="0"/>
              <a:t> (</a:t>
            </a:r>
            <a:r>
              <a:rPr lang="en-US" dirty="0"/>
              <a:t>max diff pooling</a:t>
            </a:r>
            <a:r>
              <a:rPr lang="ru-RU" dirty="0"/>
              <a:t>)</a:t>
            </a:r>
            <a:r>
              <a:rPr lang="en-US" dirty="0"/>
              <a:t>;</a:t>
            </a:r>
            <a:endParaRPr lang="ru-RU" dirty="0"/>
          </a:p>
          <a:p>
            <a:pPr marL="285750" indent="-285750">
              <a:buFont typeface="Arial" panose="020B0604020202020204" pitchFamily="34" charset="0"/>
              <a:buChar char="•"/>
            </a:pPr>
            <a:r>
              <a:rPr lang="ru-RU" dirty="0"/>
              <a:t>Минимум разностей </a:t>
            </a:r>
            <a:r>
              <a:rPr lang="ru-RU" dirty="0" err="1"/>
              <a:t>эмбеддингов</a:t>
            </a:r>
            <a:r>
              <a:rPr lang="ru-RU" dirty="0"/>
              <a:t> (</a:t>
            </a:r>
            <a:r>
              <a:rPr lang="en-US" dirty="0"/>
              <a:t>min diff pooling</a:t>
            </a:r>
            <a:r>
              <a:rPr lang="ru-RU" dirty="0"/>
              <a:t>)</a:t>
            </a:r>
            <a:r>
              <a:rPr lang="en-US" dirty="0"/>
              <a:t>;</a:t>
            </a:r>
            <a:endParaRPr lang="ru-RU" dirty="0"/>
          </a:p>
          <a:p>
            <a:pPr marL="285750" indent="-285750">
              <a:buFont typeface="Arial" panose="020B0604020202020204" pitchFamily="34" charset="0"/>
              <a:buChar char="•"/>
            </a:pPr>
            <a:r>
              <a:rPr lang="ru-RU" dirty="0"/>
              <a:t>Медиана разностей </a:t>
            </a:r>
            <a:r>
              <a:rPr lang="ru-RU" dirty="0" err="1"/>
              <a:t>эмбеддингов</a:t>
            </a:r>
            <a:r>
              <a:rPr lang="ru-RU" dirty="0"/>
              <a:t> (</a:t>
            </a:r>
            <a:r>
              <a:rPr lang="en-US" dirty="0"/>
              <a:t>median diff pooling</a:t>
            </a:r>
            <a:r>
              <a:rPr lang="ru-RU" dirty="0"/>
              <a:t>)</a:t>
            </a:r>
            <a:r>
              <a:rPr lang="en-US" dirty="0"/>
              <a:t>;</a:t>
            </a:r>
            <a:endParaRPr lang="ru-RU" dirty="0"/>
          </a:p>
          <a:p>
            <a:pPr marL="285750" indent="-285750">
              <a:buFont typeface="Arial" panose="020B0604020202020204" pitchFamily="34" charset="0"/>
              <a:buChar char="•"/>
            </a:pPr>
            <a:r>
              <a:rPr lang="ru-RU" dirty="0"/>
              <a:t>Дисперсия разностей </a:t>
            </a:r>
            <a:r>
              <a:rPr lang="ru-RU" dirty="0" err="1"/>
              <a:t>эмбеддингов</a:t>
            </a:r>
            <a:r>
              <a:rPr lang="ru-RU" dirty="0"/>
              <a:t> (</a:t>
            </a:r>
            <a:r>
              <a:rPr lang="en-US" dirty="0"/>
              <a:t>var diff pooling</a:t>
            </a:r>
            <a:r>
              <a:rPr lang="ru-RU" dirty="0"/>
              <a:t>).</a:t>
            </a:r>
          </a:p>
          <a:p>
            <a:endParaRPr lang="ru-RU" dirty="0"/>
          </a:p>
        </p:txBody>
      </p:sp>
      <p:sp>
        <p:nvSpPr>
          <p:cNvPr id="5" name="Текст 4">
            <a:extLst>
              <a:ext uri="{FF2B5EF4-FFF2-40B4-BE49-F238E27FC236}">
                <a16:creationId xmlns:a16="http://schemas.microsoft.com/office/drawing/2014/main" id="{711E32C5-B092-2E4B-9348-C60214D11CA9}"/>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F0955021-A1C2-4E6A-9490-DC88406768E1}"/>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92F84DAA-E2A7-34B0-B0C0-9126F44F5106}"/>
              </a:ext>
            </a:extLst>
          </p:cNvPr>
          <p:cNvSpPr>
            <a:spLocks noGrp="1"/>
          </p:cNvSpPr>
          <p:nvPr>
            <p:ph type="body" sz="quarter" idx="15"/>
          </p:nvPr>
        </p:nvSpPr>
        <p:spPr>
          <a:xfrm>
            <a:off x="6259893" y="654193"/>
            <a:ext cx="2070100" cy="181530"/>
          </a:xfrm>
        </p:spPr>
        <p:txBody>
          <a:bodyPr/>
          <a:lstStyle/>
          <a:p>
            <a:r>
              <a:rPr lang="ru-RU" dirty="0"/>
              <a:t>Методы агрегирования</a:t>
            </a:r>
          </a:p>
        </p:txBody>
      </p:sp>
      <p:sp>
        <p:nvSpPr>
          <p:cNvPr id="2" name="Rectangle 1">
            <a:extLst>
              <a:ext uri="{FF2B5EF4-FFF2-40B4-BE49-F238E27FC236}">
                <a16:creationId xmlns:a16="http://schemas.microsoft.com/office/drawing/2014/main" id="{6E18556A-A3A3-25F2-CF89-565EF5E24FCC}"/>
              </a:ext>
            </a:extLst>
          </p:cNvPr>
          <p:cNvSpPr/>
          <p:nvPr/>
        </p:nvSpPr>
        <p:spPr>
          <a:xfrm>
            <a:off x="6418756"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6</a:t>
            </a:r>
            <a:endParaRPr lang="en-RU" dirty="0"/>
          </a:p>
        </p:txBody>
      </p:sp>
      <p:sp>
        <p:nvSpPr>
          <p:cNvPr id="8" name="Rectangle 7">
            <a:extLst>
              <a:ext uri="{FF2B5EF4-FFF2-40B4-BE49-F238E27FC236}">
                <a16:creationId xmlns:a16="http://schemas.microsoft.com/office/drawing/2014/main" id="{24F542B2-2744-64DD-09E2-46E9347EEC08}"/>
              </a:ext>
            </a:extLst>
          </p:cNvPr>
          <p:cNvSpPr/>
          <p:nvPr/>
        </p:nvSpPr>
        <p:spPr>
          <a:xfrm>
            <a:off x="6418756"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7</a:t>
            </a:r>
            <a:endParaRPr lang="en-RU" dirty="0"/>
          </a:p>
        </p:txBody>
      </p:sp>
      <p:sp>
        <p:nvSpPr>
          <p:cNvPr id="10" name="Rectangle 9">
            <a:extLst>
              <a:ext uri="{FF2B5EF4-FFF2-40B4-BE49-F238E27FC236}">
                <a16:creationId xmlns:a16="http://schemas.microsoft.com/office/drawing/2014/main" id="{DC4557B9-6AA9-BD71-4932-265D39114B67}"/>
              </a:ext>
            </a:extLst>
          </p:cNvPr>
          <p:cNvSpPr/>
          <p:nvPr/>
        </p:nvSpPr>
        <p:spPr>
          <a:xfrm>
            <a:off x="6418756"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8</a:t>
            </a:r>
            <a:endParaRPr lang="en-RU" dirty="0"/>
          </a:p>
        </p:txBody>
      </p:sp>
      <p:sp>
        <p:nvSpPr>
          <p:cNvPr id="11" name="Rectangle 10">
            <a:extLst>
              <a:ext uri="{FF2B5EF4-FFF2-40B4-BE49-F238E27FC236}">
                <a16:creationId xmlns:a16="http://schemas.microsoft.com/office/drawing/2014/main" id="{A299D4C0-FA34-15F4-D37F-B87953AAB8FE}"/>
              </a:ext>
            </a:extLst>
          </p:cNvPr>
          <p:cNvSpPr/>
          <p:nvPr/>
        </p:nvSpPr>
        <p:spPr>
          <a:xfrm>
            <a:off x="6418756"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9</a:t>
            </a:r>
            <a:endParaRPr lang="en-RU" dirty="0"/>
          </a:p>
        </p:txBody>
      </p:sp>
      <p:sp>
        <p:nvSpPr>
          <p:cNvPr id="12" name="Rectangle 11">
            <a:extLst>
              <a:ext uri="{FF2B5EF4-FFF2-40B4-BE49-F238E27FC236}">
                <a16:creationId xmlns:a16="http://schemas.microsoft.com/office/drawing/2014/main" id="{2EBACA84-0A22-6FF3-FEF8-80F01B4109B0}"/>
              </a:ext>
            </a:extLst>
          </p:cNvPr>
          <p:cNvSpPr/>
          <p:nvPr/>
        </p:nvSpPr>
        <p:spPr>
          <a:xfrm>
            <a:off x="6418756"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9</a:t>
            </a:r>
            <a:endParaRPr lang="en-RU" dirty="0"/>
          </a:p>
        </p:txBody>
      </p:sp>
      <p:sp>
        <p:nvSpPr>
          <p:cNvPr id="13" name="TextBox 12">
            <a:extLst>
              <a:ext uri="{FF2B5EF4-FFF2-40B4-BE49-F238E27FC236}">
                <a16:creationId xmlns:a16="http://schemas.microsoft.com/office/drawing/2014/main" id="{8AC593B8-6978-81D1-CFDD-5CC63C4FFF32}"/>
              </a:ext>
            </a:extLst>
          </p:cNvPr>
          <p:cNvSpPr txBox="1"/>
          <p:nvPr/>
        </p:nvSpPr>
        <p:spPr>
          <a:xfrm>
            <a:off x="5831458" y="2224815"/>
            <a:ext cx="3890809" cy="246221"/>
          </a:xfrm>
          <a:prstGeom prst="rect">
            <a:avLst/>
          </a:prstGeom>
          <a:noFill/>
        </p:spPr>
        <p:txBody>
          <a:bodyPr wrap="none" rtlCol="0">
            <a:spAutoFit/>
          </a:bodyPr>
          <a:lstStyle/>
          <a:p>
            <a:pPr algn="l"/>
            <a:r>
              <a:rPr lang="ru-RU" sz="1000" dirty="0">
                <a:latin typeface="HSE Sans" panose="02000000000000000000" pitchFamily="2" charset="0"/>
              </a:rPr>
              <a:t>Первое предложение. Второе предложение. Третье предложение…</a:t>
            </a:r>
            <a:endParaRPr lang="en-RU" sz="1000" dirty="0">
              <a:latin typeface="HSE Sans" panose="02000000000000000000" pitchFamily="2" charset="0"/>
            </a:endParaRPr>
          </a:p>
        </p:txBody>
      </p:sp>
      <p:sp>
        <p:nvSpPr>
          <p:cNvPr id="14" name="Left Brace 13">
            <a:extLst>
              <a:ext uri="{FF2B5EF4-FFF2-40B4-BE49-F238E27FC236}">
                <a16:creationId xmlns:a16="http://schemas.microsoft.com/office/drawing/2014/main" id="{A08422FA-F2A3-71E0-84E0-0EAB650BD21A}"/>
              </a:ext>
            </a:extLst>
          </p:cNvPr>
          <p:cNvSpPr/>
          <p:nvPr/>
        </p:nvSpPr>
        <p:spPr>
          <a:xfrm rot="16200000">
            <a:off x="6420602"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15" name="Rectangle 14">
            <a:extLst>
              <a:ext uri="{FF2B5EF4-FFF2-40B4-BE49-F238E27FC236}">
                <a16:creationId xmlns:a16="http://schemas.microsoft.com/office/drawing/2014/main" id="{024B50D5-3EE0-88CC-0DA8-97F9899384CF}"/>
              </a:ext>
            </a:extLst>
          </p:cNvPr>
          <p:cNvSpPr/>
          <p:nvPr/>
        </p:nvSpPr>
        <p:spPr>
          <a:xfrm>
            <a:off x="7627729"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6" name="Rectangle 15">
            <a:extLst>
              <a:ext uri="{FF2B5EF4-FFF2-40B4-BE49-F238E27FC236}">
                <a16:creationId xmlns:a16="http://schemas.microsoft.com/office/drawing/2014/main" id="{55D99785-19E9-4284-8700-B3EFB04B77E8}"/>
              </a:ext>
            </a:extLst>
          </p:cNvPr>
          <p:cNvSpPr/>
          <p:nvPr/>
        </p:nvSpPr>
        <p:spPr>
          <a:xfrm>
            <a:off x="7627729"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7" name="Rectangle 16">
            <a:extLst>
              <a:ext uri="{FF2B5EF4-FFF2-40B4-BE49-F238E27FC236}">
                <a16:creationId xmlns:a16="http://schemas.microsoft.com/office/drawing/2014/main" id="{81FAF507-70D6-EC4C-A956-D3F4C640F953}"/>
              </a:ext>
            </a:extLst>
          </p:cNvPr>
          <p:cNvSpPr/>
          <p:nvPr/>
        </p:nvSpPr>
        <p:spPr>
          <a:xfrm>
            <a:off x="7627729"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8" name="Rectangle 17">
            <a:extLst>
              <a:ext uri="{FF2B5EF4-FFF2-40B4-BE49-F238E27FC236}">
                <a16:creationId xmlns:a16="http://schemas.microsoft.com/office/drawing/2014/main" id="{F3CED604-4AD9-3703-DCB3-26D290818B11}"/>
              </a:ext>
            </a:extLst>
          </p:cNvPr>
          <p:cNvSpPr/>
          <p:nvPr/>
        </p:nvSpPr>
        <p:spPr>
          <a:xfrm>
            <a:off x="7627729"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9" name="Rectangle 18">
            <a:extLst>
              <a:ext uri="{FF2B5EF4-FFF2-40B4-BE49-F238E27FC236}">
                <a16:creationId xmlns:a16="http://schemas.microsoft.com/office/drawing/2014/main" id="{0EAAFD43-0DB2-3F80-607D-F6BFF2507BF6}"/>
              </a:ext>
            </a:extLst>
          </p:cNvPr>
          <p:cNvSpPr/>
          <p:nvPr/>
        </p:nvSpPr>
        <p:spPr>
          <a:xfrm>
            <a:off x="7627729"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20" name="Left Brace 19">
            <a:extLst>
              <a:ext uri="{FF2B5EF4-FFF2-40B4-BE49-F238E27FC236}">
                <a16:creationId xmlns:a16="http://schemas.microsoft.com/office/drawing/2014/main" id="{AECC670A-FC4A-4271-E15B-CB52782AFFFA}"/>
              </a:ext>
            </a:extLst>
          </p:cNvPr>
          <p:cNvSpPr/>
          <p:nvPr/>
        </p:nvSpPr>
        <p:spPr>
          <a:xfrm rot="16200000">
            <a:off x="7629575"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21" name="Rectangle 20">
            <a:extLst>
              <a:ext uri="{FF2B5EF4-FFF2-40B4-BE49-F238E27FC236}">
                <a16:creationId xmlns:a16="http://schemas.microsoft.com/office/drawing/2014/main" id="{C80E40F3-266E-82A9-52FF-0AEAF01714FC}"/>
              </a:ext>
            </a:extLst>
          </p:cNvPr>
          <p:cNvSpPr/>
          <p:nvPr/>
        </p:nvSpPr>
        <p:spPr>
          <a:xfrm>
            <a:off x="8836702"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2" name="Rectangle 21">
            <a:extLst>
              <a:ext uri="{FF2B5EF4-FFF2-40B4-BE49-F238E27FC236}">
                <a16:creationId xmlns:a16="http://schemas.microsoft.com/office/drawing/2014/main" id="{97F827AE-200A-CB0A-D424-B553A1A528F4}"/>
              </a:ext>
            </a:extLst>
          </p:cNvPr>
          <p:cNvSpPr/>
          <p:nvPr/>
        </p:nvSpPr>
        <p:spPr>
          <a:xfrm>
            <a:off x="8836702"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3" name="Rectangle 22">
            <a:extLst>
              <a:ext uri="{FF2B5EF4-FFF2-40B4-BE49-F238E27FC236}">
                <a16:creationId xmlns:a16="http://schemas.microsoft.com/office/drawing/2014/main" id="{17F39276-D8B4-35BE-4EDD-EBD49E20A1AF}"/>
              </a:ext>
            </a:extLst>
          </p:cNvPr>
          <p:cNvSpPr/>
          <p:nvPr/>
        </p:nvSpPr>
        <p:spPr>
          <a:xfrm>
            <a:off x="8836702"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4" name="Rectangle 23">
            <a:extLst>
              <a:ext uri="{FF2B5EF4-FFF2-40B4-BE49-F238E27FC236}">
                <a16:creationId xmlns:a16="http://schemas.microsoft.com/office/drawing/2014/main" id="{4680540A-2271-FB77-36F7-9711F912A810}"/>
              </a:ext>
            </a:extLst>
          </p:cNvPr>
          <p:cNvSpPr/>
          <p:nvPr/>
        </p:nvSpPr>
        <p:spPr>
          <a:xfrm>
            <a:off x="8836702"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5" name="Rectangle 24">
            <a:extLst>
              <a:ext uri="{FF2B5EF4-FFF2-40B4-BE49-F238E27FC236}">
                <a16:creationId xmlns:a16="http://schemas.microsoft.com/office/drawing/2014/main" id="{E7EEB7C6-AAC2-88F1-FB70-E3242F795DCB}"/>
              </a:ext>
            </a:extLst>
          </p:cNvPr>
          <p:cNvSpPr/>
          <p:nvPr/>
        </p:nvSpPr>
        <p:spPr>
          <a:xfrm>
            <a:off x="8836702"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6" name="Left Brace 25">
            <a:extLst>
              <a:ext uri="{FF2B5EF4-FFF2-40B4-BE49-F238E27FC236}">
                <a16:creationId xmlns:a16="http://schemas.microsoft.com/office/drawing/2014/main" id="{077A5A18-4948-CDCC-51E8-18017E46848E}"/>
              </a:ext>
            </a:extLst>
          </p:cNvPr>
          <p:cNvSpPr/>
          <p:nvPr/>
        </p:nvSpPr>
        <p:spPr>
          <a:xfrm rot="16200000">
            <a:off x="8838548"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61" name="Rectangle 60">
            <a:extLst>
              <a:ext uri="{FF2B5EF4-FFF2-40B4-BE49-F238E27FC236}">
                <a16:creationId xmlns:a16="http://schemas.microsoft.com/office/drawing/2014/main" id="{3803A2FA-EE88-88BB-5C56-A6A7C50954F1}"/>
              </a:ext>
            </a:extLst>
          </p:cNvPr>
          <p:cNvSpPr/>
          <p:nvPr/>
        </p:nvSpPr>
        <p:spPr>
          <a:xfrm>
            <a:off x="7031225" y="4211658"/>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4</a:t>
            </a:r>
            <a:endParaRPr lang="en-RU" dirty="0"/>
          </a:p>
        </p:txBody>
      </p:sp>
      <p:sp>
        <p:nvSpPr>
          <p:cNvPr id="62" name="Rectangle 61">
            <a:extLst>
              <a:ext uri="{FF2B5EF4-FFF2-40B4-BE49-F238E27FC236}">
                <a16:creationId xmlns:a16="http://schemas.microsoft.com/office/drawing/2014/main" id="{49BA187C-4771-9393-87C1-5745973EB751}"/>
              </a:ext>
            </a:extLst>
          </p:cNvPr>
          <p:cNvSpPr/>
          <p:nvPr/>
        </p:nvSpPr>
        <p:spPr>
          <a:xfrm>
            <a:off x="7031225" y="4426450"/>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5</a:t>
            </a:r>
            <a:endParaRPr lang="en-RU" dirty="0"/>
          </a:p>
        </p:txBody>
      </p:sp>
      <p:sp>
        <p:nvSpPr>
          <p:cNvPr id="63" name="Rectangle 62">
            <a:extLst>
              <a:ext uri="{FF2B5EF4-FFF2-40B4-BE49-F238E27FC236}">
                <a16:creationId xmlns:a16="http://schemas.microsoft.com/office/drawing/2014/main" id="{9372BD38-C58C-D733-4D58-3FDA545152D9}"/>
              </a:ext>
            </a:extLst>
          </p:cNvPr>
          <p:cNvSpPr/>
          <p:nvPr/>
        </p:nvSpPr>
        <p:spPr>
          <a:xfrm>
            <a:off x="7031225" y="4641242"/>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6</a:t>
            </a:r>
            <a:endParaRPr lang="en-RU" dirty="0"/>
          </a:p>
        </p:txBody>
      </p:sp>
      <p:sp>
        <p:nvSpPr>
          <p:cNvPr id="64" name="Rectangle 63">
            <a:extLst>
              <a:ext uri="{FF2B5EF4-FFF2-40B4-BE49-F238E27FC236}">
                <a16:creationId xmlns:a16="http://schemas.microsoft.com/office/drawing/2014/main" id="{F02C58A7-A7CD-A091-FB13-EA146909488C}"/>
              </a:ext>
            </a:extLst>
          </p:cNvPr>
          <p:cNvSpPr/>
          <p:nvPr/>
        </p:nvSpPr>
        <p:spPr>
          <a:xfrm>
            <a:off x="7031225" y="4856034"/>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7</a:t>
            </a:r>
            <a:endParaRPr lang="en-RU" dirty="0"/>
          </a:p>
        </p:txBody>
      </p:sp>
      <p:sp>
        <p:nvSpPr>
          <p:cNvPr id="65" name="Rectangle 64">
            <a:extLst>
              <a:ext uri="{FF2B5EF4-FFF2-40B4-BE49-F238E27FC236}">
                <a16:creationId xmlns:a16="http://schemas.microsoft.com/office/drawing/2014/main" id="{56AF2213-36F9-F171-8F87-1B56AF6132D9}"/>
              </a:ext>
            </a:extLst>
          </p:cNvPr>
          <p:cNvSpPr/>
          <p:nvPr/>
        </p:nvSpPr>
        <p:spPr>
          <a:xfrm>
            <a:off x="7031225" y="5070826"/>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7</a:t>
            </a:r>
            <a:endParaRPr lang="en-RU" dirty="0"/>
          </a:p>
        </p:txBody>
      </p:sp>
      <p:sp>
        <p:nvSpPr>
          <p:cNvPr id="66" name="Rectangle 65">
            <a:extLst>
              <a:ext uri="{FF2B5EF4-FFF2-40B4-BE49-F238E27FC236}">
                <a16:creationId xmlns:a16="http://schemas.microsoft.com/office/drawing/2014/main" id="{D0ECD31D-9311-C30D-D9CA-F4B3B6EFA899}"/>
              </a:ext>
            </a:extLst>
          </p:cNvPr>
          <p:cNvSpPr/>
          <p:nvPr/>
        </p:nvSpPr>
        <p:spPr>
          <a:xfrm>
            <a:off x="8240198" y="4211658"/>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1</a:t>
            </a:r>
            <a:endParaRPr lang="en-RU" dirty="0"/>
          </a:p>
        </p:txBody>
      </p:sp>
      <p:sp>
        <p:nvSpPr>
          <p:cNvPr id="67" name="Rectangle 66">
            <a:extLst>
              <a:ext uri="{FF2B5EF4-FFF2-40B4-BE49-F238E27FC236}">
                <a16:creationId xmlns:a16="http://schemas.microsoft.com/office/drawing/2014/main" id="{23078D5F-5078-B540-F33C-460A3425F84B}"/>
              </a:ext>
            </a:extLst>
          </p:cNvPr>
          <p:cNvSpPr/>
          <p:nvPr/>
        </p:nvSpPr>
        <p:spPr>
          <a:xfrm>
            <a:off x="8240198" y="4426450"/>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2</a:t>
            </a:r>
            <a:endParaRPr lang="en-RU" dirty="0"/>
          </a:p>
        </p:txBody>
      </p:sp>
      <p:sp>
        <p:nvSpPr>
          <p:cNvPr id="68" name="Rectangle 67">
            <a:extLst>
              <a:ext uri="{FF2B5EF4-FFF2-40B4-BE49-F238E27FC236}">
                <a16:creationId xmlns:a16="http://schemas.microsoft.com/office/drawing/2014/main" id="{0C98E4C7-2EC2-F1AF-119D-1CB0443604DF}"/>
              </a:ext>
            </a:extLst>
          </p:cNvPr>
          <p:cNvSpPr/>
          <p:nvPr/>
        </p:nvSpPr>
        <p:spPr>
          <a:xfrm>
            <a:off x="8240198" y="4641242"/>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1</a:t>
            </a:r>
            <a:endParaRPr lang="en-RU" dirty="0"/>
          </a:p>
        </p:txBody>
      </p:sp>
      <p:sp>
        <p:nvSpPr>
          <p:cNvPr id="69" name="Rectangle 68">
            <a:extLst>
              <a:ext uri="{FF2B5EF4-FFF2-40B4-BE49-F238E27FC236}">
                <a16:creationId xmlns:a16="http://schemas.microsoft.com/office/drawing/2014/main" id="{5C78F642-5987-9FC3-B188-2608F5F03EC0}"/>
              </a:ext>
            </a:extLst>
          </p:cNvPr>
          <p:cNvSpPr/>
          <p:nvPr/>
        </p:nvSpPr>
        <p:spPr>
          <a:xfrm>
            <a:off x="8240198" y="4856034"/>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2</a:t>
            </a:r>
            <a:endParaRPr lang="en-RU" dirty="0"/>
          </a:p>
        </p:txBody>
      </p:sp>
      <p:sp>
        <p:nvSpPr>
          <p:cNvPr id="70" name="Rectangle 69">
            <a:extLst>
              <a:ext uri="{FF2B5EF4-FFF2-40B4-BE49-F238E27FC236}">
                <a16:creationId xmlns:a16="http://schemas.microsoft.com/office/drawing/2014/main" id="{64E89935-88F6-E498-E973-056BB5D59ADB}"/>
              </a:ext>
            </a:extLst>
          </p:cNvPr>
          <p:cNvSpPr/>
          <p:nvPr/>
        </p:nvSpPr>
        <p:spPr>
          <a:xfrm>
            <a:off x="8240198" y="5070826"/>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1</a:t>
            </a:r>
            <a:endParaRPr lang="en-RU" dirty="0"/>
          </a:p>
        </p:txBody>
      </p:sp>
      <p:cxnSp>
        <p:nvCxnSpPr>
          <p:cNvPr id="84" name="Curved Connector 83">
            <a:extLst>
              <a:ext uri="{FF2B5EF4-FFF2-40B4-BE49-F238E27FC236}">
                <a16:creationId xmlns:a16="http://schemas.microsoft.com/office/drawing/2014/main" id="{9D19FA47-1A90-7204-FB34-F5BCAB69F775}"/>
              </a:ext>
            </a:extLst>
          </p:cNvPr>
          <p:cNvCxnSpPr>
            <a:cxnSpLocks/>
            <a:stCxn id="12" idx="2"/>
            <a:endCxn id="61" idx="1"/>
          </p:cNvCxnSpPr>
          <p:nvPr/>
        </p:nvCxnSpPr>
        <p:spPr>
          <a:xfrm rot="16200000" flipH="1">
            <a:off x="6549225" y="3837054"/>
            <a:ext cx="458926" cy="50507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Curved Connector 85">
            <a:extLst>
              <a:ext uri="{FF2B5EF4-FFF2-40B4-BE49-F238E27FC236}">
                <a16:creationId xmlns:a16="http://schemas.microsoft.com/office/drawing/2014/main" id="{738D625A-5BFF-9E13-03FB-380F07487C16}"/>
              </a:ext>
            </a:extLst>
          </p:cNvPr>
          <p:cNvCxnSpPr>
            <a:cxnSpLocks/>
            <a:stCxn id="19" idx="2"/>
            <a:endCxn id="61" idx="3"/>
          </p:cNvCxnSpPr>
          <p:nvPr/>
        </p:nvCxnSpPr>
        <p:spPr>
          <a:xfrm rot="5400000">
            <a:off x="7261108" y="3845037"/>
            <a:ext cx="458926" cy="48910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urved Connector 88">
            <a:extLst>
              <a:ext uri="{FF2B5EF4-FFF2-40B4-BE49-F238E27FC236}">
                <a16:creationId xmlns:a16="http://schemas.microsoft.com/office/drawing/2014/main" id="{DF05E187-A91E-E51A-11A5-8616DECD5328}"/>
              </a:ext>
            </a:extLst>
          </p:cNvPr>
          <p:cNvCxnSpPr>
            <a:cxnSpLocks/>
            <a:stCxn id="19" idx="2"/>
            <a:endCxn id="66" idx="1"/>
          </p:cNvCxnSpPr>
          <p:nvPr/>
        </p:nvCxnSpPr>
        <p:spPr>
          <a:xfrm rot="16200000" flipH="1">
            <a:off x="7758198" y="3837054"/>
            <a:ext cx="458926" cy="50507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Curved Connector 93">
            <a:extLst>
              <a:ext uri="{FF2B5EF4-FFF2-40B4-BE49-F238E27FC236}">
                <a16:creationId xmlns:a16="http://schemas.microsoft.com/office/drawing/2014/main" id="{D4F37011-9603-F880-0C7D-6CDEABEEEE5C}"/>
              </a:ext>
            </a:extLst>
          </p:cNvPr>
          <p:cNvCxnSpPr>
            <a:cxnSpLocks/>
            <a:stCxn id="25" idx="2"/>
            <a:endCxn id="66" idx="3"/>
          </p:cNvCxnSpPr>
          <p:nvPr/>
        </p:nvCxnSpPr>
        <p:spPr>
          <a:xfrm rot="5400000">
            <a:off x="8470081" y="3845037"/>
            <a:ext cx="458926" cy="48910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97" name="Rectangle 96">
            <a:extLst>
              <a:ext uri="{FF2B5EF4-FFF2-40B4-BE49-F238E27FC236}">
                <a16:creationId xmlns:a16="http://schemas.microsoft.com/office/drawing/2014/main" id="{E0FA08FF-8994-DA12-43C6-AC0A0DD47C84}"/>
              </a:ext>
            </a:extLst>
          </p:cNvPr>
          <p:cNvSpPr/>
          <p:nvPr/>
        </p:nvSpPr>
        <p:spPr>
          <a:xfrm>
            <a:off x="10842450" y="4210124"/>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1</a:t>
            </a:r>
            <a:endParaRPr lang="en-RU" dirty="0"/>
          </a:p>
        </p:txBody>
      </p:sp>
      <p:sp>
        <p:nvSpPr>
          <p:cNvPr id="98" name="Rectangle 97">
            <a:extLst>
              <a:ext uri="{FF2B5EF4-FFF2-40B4-BE49-F238E27FC236}">
                <a16:creationId xmlns:a16="http://schemas.microsoft.com/office/drawing/2014/main" id="{F2E4CC2F-CF14-124E-41E6-BB2D93559CC6}"/>
              </a:ext>
            </a:extLst>
          </p:cNvPr>
          <p:cNvSpPr/>
          <p:nvPr/>
        </p:nvSpPr>
        <p:spPr>
          <a:xfrm>
            <a:off x="10842450" y="4424916"/>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2</a:t>
            </a:r>
            <a:endParaRPr lang="en-RU" dirty="0"/>
          </a:p>
        </p:txBody>
      </p:sp>
      <p:sp>
        <p:nvSpPr>
          <p:cNvPr id="99" name="Rectangle 98">
            <a:extLst>
              <a:ext uri="{FF2B5EF4-FFF2-40B4-BE49-F238E27FC236}">
                <a16:creationId xmlns:a16="http://schemas.microsoft.com/office/drawing/2014/main" id="{E7C62120-8A8E-E8AA-4D8E-0AE07C0077F2}"/>
              </a:ext>
            </a:extLst>
          </p:cNvPr>
          <p:cNvSpPr/>
          <p:nvPr/>
        </p:nvSpPr>
        <p:spPr>
          <a:xfrm>
            <a:off x="10842450" y="4639708"/>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3</a:t>
            </a:r>
            <a:endParaRPr lang="en-RU" dirty="0"/>
          </a:p>
        </p:txBody>
      </p:sp>
      <p:sp>
        <p:nvSpPr>
          <p:cNvPr id="100" name="Rectangle 99">
            <a:extLst>
              <a:ext uri="{FF2B5EF4-FFF2-40B4-BE49-F238E27FC236}">
                <a16:creationId xmlns:a16="http://schemas.microsoft.com/office/drawing/2014/main" id="{C11B44CA-8A34-555B-C66E-4C85BF5107DF}"/>
              </a:ext>
            </a:extLst>
          </p:cNvPr>
          <p:cNvSpPr/>
          <p:nvPr/>
        </p:nvSpPr>
        <p:spPr>
          <a:xfrm>
            <a:off x="10842450" y="4854500"/>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4</a:t>
            </a:r>
            <a:endParaRPr lang="en-RU" dirty="0"/>
          </a:p>
        </p:txBody>
      </p:sp>
      <p:sp>
        <p:nvSpPr>
          <p:cNvPr id="101" name="Rectangle 100">
            <a:extLst>
              <a:ext uri="{FF2B5EF4-FFF2-40B4-BE49-F238E27FC236}">
                <a16:creationId xmlns:a16="http://schemas.microsoft.com/office/drawing/2014/main" id="{60328E63-76F9-AE91-1932-CFBF03E3EE8A}"/>
              </a:ext>
            </a:extLst>
          </p:cNvPr>
          <p:cNvSpPr/>
          <p:nvPr/>
        </p:nvSpPr>
        <p:spPr>
          <a:xfrm>
            <a:off x="10842450" y="5069292"/>
            <a:ext cx="214792" cy="21479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dirty="0"/>
              <a:t>5</a:t>
            </a:r>
            <a:endParaRPr lang="en-RU" dirty="0"/>
          </a:p>
        </p:txBody>
      </p:sp>
      <p:sp>
        <p:nvSpPr>
          <p:cNvPr id="102" name="Right Arrow 101">
            <a:extLst>
              <a:ext uri="{FF2B5EF4-FFF2-40B4-BE49-F238E27FC236}">
                <a16:creationId xmlns:a16="http://schemas.microsoft.com/office/drawing/2014/main" id="{F0F0EF3E-614F-649E-AA78-4A9BC503CA61}"/>
              </a:ext>
            </a:extLst>
          </p:cNvPr>
          <p:cNvSpPr/>
          <p:nvPr/>
        </p:nvSpPr>
        <p:spPr>
          <a:xfrm>
            <a:off x="9658147" y="4641242"/>
            <a:ext cx="723049" cy="214792"/>
          </a:xfrm>
          <a:prstGeom prst="rightArrow">
            <a:avLst>
              <a:gd name="adj1" fmla="val 50000"/>
              <a:gd name="adj2" fmla="val 44286"/>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RU" dirty="0"/>
          </a:p>
        </p:txBody>
      </p:sp>
      <p:sp>
        <p:nvSpPr>
          <p:cNvPr id="103" name="TextBox 102">
            <a:extLst>
              <a:ext uri="{FF2B5EF4-FFF2-40B4-BE49-F238E27FC236}">
                <a16:creationId xmlns:a16="http://schemas.microsoft.com/office/drawing/2014/main" id="{A670899C-8223-9C49-DD37-42C14A90C34E}"/>
              </a:ext>
            </a:extLst>
          </p:cNvPr>
          <p:cNvSpPr txBox="1"/>
          <p:nvPr/>
        </p:nvSpPr>
        <p:spPr>
          <a:xfrm>
            <a:off x="9522579" y="4393093"/>
            <a:ext cx="994183" cy="246221"/>
          </a:xfrm>
          <a:prstGeom prst="rect">
            <a:avLst/>
          </a:prstGeom>
          <a:noFill/>
        </p:spPr>
        <p:txBody>
          <a:bodyPr wrap="none" rtlCol="0">
            <a:spAutoFit/>
          </a:bodyPr>
          <a:lstStyle/>
          <a:p>
            <a:pPr algn="l"/>
            <a:r>
              <a:rPr lang="ru-RU" sz="1000" dirty="0">
                <a:latin typeface="HSE Sans" panose="02000000000000000000" pitchFamily="2" charset="0"/>
              </a:rPr>
              <a:t>агрегирование</a:t>
            </a:r>
            <a:endParaRPr lang="en-RU" sz="1000" dirty="0">
              <a:latin typeface="HSE Sans" panose="02000000000000000000" pitchFamily="2" charset="0"/>
            </a:endParaRPr>
          </a:p>
        </p:txBody>
      </p:sp>
    </p:spTree>
    <p:extLst>
      <p:ext uri="{BB962C8B-B14F-4D97-AF65-F5344CB8AC3E}">
        <p14:creationId xmlns:p14="http://schemas.microsoft.com/office/powerpoint/2010/main" val="1821202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8675D-53E6-1091-7EAD-E15C0D5F96E5}"/>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863FA15D-E9D3-4DC0-2E86-0000A4DAC310}"/>
              </a:ext>
            </a:extLst>
          </p:cNvPr>
          <p:cNvSpPr>
            <a:spLocks noGrp="1"/>
          </p:cNvSpPr>
          <p:nvPr>
            <p:ph type="title"/>
          </p:nvPr>
        </p:nvSpPr>
        <p:spPr/>
        <p:txBody>
          <a:bodyPr/>
          <a:lstStyle/>
          <a:p>
            <a:r>
              <a:rPr lang="ru-RU" dirty="0"/>
              <a:t>Методы агрегирования</a:t>
            </a:r>
          </a:p>
        </p:txBody>
      </p:sp>
      <p:sp>
        <p:nvSpPr>
          <p:cNvPr id="4" name="Текст 3">
            <a:extLst>
              <a:ext uri="{FF2B5EF4-FFF2-40B4-BE49-F238E27FC236}">
                <a16:creationId xmlns:a16="http://schemas.microsoft.com/office/drawing/2014/main" id="{40BD829D-ACF5-0EBE-615A-891F98127A09}"/>
              </a:ext>
            </a:extLst>
          </p:cNvPr>
          <p:cNvSpPr>
            <a:spLocks noGrp="1"/>
          </p:cNvSpPr>
          <p:nvPr>
            <p:ph type="body" sz="quarter" idx="12"/>
          </p:nvPr>
        </p:nvSpPr>
        <p:spPr>
          <a:xfrm>
            <a:off x="585898" y="2379663"/>
            <a:ext cx="4349570" cy="3393234"/>
          </a:xfrm>
        </p:spPr>
        <p:txBody>
          <a:bodyPr>
            <a:normAutofit/>
          </a:bodyPr>
          <a:lstStyle/>
          <a:p>
            <a:r>
              <a:rPr lang="ru-RU" dirty="0"/>
              <a:t>Взвешенная сумма (идейно близок к механизму внимания):</a:t>
            </a:r>
          </a:p>
          <a:p>
            <a:pPr marL="285750" indent="-285750">
              <a:buFont typeface="Arial" panose="020B0604020202020204" pitchFamily="34" charset="0"/>
              <a:buChar char="•"/>
            </a:pPr>
            <a:r>
              <a:rPr lang="ru-RU" dirty="0"/>
              <a:t>Взвешенное агрегирование по расстоянию (</a:t>
            </a:r>
            <a:r>
              <a:rPr lang="en-RU" dirty="0"/>
              <a:t>Distance Weighted Pooling</a:t>
            </a:r>
            <a:r>
              <a:rPr lang="ru-RU" dirty="0"/>
              <a:t>).</a:t>
            </a:r>
          </a:p>
          <a:p>
            <a:pPr marL="285750" indent="-285750">
              <a:buFont typeface="Arial" panose="020B0604020202020204" pitchFamily="34" charset="0"/>
              <a:buChar char="•"/>
            </a:pPr>
            <a:endParaRPr lang="ru-RU" dirty="0"/>
          </a:p>
          <a:p>
            <a:endParaRPr lang="ru-RU" dirty="0"/>
          </a:p>
          <a:p>
            <a:endParaRPr lang="ru-RU" dirty="0"/>
          </a:p>
        </p:txBody>
      </p:sp>
      <p:sp>
        <p:nvSpPr>
          <p:cNvPr id="5" name="Текст 4">
            <a:extLst>
              <a:ext uri="{FF2B5EF4-FFF2-40B4-BE49-F238E27FC236}">
                <a16:creationId xmlns:a16="http://schemas.microsoft.com/office/drawing/2014/main" id="{5F7DB8FC-00D0-5011-6583-04B098A23298}"/>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346C2AFC-1C39-B287-7307-AF273913FD97}"/>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BC0A6BD1-988E-8348-2282-BCE32C8F734D}"/>
              </a:ext>
            </a:extLst>
          </p:cNvPr>
          <p:cNvSpPr>
            <a:spLocks noGrp="1"/>
          </p:cNvSpPr>
          <p:nvPr>
            <p:ph type="body" sz="quarter" idx="15"/>
          </p:nvPr>
        </p:nvSpPr>
        <p:spPr>
          <a:xfrm>
            <a:off x="6259893" y="654193"/>
            <a:ext cx="2070100" cy="181530"/>
          </a:xfrm>
        </p:spPr>
        <p:txBody>
          <a:bodyPr/>
          <a:lstStyle/>
          <a:p>
            <a:r>
              <a:rPr lang="ru-RU" dirty="0"/>
              <a:t>Методы агрегирования</a:t>
            </a:r>
          </a:p>
        </p:txBody>
      </p:sp>
      <p:sp>
        <p:nvSpPr>
          <p:cNvPr id="2" name="Rectangle 1">
            <a:extLst>
              <a:ext uri="{FF2B5EF4-FFF2-40B4-BE49-F238E27FC236}">
                <a16:creationId xmlns:a16="http://schemas.microsoft.com/office/drawing/2014/main" id="{FD42FF4A-19DA-4383-B51D-9AEFFB094680}"/>
              </a:ext>
            </a:extLst>
          </p:cNvPr>
          <p:cNvSpPr/>
          <p:nvPr/>
        </p:nvSpPr>
        <p:spPr>
          <a:xfrm>
            <a:off x="6418756"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6</a:t>
            </a:r>
            <a:endParaRPr lang="en-RU" dirty="0"/>
          </a:p>
        </p:txBody>
      </p:sp>
      <p:sp>
        <p:nvSpPr>
          <p:cNvPr id="8" name="Rectangle 7">
            <a:extLst>
              <a:ext uri="{FF2B5EF4-FFF2-40B4-BE49-F238E27FC236}">
                <a16:creationId xmlns:a16="http://schemas.microsoft.com/office/drawing/2014/main" id="{589628C9-3D3E-BA45-86BB-BF4263F4F691}"/>
              </a:ext>
            </a:extLst>
          </p:cNvPr>
          <p:cNvSpPr/>
          <p:nvPr/>
        </p:nvSpPr>
        <p:spPr>
          <a:xfrm>
            <a:off x="6418756"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7</a:t>
            </a:r>
            <a:endParaRPr lang="en-RU" dirty="0"/>
          </a:p>
        </p:txBody>
      </p:sp>
      <p:sp>
        <p:nvSpPr>
          <p:cNvPr id="10" name="Rectangle 9">
            <a:extLst>
              <a:ext uri="{FF2B5EF4-FFF2-40B4-BE49-F238E27FC236}">
                <a16:creationId xmlns:a16="http://schemas.microsoft.com/office/drawing/2014/main" id="{9EF26EE9-BFCE-8313-189A-0A904B1E3CB5}"/>
              </a:ext>
            </a:extLst>
          </p:cNvPr>
          <p:cNvSpPr/>
          <p:nvPr/>
        </p:nvSpPr>
        <p:spPr>
          <a:xfrm>
            <a:off x="6418756"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8</a:t>
            </a:r>
            <a:endParaRPr lang="en-RU" dirty="0"/>
          </a:p>
        </p:txBody>
      </p:sp>
      <p:sp>
        <p:nvSpPr>
          <p:cNvPr id="11" name="Rectangle 10">
            <a:extLst>
              <a:ext uri="{FF2B5EF4-FFF2-40B4-BE49-F238E27FC236}">
                <a16:creationId xmlns:a16="http://schemas.microsoft.com/office/drawing/2014/main" id="{A5E5F3A1-AC0F-3331-5463-79700360DF7D}"/>
              </a:ext>
            </a:extLst>
          </p:cNvPr>
          <p:cNvSpPr/>
          <p:nvPr/>
        </p:nvSpPr>
        <p:spPr>
          <a:xfrm>
            <a:off x="6418756"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4</a:t>
            </a:r>
            <a:endParaRPr lang="en-RU" dirty="0"/>
          </a:p>
        </p:txBody>
      </p:sp>
      <p:sp>
        <p:nvSpPr>
          <p:cNvPr id="12" name="Rectangle 11">
            <a:extLst>
              <a:ext uri="{FF2B5EF4-FFF2-40B4-BE49-F238E27FC236}">
                <a16:creationId xmlns:a16="http://schemas.microsoft.com/office/drawing/2014/main" id="{5A3EFA56-081D-0E04-B2FE-C539C589FAEC}"/>
              </a:ext>
            </a:extLst>
          </p:cNvPr>
          <p:cNvSpPr/>
          <p:nvPr/>
        </p:nvSpPr>
        <p:spPr>
          <a:xfrm>
            <a:off x="6418756"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9</a:t>
            </a:r>
            <a:endParaRPr lang="en-RU" dirty="0"/>
          </a:p>
        </p:txBody>
      </p:sp>
      <p:sp>
        <p:nvSpPr>
          <p:cNvPr id="13" name="TextBox 12">
            <a:extLst>
              <a:ext uri="{FF2B5EF4-FFF2-40B4-BE49-F238E27FC236}">
                <a16:creationId xmlns:a16="http://schemas.microsoft.com/office/drawing/2014/main" id="{7BC03628-723F-7B86-9A56-3032B5DE2FB2}"/>
              </a:ext>
            </a:extLst>
          </p:cNvPr>
          <p:cNvSpPr txBox="1"/>
          <p:nvPr/>
        </p:nvSpPr>
        <p:spPr>
          <a:xfrm>
            <a:off x="5831458" y="2224815"/>
            <a:ext cx="3890809" cy="246221"/>
          </a:xfrm>
          <a:prstGeom prst="rect">
            <a:avLst/>
          </a:prstGeom>
          <a:noFill/>
        </p:spPr>
        <p:txBody>
          <a:bodyPr wrap="none" rtlCol="0">
            <a:spAutoFit/>
          </a:bodyPr>
          <a:lstStyle/>
          <a:p>
            <a:pPr algn="l"/>
            <a:r>
              <a:rPr lang="ru-RU" sz="1000" dirty="0">
                <a:latin typeface="HSE Sans" panose="02000000000000000000" pitchFamily="2" charset="0"/>
              </a:rPr>
              <a:t>Первое предложение. Второе предложение. Третье предложение…</a:t>
            </a:r>
            <a:endParaRPr lang="en-RU" sz="1000" dirty="0">
              <a:latin typeface="HSE Sans" panose="02000000000000000000" pitchFamily="2" charset="0"/>
            </a:endParaRPr>
          </a:p>
        </p:txBody>
      </p:sp>
      <p:sp>
        <p:nvSpPr>
          <p:cNvPr id="14" name="Left Brace 13">
            <a:extLst>
              <a:ext uri="{FF2B5EF4-FFF2-40B4-BE49-F238E27FC236}">
                <a16:creationId xmlns:a16="http://schemas.microsoft.com/office/drawing/2014/main" id="{0B3ADC62-8046-4F34-F1F2-AEBF63C5620B}"/>
              </a:ext>
            </a:extLst>
          </p:cNvPr>
          <p:cNvSpPr/>
          <p:nvPr/>
        </p:nvSpPr>
        <p:spPr>
          <a:xfrm rot="16200000">
            <a:off x="6420602"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15" name="Rectangle 14">
            <a:extLst>
              <a:ext uri="{FF2B5EF4-FFF2-40B4-BE49-F238E27FC236}">
                <a16:creationId xmlns:a16="http://schemas.microsoft.com/office/drawing/2014/main" id="{CEC98AB8-90B8-2505-9ACA-287F14309DFA}"/>
              </a:ext>
            </a:extLst>
          </p:cNvPr>
          <p:cNvSpPr/>
          <p:nvPr/>
        </p:nvSpPr>
        <p:spPr>
          <a:xfrm>
            <a:off x="7627729"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6" name="Rectangle 15">
            <a:extLst>
              <a:ext uri="{FF2B5EF4-FFF2-40B4-BE49-F238E27FC236}">
                <a16:creationId xmlns:a16="http://schemas.microsoft.com/office/drawing/2014/main" id="{A1F274A6-BD9F-31EF-F2E5-D7C8DD177C31}"/>
              </a:ext>
            </a:extLst>
          </p:cNvPr>
          <p:cNvSpPr/>
          <p:nvPr/>
        </p:nvSpPr>
        <p:spPr>
          <a:xfrm>
            <a:off x="7627729"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7" name="Rectangle 16">
            <a:extLst>
              <a:ext uri="{FF2B5EF4-FFF2-40B4-BE49-F238E27FC236}">
                <a16:creationId xmlns:a16="http://schemas.microsoft.com/office/drawing/2014/main" id="{311BC428-C38B-ABCB-6789-D74A050C7A62}"/>
              </a:ext>
            </a:extLst>
          </p:cNvPr>
          <p:cNvSpPr/>
          <p:nvPr/>
        </p:nvSpPr>
        <p:spPr>
          <a:xfrm>
            <a:off x="7627729"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3</a:t>
            </a:r>
            <a:endParaRPr lang="en-RU" dirty="0"/>
          </a:p>
        </p:txBody>
      </p:sp>
      <p:sp>
        <p:nvSpPr>
          <p:cNvPr id="18" name="Rectangle 17">
            <a:extLst>
              <a:ext uri="{FF2B5EF4-FFF2-40B4-BE49-F238E27FC236}">
                <a16:creationId xmlns:a16="http://schemas.microsoft.com/office/drawing/2014/main" id="{9D2C62DC-CA26-8679-1703-A356BC491CF6}"/>
              </a:ext>
            </a:extLst>
          </p:cNvPr>
          <p:cNvSpPr/>
          <p:nvPr/>
        </p:nvSpPr>
        <p:spPr>
          <a:xfrm>
            <a:off x="7627729"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19" name="Rectangle 18">
            <a:extLst>
              <a:ext uri="{FF2B5EF4-FFF2-40B4-BE49-F238E27FC236}">
                <a16:creationId xmlns:a16="http://schemas.microsoft.com/office/drawing/2014/main" id="{5E4691BC-3E57-9941-EB78-C94E65C80047}"/>
              </a:ext>
            </a:extLst>
          </p:cNvPr>
          <p:cNvSpPr/>
          <p:nvPr/>
        </p:nvSpPr>
        <p:spPr>
          <a:xfrm>
            <a:off x="7627729"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20" name="Left Brace 19">
            <a:extLst>
              <a:ext uri="{FF2B5EF4-FFF2-40B4-BE49-F238E27FC236}">
                <a16:creationId xmlns:a16="http://schemas.microsoft.com/office/drawing/2014/main" id="{610B3774-43F1-F6F1-F986-E67353BC27EE}"/>
              </a:ext>
            </a:extLst>
          </p:cNvPr>
          <p:cNvSpPr/>
          <p:nvPr/>
        </p:nvSpPr>
        <p:spPr>
          <a:xfrm rot="16200000">
            <a:off x="7629575"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21" name="Rectangle 20">
            <a:extLst>
              <a:ext uri="{FF2B5EF4-FFF2-40B4-BE49-F238E27FC236}">
                <a16:creationId xmlns:a16="http://schemas.microsoft.com/office/drawing/2014/main" id="{1A51E2BC-CD02-F854-7868-F26692CC74CC}"/>
              </a:ext>
            </a:extLst>
          </p:cNvPr>
          <p:cNvSpPr/>
          <p:nvPr/>
        </p:nvSpPr>
        <p:spPr>
          <a:xfrm>
            <a:off x="8836702"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2" name="Rectangle 21">
            <a:extLst>
              <a:ext uri="{FF2B5EF4-FFF2-40B4-BE49-F238E27FC236}">
                <a16:creationId xmlns:a16="http://schemas.microsoft.com/office/drawing/2014/main" id="{C16C11F0-27C8-691F-03AD-3C57C6F979C0}"/>
              </a:ext>
            </a:extLst>
          </p:cNvPr>
          <p:cNvSpPr/>
          <p:nvPr/>
        </p:nvSpPr>
        <p:spPr>
          <a:xfrm>
            <a:off x="8836702"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3" name="Rectangle 22">
            <a:extLst>
              <a:ext uri="{FF2B5EF4-FFF2-40B4-BE49-F238E27FC236}">
                <a16:creationId xmlns:a16="http://schemas.microsoft.com/office/drawing/2014/main" id="{484F983F-86C9-FC93-A981-6FCC9533D3FF}"/>
              </a:ext>
            </a:extLst>
          </p:cNvPr>
          <p:cNvSpPr/>
          <p:nvPr/>
        </p:nvSpPr>
        <p:spPr>
          <a:xfrm>
            <a:off x="8836702"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4" name="Rectangle 23">
            <a:extLst>
              <a:ext uri="{FF2B5EF4-FFF2-40B4-BE49-F238E27FC236}">
                <a16:creationId xmlns:a16="http://schemas.microsoft.com/office/drawing/2014/main" id="{989CA115-D291-D5D1-2E6C-270B535E3E52}"/>
              </a:ext>
            </a:extLst>
          </p:cNvPr>
          <p:cNvSpPr/>
          <p:nvPr/>
        </p:nvSpPr>
        <p:spPr>
          <a:xfrm>
            <a:off x="8836702"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0</a:t>
            </a:r>
            <a:endParaRPr lang="en-RU" dirty="0"/>
          </a:p>
        </p:txBody>
      </p:sp>
      <p:sp>
        <p:nvSpPr>
          <p:cNvPr id="25" name="Rectangle 24">
            <a:extLst>
              <a:ext uri="{FF2B5EF4-FFF2-40B4-BE49-F238E27FC236}">
                <a16:creationId xmlns:a16="http://schemas.microsoft.com/office/drawing/2014/main" id="{C101AD31-FFAB-F269-8BE5-1F8BE836DCCD}"/>
              </a:ext>
            </a:extLst>
          </p:cNvPr>
          <p:cNvSpPr/>
          <p:nvPr/>
        </p:nvSpPr>
        <p:spPr>
          <a:xfrm>
            <a:off x="8836702"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1</a:t>
            </a:r>
            <a:endParaRPr lang="en-RU" dirty="0"/>
          </a:p>
        </p:txBody>
      </p:sp>
      <p:sp>
        <p:nvSpPr>
          <p:cNvPr id="26" name="Left Brace 25">
            <a:extLst>
              <a:ext uri="{FF2B5EF4-FFF2-40B4-BE49-F238E27FC236}">
                <a16:creationId xmlns:a16="http://schemas.microsoft.com/office/drawing/2014/main" id="{8B2554B5-B8D5-EC6F-8505-C9FF6D36004B}"/>
              </a:ext>
            </a:extLst>
          </p:cNvPr>
          <p:cNvSpPr/>
          <p:nvPr/>
        </p:nvSpPr>
        <p:spPr>
          <a:xfrm rot="16200000">
            <a:off x="8838548" y="2017135"/>
            <a:ext cx="214791" cy="119669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RU"/>
          </a:p>
        </p:txBody>
      </p:sp>
      <p:sp>
        <p:nvSpPr>
          <p:cNvPr id="27" name="Rectangle 26">
            <a:extLst>
              <a:ext uri="{FF2B5EF4-FFF2-40B4-BE49-F238E27FC236}">
                <a16:creationId xmlns:a16="http://schemas.microsoft.com/office/drawing/2014/main" id="{C1B3B827-FD07-44BA-132B-A8F1B89B9D6D}"/>
              </a:ext>
            </a:extLst>
          </p:cNvPr>
          <p:cNvSpPr/>
          <p:nvPr/>
        </p:nvSpPr>
        <p:spPr>
          <a:xfrm>
            <a:off x="10842450" y="2786168"/>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3</a:t>
            </a:r>
            <a:endParaRPr lang="en-RU" dirty="0"/>
          </a:p>
        </p:txBody>
      </p:sp>
      <p:sp>
        <p:nvSpPr>
          <p:cNvPr id="28" name="Rectangle 27">
            <a:extLst>
              <a:ext uri="{FF2B5EF4-FFF2-40B4-BE49-F238E27FC236}">
                <a16:creationId xmlns:a16="http://schemas.microsoft.com/office/drawing/2014/main" id="{F66F4F0D-F8F1-685B-21D3-9805CBC4187C}"/>
              </a:ext>
            </a:extLst>
          </p:cNvPr>
          <p:cNvSpPr/>
          <p:nvPr/>
        </p:nvSpPr>
        <p:spPr>
          <a:xfrm>
            <a:off x="10842450" y="3000960"/>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3</a:t>
            </a:r>
            <a:endParaRPr lang="en-RU" dirty="0"/>
          </a:p>
        </p:txBody>
      </p:sp>
      <p:sp>
        <p:nvSpPr>
          <p:cNvPr id="29" name="Rectangle 28">
            <a:extLst>
              <a:ext uri="{FF2B5EF4-FFF2-40B4-BE49-F238E27FC236}">
                <a16:creationId xmlns:a16="http://schemas.microsoft.com/office/drawing/2014/main" id="{BAE2DD66-9E97-1529-4650-0447BFC83A11}"/>
              </a:ext>
            </a:extLst>
          </p:cNvPr>
          <p:cNvSpPr/>
          <p:nvPr/>
        </p:nvSpPr>
        <p:spPr>
          <a:xfrm>
            <a:off x="10842450" y="3215752"/>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4</a:t>
            </a:r>
            <a:endParaRPr lang="en-RU" dirty="0"/>
          </a:p>
        </p:txBody>
      </p:sp>
      <p:sp>
        <p:nvSpPr>
          <p:cNvPr id="30" name="Rectangle 29">
            <a:extLst>
              <a:ext uri="{FF2B5EF4-FFF2-40B4-BE49-F238E27FC236}">
                <a16:creationId xmlns:a16="http://schemas.microsoft.com/office/drawing/2014/main" id="{C0D29642-8EAB-654E-88C2-A81AF6274C01}"/>
              </a:ext>
            </a:extLst>
          </p:cNvPr>
          <p:cNvSpPr/>
          <p:nvPr/>
        </p:nvSpPr>
        <p:spPr>
          <a:xfrm>
            <a:off x="10842450" y="3430544"/>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2</a:t>
            </a:r>
            <a:endParaRPr lang="en-RU" dirty="0"/>
          </a:p>
        </p:txBody>
      </p:sp>
      <p:sp>
        <p:nvSpPr>
          <p:cNvPr id="31" name="Rectangle 30">
            <a:extLst>
              <a:ext uri="{FF2B5EF4-FFF2-40B4-BE49-F238E27FC236}">
                <a16:creationId xmlns:a16="http://schemas.microsoft.com/office/drawing/2014/main" id="{E0DD5FDC-16E8-937F-FBCF-18F79F78E96B}"/>
              </a:ext>
            </a:extLst>
          </p:cNvPr>
          <p:cNvSpPr/>
          <p:nvPr/>
        </p:nvSpPr>
        <p:spPr>
          <a:xfrm>
            <a:off x="10842450" y="3645336"/>
            <a:ext cx="214792" cy="214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4</a:t>
            </a:r>
            <a:endParaRPr lang="en-RU" dirty="0"/>
          </a:p>
        </p:txBody>
      </p:sp>
      <p:sp>
        <p:nvSpPr>
          <p:cNvPr id="32" name="Right Arrow 31">
            <a:extLst>
              <a:ext uri="{FF2B5EF4-FFF2-40B4-BE49-F238E27FC236}">
                <a16:creationId xmlns:a16="http://schemas.microsoft.com/office/drawing/2014/main" id="{D9D9EBB9-ECCD-4E72-A00F-3AEF7C46F460}"/>
              </a:ext>
            </a:extLst>
          </p:cNvPr>
          <p:cNvSpPr/>
          <p:nvPr/>
        </p:nvSpPr>
        <p:spPr>
          <a:xfrm>
            <a:off x="9658147" y="3217286"/>
            <a:ext cx="723049" cy="214792"/>
          </a:xfrm>
          <a:prstGeom prst="rightArrow">
            <a:avLst>
              <a:gd name="adj1" fmla="val 50000"/>
              <a:gd name="adj2" fmla="val 4428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dirty="0"/>
          </a:p>
        </p:txBody>
      </p:sp>
      <p:sp>
        <p:nvSpPr>
          <p:cNvPr id="34" name="TextBox 33">
            <a:extLst>
              <a:ext uri="{FF2B5EF4-FFF2-40B4-BE49-F238E27FC236}">
                <a16:creationId xmlns:a16="http://schemas.microsoft.com/office/drawing/2014/main" id="{AF23913A-B55B-60DB-D38F-E48C51F4EA68}"/>
              </a:ext>
            </a:extLst>
          </p:cNvPr>
          <p:cNvSpPr txBox="1"/>
          <p:nvPr/>
        </p:nvSpPr>
        <p:spPr>
          <a:xfrm>
            <a:off x="9522579" y="2969137"/>
            <a:ext cx="902811" cy="246221"/>
          </a:xfrm>
          <a:prstGeom prst="rect">
            <a:avLst/>
          </a:prstGeom>
          <a:noFill/>
        </p:spPr>
        <p:txBody>
          <a:bodyPr wrap="none" rtlCol="0">
            <a:spAutoFit/>
          </a:bodyPr>
          <a:lstStyle/>
          <a:p>
            <a:pPr algn="l"/>
            <a:r>
              <a:rPr lang="en-US" sz="1000" dirty="0">
                <a:latin typeface="HSE Sans" panose="02000000000000000000" pitchFamily="2" charset="0"/>
              </a:rPr>
              <a:t>Mean pooling</a:t>
            </a:r>
            <a:endParaRPr lang="en-RU" sz="1000" dirty="0">
              <a:latin typeface="HSE Sans" panose="02000000000000000000" pitchFamily="2" charset="0"/>
            </a:endParaRPr>
          </a:p>
        </p:txBody>
      </p:sp>
      <p:sp>
        <p:nvSpPr>
          <p:cNvPr id="9" name="TextBox 8">
            <a:extLst>
              <a:ext uri="{FF2B5EF4-FFF2-40B4-BE49-F238E27FC236}">
                <a16:creationId xmlns:a16="http://schemas.microsoft.com/office/drawing/2014/main" id="{00006772-3B5F-E09B-0975-08673F7F7F44}"/>
              </a:ext>
            </a:extLst>
          </p:cNvPr>
          <p:cNvSpPr txBox="1"/>
          <p:nvPr/>
        </p:nvSpPr>
        <p:spPr>
          <a:xfrm>
            <a:off x="10381196" y="2490270"/>
            <a:ext cx="1002197" cy="246221"/>
          </a:xfrm>
          <a:prstGeom prst="rect">
            <a:avLst/>
          </a:prstGeom>
          <a:noFill/>
        </p:spPr>
        <p:txBody>
          <a:bodyPr wrap="none" rtlCol="0">
            <a:spAutoFit/>
          </a:bodyPr>
          <a:lstStyle/>
          <a:p>
            <a:pPr algn="l"/>
            <a:r>
              <a:rPr lang="ru-RU" sz="1000" dirty="0">
                <a:latin typeface="HSE Sans" panose="02000000000000000000" pitchFamily="2" charset="0"/>
              </a:rPr>
              <a:t>«центр» текста</a:t>
            </a:r>
            <a:endParaRPr lang="en-RU" sz="1000" dirty="0">
              <a:latin typeface="HSE Sans" panose="02000000000000000000" pitchFamily="2" charset="0"/>
            </a:endParaRPr>
          </a:p>
        </p:txBody>
      </p:sp>
      <p:cxnSp>
        <p:nvCxnSpPr>
          <p:cNvPr id="37" name="Elbow Connector 36">
            <a:extLst>
              <a:ext uri="{FF2B5EF4-FFF2-40B4-BE49-F238E27FC236}">
                <a16:creationId xmlns:a16="http://schemas.microsoft.com/office/drawing/2014/main" id="{A7D5F55F-97DD-F426-B0E4-E4F153F86209}"/>
              </a:ext>
            </a:extLst>
          </p:cNvPr>
          <p:cNvCxnSpPr>
            <a:stCxn id="31" idx="2"/>
            <a:endCxn id="25" idx="2"/>
          </p:cNvCxnSpPr>
          <p:nvPr/>
        </p:nvCxnSpPr>
        <p:spPr>
          <a:xfrm rot="5400000">
            <a:off x="9946972" y="2857254"/>
            <a:ext cx="12700" cy="2005748"/>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E95C6DD1-B11B-05DB-69B1-49275E913D73}"/>
              </a:ext>
            </a:extLst>
          </p:cNvPr>
          <p:cNvCxnSpPr>
            <a:cxnSpLocks/>
            <a:stCxn id="31" idx="2"/>
            <a:endCxn id="19" idx="2"/>
          </p:cNvCxnSpPr>
          <p:nvPr/>
        </p:nvCxnSpPr>
        <p:spPr>
          <a:xfrm rot="5400000">
            <a:off x="9342486" y="2252768"/>
            <a:ext cx="12700" cy="3214721"/>
          </a:xfrm>
          <a:prstGeom prst="bentConnector3">
            <a:avLst>
              <a:gd name="adj1" fmla="val 392617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D310F6B3-66F2-A639-F5D2-A4C37CB359DC}"/>
              </a:ext>
            </a:extLst>
          </p:cNvPr>
          <p:cNvCxnSpPr>
            <a:cxnSpLocks/>
            <a:stCxn id="31" idx="2"/>
            <a:endCxn id="12" idx="2"/>
          </p:cNvCxnSpPr>
          <p:nvPr/>
        </p:nvCxnSpPr>
        <p:spPr>
          <a:xfrm rot="5400000">
            <a:off x="8737999" y="1648281"/>
            <a:ext cx="12700" cy="4423694"/>
          </a:xfrm>
          <a:prstGeom prst="bentConnector3">
            <a:avLst>
              <a:gd name="adj1" fmla="val 614899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BB3E88B-EB49-3D21-1CF9-A8DEC9237411}"/>
              </a:ext>
            </a:extLst>
          </p:cNvPr>
          <p:cNvSpPr txBox="1"/>
          <p:nvPr/>
        </p:nvSpPr>
        <p:spPr>
          <a:xfrm>
            <a:off x="9324318" y="3829239"/>
            <a:ext cx="896399" cy="246221"/>
          </a:xfrm>
          <a:prstGeom prst="rect">
            <a:avLst/>
          </a:prstGeom>
          <a:noFill/>
        </p:spPr>
        <p:txBody>
          <a:bodyPr wrap="none" rtlCol="0">
            <a:spAutoFit/>
          </a:bodyPr>
          <a:lstStyle/>
          <a:p>
            <a:pPr algn="l"/>
            <a:r>
              <a:rPr lang="ru-RU" sz="1000" dirty="0">
                <a:latin typeface="HSE Sans" panose="02000000000000000000" pitchFamily="2" charset="0"/>
              </a:rPr>
              <a:t>расстояние 3</a:t>
            </a:r>
            <a:endParaRPr lang="en-RU" sz="1000" baseline="-25000" dirty="0">
              <a:latin typeface="HSE Sans" panose="02000000000000000000" pitchFamily="2" charset="0"/>
            </a:endParaRPr>
          </a:p>
        </p:txBody>
      </p:sp>
      <p:sp>
        <p:nvSpPr>
          <p:cNvPr id="49" name="TextBox 48">
            <a:extLst>
              <a:ext uri="{FF2B5EF4-FFF2-40B4-BE49-F238E27FC236}">
                <a16:creationId xmlns:a16="http://schemas.microsoft.com/office/drawing/2014/main" id="{19036EC1-BA1D-CB53-7527-0A0AD35DE8A7}"/>
              </a:ext>
            </a:extLst>
          </p:cNvPr>
          <p:cNvSpPr txBox="1"/>
          <p:nvPr/>
        </p:nvSpPr>
        <p:spPr>
          <a:xfrm>
            <a:off x="7940303" y="4106974"/>
            <a:ext cx="896399" cy="246221"/>
          </a:xfrm>
          <a:prstGeom prst="rect">
            <a:avLst/>
          </a:prstGeom>
          <a:noFill/>
        </p:spPr>
        <p:txBody>
          <a:bodyPr wrap="none" rtlCol="0">
            <a:spAutoFit/>
          </a:bodyPr>
          <a:lstStyle/>
          <a:p>
            <a:pPr algn="l"/>
            <a:r>
              <a:rPr lang="ru-RU" sz="1000" dirty="0">
                <a:latin typeface="HSE Sans" panose="02000000000000000000" pitchFamily="2" charset="0"/>
              </a:rPr>
              <a:t>расстояние 2</a:t>
            </a:r>
            <a:endParaRPr lang="en-RU" sz="1000" baseline="-25000" dirty="0">
              <a:latin typeface="HSE Sans" panose="02000000000000000000" pitchFamily="2" charset="0"/>
            </a:endParaRPr>
          </a:p>
        </p:txBody>
      </p:sp>
      <p:sp>
        <p:nvSpPr>
          <p:cNvPr id="50" name="TextBox 49">
            <a:extLst>
              <a:ext uri="{FF2B5EF4-FFF2-40B4-BE49-F238E27FC236}">
                <a16:creationId xmlns:a16="http://schemas.microsoft.com/office/drawing/2014/main" id="{97EFD2C7-85DF-D8B3-5BAD-B981EE8BB4F4}"/>
              </a:ext>
            </a:extLst>
          </p:cNvPr>
          <p:cNvSpPr txBox="1"/>
          <p:nvPr/>
        </p:nvSpPr>
        <p:spPr>
          <a:xfrm>
            <a:off x="6690421" y="4381393"/>
            <a:ext cx="896399" cy="246221"/>
          </a:xfrm>
          <a:prstGeom prst="rect">
            <a:avLst/>
          </a:prstGeom>
          <a:noFill/>
        </p:spPr>
        <p:txBody>
          <a:bodyPr wrap="none" rtlCol="0">
            <a:spAutoFit/>
          </a:bodyPr>
          <a:lstStyle/>
          <a:p>
            <a:pPr algn="l"/>
            <a:r>
              <a:rPr lang="ru-RU" sz="1000" dirty="0">
                <a:latin typeface="HSE Sans" panose="02000000000000000000" pitchFamily="2" charset="0"/>
              </a:rPr>
              <a:t>расстояние 1</a:t>
            </a:r>
            <a:endParaRPr lang="en-RU" sz="1000" baseline="-25000" dirty="0">
              <a:latin typeface="HSE Sans" panose="02000000000000000000" pitchFamily="2" charset="0"/>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46CE884-B05A-AEE7-04B5-85CB78E292C9}"/>
                  </a:ext>
                </a:extLst>
              </p:cNvPr>
              <p:cNvSpPr txBox="1"/>
              <p:nvPr/>
            </p:nvSpPr>
            <p:spPr>
              <a:xfrm>
                <a:off x="7416361" y="5021692"/>
                <a:ext cx="2078967" cy="369332"/>
              </a:xfrm>
              <a:prstGeom prst="rect">
                <a:avLst/>
              </a:prstGeom>
              <a:noFill/>
            </p:spPr>
            <p:txBody>
              <a:bodyPr wrap="none" rtlCol="0">
                <a:spAutoFit/>
              </a:bodyPr>
              <a:lstStyle/>
              <a:p>
                <a:pPr algn="l"/>
                <a:r>
                  <a:rPr lang="ru-RU" dirty="0">
                    <a:latin typeface="HSE Sans" panose="02000000000000000000" pitchFamily="2" charset="0"/>
                  </a:rPr>
                  <a:t>РАССТОЯНИЕ </a:t>
                </a:r>
                <a14:m>
                  <m:oMath xmlns:m="http://schemas.openxmlformats.org/officeDocument/2006/math">
                    <m:r>
                      <a:rPr lang="en-US" i="1" dirty="0" smtClean="0">
                        <a:latin typeface="Cambria Math" panose="02040503050406030204" pitchFamily="18" charset="0"/>
                      </a:rPr>
                      <m:t>~</m:t>
                    </m:r>
                  </m:oMath>
                </a14:m>
                <a:r>
                  <a:rPr lang="en-US" dirty="0">
                    <a:latin typeface="HSE Sans" panose="02000000000000000000" pitchFamily="2" charset="0"/>
                  </a:rPr>
                  <a:t> </a:t>
                </a:r>
                <a:r>
                  <a:rPr lang="ru-RU" dirty="0">
                    <a:latin typeface="HSE Sans" panose="02000000000000000000" pitchFamily="2" charset="0"/>
                  </a:rPr>
                  <a:t>ВЕС</a:t>
                </a:r>
              </a:p>
            </p:txBody>
          </p:sp>
        </mc:Choice>
        <mc:Fallback xmlns="">
          <p:sp>
            <p:nvSpPr>
              <p:cNvPr id="52" name="TextBox 51">
                <a:extLst>
                  <a:ext uri="{FF2B5EF4-FFF2-40B4-BE49-F238E27FC236}">
                    <a16:creationId xmlns:a16="http://schemas.microsoft.com/office/drawing/2014/main" id="{C46CE884-B05A-AEE7-04B5-85CB78E292C9}"/>
                  </a:ext>
                </a:extLst>
              </p:cNvPr>
              <p:cNvSpPr txBox="1">
                <a:spLocks noRot="1" noChangeAspect="1" noMove="1" noResize="1" noEditPoints="1" noAdjustHandles="1" noChangeArrowheads="1" noChangeShapeType="1" noTextEdit="1"/>
              </p:cNvSpPr>
              <p:nvPr/>
            </p:nvSpPr>
            <p:spPr>
              <a:xfrm>
                <a:off x="7416361" y="5021692"/>
                <a:ext cx="2078967" cy="369332"/>
              </a:xfrm>
              <a:prstGeom prst="rect">
                <a:avLst/>
              </a:prstGeom>
              <a:blipFill>
                <a:blip r:embed="rId2"/>
                <a:stretch>
                  <a:fillRect l="-3049" t="-6667" r="-1829" b="-26667"/>
                </a:stretch>
              </a:blipFill>
            </p:spPr>
            <p:txBody>
              <a:bodyPr/>
              <a:lstStyle/>
              <a:p>
                <a:r>
                  <a:rPr lang="en-RU">
                    <a:noFill/>
                  </a:rPr>
                  <a:t> </a:t>
                </a:r>
              </a:p>
            </p:txBody>
          </p:sp>
        </mc:Fallback>
      </mc:AlternateContent>
    </p:spTree>
    <p:extLst>
      <p:ext uri="{BB962C8B-B14F-4D97-AF65-F5344CB8AC3E}">
        <p14:creationId xmlns:p14="http://schemas.microsoft.com/office/powerpoint/2010/main" val="2048649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D0C9-50A4-6D37-065F-A0E2794F7526}"/>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A0961251-F191-F0BC-EBDA-57BF24124145}"/>
              </a:ext>
            </a:extLst>
          </p:cNvPr>
          <p:cNvSpPr>
            <a:spLocks noGrp="1"/>
          </p:cNvSpPr>
          <p:nvPr>
            <p:ph type="title"/>
          </p:nvPr>
        </p:nvSpPr>
        <p:spPr/>
        <p:txBody>
          <a:bodyPr/>
          <a:lstStyle/>
          <a:p>
            <a:r>
              <a:rPr lang="ru-RU" dirty="0"/>
              <a:t>Метрики качества</a:t>
            </a:r>
          </a:p>
        </p:txBody>
      </p:sp>
      <p:sp>
        <p:nvSpPr>
          <p:cNvPr id="4" name="Текст 3">
            <a:extLst>
              <a:ext uri="{FF2B5EF4-FFF2-40B4-BE49-F238E27FC236}">
                <a16:creationId xmlns:a16="http://schemas.microsoft.com/office/drawing/2014/main" id="{1045F9D7-6802-EE10-1979-FEFE8C43E924}"/>
              </a:ext>
            </a:extLst>
          </p:cNvPr>
          <p:cNvSpPr>
            <a:spLocks noGrp="1"/>
          </p:cNvSpPr>
          <p:nvPr>
            <p:ph type="body" sz="quarter" idx="12"/>
          </p:nvPr>
        </p:nvSpPr>
        <p:spPr>
          <a:xfrm>
            <a:off x="585897" y="2379663"/>
            <a:ext cx="10933003" cy="3393234"/>
          </a:xfrm>
        </p:spPr>
        <p:txBody>
          <a:bodyPr/>
          <a:lstStyle/>
          <a:p>
            <a:r>
              <a:rPr lang="en-RU" b="1" dirty="0"/>
              <a:t>ROC-AUC</a:t>
            </a:r>
            <a:r>
              <a:rPr lang="en-RU" dirty="0"/>
              <a:t> (ROC Area Under Curve, площадь под ROC-кривой) </a:t>
            </a:r>
            <a:endParaRPr lang="ru-RU" dirty="0"/>
          </a:p>
          <a:p>
            <a:r>
              <a:rPr lang="en-RU" dirty="0"/>
              <a:t>и </a:t>
            </a:r>
            <a:endParaRPr lang="ru-RU" dirty="0"/>
          </a:p>
          <a:p>
            <a:r>
              <a:rPr lang="en-RU" b="1" dirty="0"/>
              <a:t>PR-AUC</a:t>
            </a:r>
            <a:r>
              <a:rPr lang="en-RU" dirty="0"/>
              <a:t> (Precision-Recall Area Under Curve, площадь под кривой Precision-Recall)</a:t>
            </a:r>
            <a:endParaRPr lang="ru-RU" dirty="0"/>
          </a:p>
          <a:p>
            <a:endParaRPr lang="ru-RU" dirty="0"/>
          </a:p>
          <a:p>
            <a:pPr marL="342900" indent="-342900">
              <a:buAutoNum type="arabicPeriod"/>
            </a:pPr>
            <a:r>
              <a:rPr lang="ru-RU" dirty="0"/>
              <a:t>Де-факто стандарт для задач </a:t>
            </a:r>
            <a:r>
              <a:rPr lang="en-US" dirty="0"/>
              <a:t>OOD</a:t>
            </a:r>
            <a:r>
              <a:rPr lang="ru-RU" dirty="0"/>
              <a:t>.</a:t>
            </a:r>
          </a:p>
          <a:p>
            <a:pPr marL="342900" indent="-342900">
              <a:buAutoNum type="arabicPeriod"/>
            </a:pPr>
            <a:r>
              <a:rPr lang="ru-RU" dirty="0"/>
              <a:t>Не требуют определения порога</a:t>
            </a:r>
            <a:r>
              <a:rPr lang="en-US" dirty="0"/>
              <a:t>.</a:t>
            </a:r>
          </a:p>
          <a:p>
            <a:pPr marL="342900" indent="-342900">
              <a:buAutoNum type="arabicPeriod"/>
            </a:pPr>
            <a:r>
              <a:rPr lang="ru-RU" dirty="0"/>
              <a:t>Сочетание метрик достаточно информативно при дисбалансе.</a:t>
            </a:r>
          </a:p>
          <a:p>
            <a:pPr marL="342900" indent="-342900">
              <a:buAutoNum type="arabicPeriod"/>
            </a:pPr>
            <a:r>
              <a:rPr lang="ru-RU" dirty="0"/>
              <a:t>Для финального решения набор метрик расширен для сравнения с </a:t>
            </a:r>
            <a:r>
              <a:rPr lang="ru-RU" dirty="0" err="1"/>
              <a:t>бейзлайном</a:t>
            </a:r>
            <a:r>
              <a:rPr lang="ru-RU" dirty="0"/>
              <a:t>.</a:t>
            </a:r>
          </a:p>
          <a:p>
            <a:endParaRPr lang="ru-RU" dirty="0"/>
          </a:p>
        </p:txBody>
      </p:sp>
      <p:sp>
        <p:nvSpPr>
          <p:cNvPr id="5" name="Текст 4">
            <a:extLst>
              <a:ext uri="{FF2B5EF4-FFF2-40B4-BE49-F238E27FC236}">
                <a16:creationId xmlns:a16="http://schemas.microsoft.com/office/drawing/2014/main" id="{D2A2EA67-9D09-5F7D-30E6-EB531373DA08}"/>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4718B288-CD62-EC35-6607-C7F59E31B04E}"/>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6E489DF6-2F51-A33C-41F3-37776EE65BD9}"/>
              </a:ext>
            </a:extLst>
          </p:cNvPr>
          <p:cNvSpPr>
            <a:spLocks noGrp="1"/>
          </p:cNvSpPr>
          <p:nvPr>
            <p:ph type="body" sz="quarter" idx="15"/>
          </p:nvPr>
        </p:nvSpPr>
        <p:spPr>
          <a:xfrm>
            <a:off x="6259893" y="654193"/>
            <a:ext cx="2070100" cy="181530"/>
          </a:xfrm>
        </p:spPr>
        <p:txBody>
          <a:bodyPr/>
          <a:lstStyle/>
          <a:p>
            <a:r>
              <a:rPr lang="ru-RU" dirty="0"/>
              <a:t>Метрики качества</a:t>
            </a:r>
          </a:p>
        </p:txBody>
      </p:sp>
      <p:sp>
        <p:nvSpPr>
          <p:cNvPr id="9" name="TextBox 8">
            <a:extLst>
              <a:ext uri="{FF2B5EF4-FFF2-40B4-BE49-F238E27FC236}">
                <a16:creationId xmlns:a16="http://schemas.microsoft.com/office/drawing/2014/main" id="{37468C72-4407-A397-F767-F4EC48AEE8D9}"/>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spTree>
    <p:extLst>
      <p:ext uri="{BB962C8B-B14F-4D97-AF65-F5344CB8AC3E}">
        <p14:creationId xmlns:p14="http://schemas.microsoft.com/office/powerpoint/2010/main" val="56691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FA04-95FA-9276-0B3E-9C6E5149D6DB}"/>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2F369F03-0939-8049-0D59-13BD6A8DB763}"/>
              </a:ext>
            </a:extLst>
          </p:cNvPr>
          <p:cNvSpPr>
            <a:spLocks noGrp="1"/>
          </p:cNvSpPr>
          <p:nvPr>
            <p:ph type="title"/>
          </p:nvPr>
        </p:nvSpPr>
        <p:spPr/>
        <p:txBody>
          <a:bodyPr/>
          <a:lstStyle/>
          <a:p>
            <a:r>
              <a:rPr lang="ru-RU" dirty="0"/>
              <a:t>Методы поиска аномалий</a:t>
            </a:r>
          </a:p>
        </p:txBody>
      </p:sp>
      <p:sp>
        <p:nvSpPr>
          <p:cNvPr id="4" name="Текст 3">
            <a:extLst>
              <a:ext uri="{FF2B5EF4-FFF2-40B4-BE49-F238E27FC236}">
                <a16:creationId xmlns:a16="http://schemas.microsoft.com/office/drawing/2014/main" id="{FD63473B-66D9-2E93-FF33-74E1D6D81483}"/>
              </a:ext>
            </a:extLst>
          </p:cNvPr>
          <p:cNvSpPr>
            <a:spLocks noGrp="1"/>
          </p:cNvSpPr>
          <p:nvPr>
            <p:ph type="body" sz="quarter" idx="12"/>
          </p:nvPr>
        </p:nvSpPr>
        <p:spPr>
          <a:xfrm>
            <a:off x="585897" y="2379663"/>
            <a:ext cx="5599003" cy="3393234"/>
          </a:xfrm>
        </p:spPr>
        <p:txBody>
          <a:bodyPr/>
          <a:lstStyle/>
          <a:p>
            <a:pPr marL="342900" lvl="0" indent="-342900">
              <a:buFont typeface="Arial" panose="020B0604020202020204" pitchFamily="34" charset="0"/>
              <a:buChar char="•"/>
            </a:pPr>
            <a:r>
              <a:rPr lang="en-RU" dirty="0"/>
              <a:t>Расстояние Махаланобиса (Mahalanobis Distance);</a:t>
            </a:r>
          </a:p>
          <a:p>
            <a:pPr marL="342900" lvl="0" indent="-342900">
              <a:buFont typeface="Arial" panose="020B0604020202020204" pitchFamily="34" charset="0"/>
              <a:buChar char="•"/>
            </a:pPr>
            <a:r>
              <a:rPr lang="en-RU" dirty="0"/>
              <a:t>Лес изолирующих деревьев (Isolation Forest);</a:t>
            </a:r>
          </a:p>
          <a:p>
            <a:pPr marL="342900" lvl="0" indent="-342900">
              <a:buFont typeface="Arial" panose="020B0604020202020204" pitchFamily="34" charset="0"/>
              <a:buChar char="•"/>
            </a:pPr>
            <a:r>
              <a:rPr lang="en-RU" dirty="0"/>
              <a:t>Метод k ближайших соседей (kNN);</a:t>
            </a:r>
          </a:p>
          <a:p>
            <a:pPr marL="342900" lvl="0" indent="-342900">
              <a:buFont typeface="Arial" panose="020B0604020202020204" pitchFamily="34" charset="0"/>
              <a:buChar char="•"/>
            </a:pPr>
            <a:r>
              <a:rPr lang="en-RU" dirty="0"/>
              <a:t>Локальный </a:t>
            </a:r>
            <a:r>
              <a:rPr lang="ru-RU" dirty="0"/>
              <a:t>уровень </a:t>
            </a:r>
            <a:r>
              <a:rPr lang="en-RU" dirty="0"/>
              <a:t>выброса (Local Outlier Factor, LOF);</a:t>
            </a:r>
          </a:p>
          <a:p>
            <a:pPr marL="342900" lvl="0" indent="-342900">
              <a:buFont typeface="Arial" panose="020B0604020202020204" pitchFamily="34" charset="0"/>
              <a:buChar char="•"/>
            </a:pPr>
            <a:r>
              <a:rPr lang="en-RU" b="1" dirty="0"/>
              <a:t>Автокодировщик</a:t>
            </a:r>
            <a:r>
              <a:rPr lang="ru-RU" b="1" dirty="0"/>
              <a:t> (</a:t>
            </a:r>
            <a:r>
              <a:rPr lang="en-US" b="1" dirty="0"/>
              <a:t>Autoencoder</a:t>
            </a:r>
            <a:r>
              <a:rPr lang="ru-RU" b="1" dirty="0"/>
              <a:t>)</a:t>
            </a:r>
            <a:r>
              <a:rPr lang="en-RU" b="1" dirty="0"/>
              <a:t>.</a:t>
            </a:r>
            <a:endParaRPr lang="ru-RU" b="1" dirty="0"/>
          </a:p>
          <a:p>
            <a:endParaRPr lang="ru-RU" dirty="0"/>
          </a:p>
        </p:txBody>
      </p:sp>
      <p:sp>
        <p:nvSpPr>
          <p:cNvPr id="5" name="Текст 4">
            <a:extLst>
              <a:ext uri="{FF2B5EF4-FFF2-40B4-BE49-F238E27FC236}">
                <a16:creationId xmlns:a16="http://schemas.microsoft.com/office/drawing/2014/main" id="{DA3B1A0C-DD61-6941-D96E-3F4CCA1355EA}"/>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8CBFD427-EBA0-1E1C-7A5A-026E4C9F6CBA}"/>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CFF7B806-A811-BEF6-14DE-6627DEDD71E5}"/>
              </a:ext>
            </a:extLst>
          </p:cNvPr>
          <p:cNvSpPr>
            <a:spLocks noGrp="1"/>
          </p:cNvSpPr>
          <p:nvPr>
            <p:ph type="body" sz="quarter" idx="15"/>
          </p:nvPr>
        </p:nvSpPr>
        <p:spPr>
          <a:xfrm>
            <a:off x="6259893" y="654193"/>
            <a:ext cx="2070100" cy="181530"/>
          </a:xfrm>
        </p:spPr>
        <p:txBody>
          <a:bodyPr/>
          <a:lstStyle/>
          <a:p>
            <a:r>
              <a:rPr lang="ru-RU" dirty="0"/>
              <a:t>Методы поиска аномалий</a:t>
            </a:r>
          </a:p>
        </p:txBody>
      </p:sp>
      <p:sp>
        <p:nvSpPr>
          <p:cNvPr id="9" name="TextBox 8">
            <a:extLst>
              <a:ext uri="{FF2B5EF4-FFF2-40B4-BE49-F238E27FC236}">
                <a16:creationId xmlns:a16="http://schemas.microsoft.com/office/drawing/2014/main" id="{C147D4C5-EAFF-A455-A7BF-A4A914C63269}"/>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pic>
        <p:nvPicPr>
          <p:cNvPr id="8" name="Picture 7">
            <a:extLst>
              <a:ext uri="{FF2B5EF4-FFF2-40B4-BE49-F238E27FC236}">
                <a16:creationId xmlns:a16="http://schemas.microsoft.com/office/drawing/2014/main" id="{8697E84F-0AFC-4619-E897-44CB7158C287}"/>
              </a:ext>
            </a:extLst>
          </p:cNvPr>
          <p:cNvPicPr>
            <a:picLocks noChangeAspect="1"/>
          </p:cNvPicPr>
          <p:nvPr/>
        </p:nvPicPr>
        <p:blipFill>
          <a:blip r:embed="rId2"/>
          <a:stretch>
            <a:fillRect/>
          </a:stretch>
        </p:blipFill>
        <p:spPr>
          <a:xfrm>
            <a:off x="6807012" y="1836302"/>
            <a:ext cx="3782784" cy="2138757"/>
          </a:xfrm>
          <a:prstGeom prst="rect">
            <a:avLst/>
          </a:prstGeom>
        </p:spPr>
      </p:pic>
      <p:pic>
        <p:nvPicPr>
          <p:cNvPr id="11" name="Picture 10">
            <a:extLst>
              <a:ext uri="{FF2B5EF4-FFF2-40B4-BE49-F238E27FC236}">
                <a16:creationId xmlns:a16="http://schemas.microsoft.com/office/drawing/2014/main" id="{5B19DBC3-9139-A9E4-716C-6FE82BCA6D57}"/>
              </a:ext>
            </a:extLst>
          </p:cNvPr>
          <p:cNvPicPr>
            <a:picLocks noChangeAspect="1"/>
          </p:cNvPicPr>
          <p:nvPr/>
        </p:nvPicPr>
        <p:blipFill>
          <a:blip r:embed="rId3"/>
          <a:stretch>
            <a:fillRect/>
          </a:stretch>
        </p:blipFill>
        <p:spPr>
          <a:xfrm>
            <a:off x="6946986" y="4042407"/>
            <a:ext cx="3642810" cy="2161400"/>
          </a:xfrm>
          <a:prstGeom prst="rect">
            <a:avLst/>
          </a:prstGeom>
        </p:spPr>
      </p:pic>
    </p:spTree>
    <p:extLst>
      <p:ext uri="{BB962C8B-B14F-4D97-AF65-F5344CB8AC3E}">
        <p14:creationId xmlns:p14="http://schemas.microsoft.com/office/powerpoint/2010/main" val="3794077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345E3-03BF-4B95-BC43-9AE0EEECE9A5}"/>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61A82D08-F377-F52E-04E9-4043BA975FAE}"/>
              </a:ext>
            </a:extLst>
          </p:cNvPr>
          <p:cNvSpPr>
            <a:spLocks noGrp="1"/>
          </p:cNvSpPr>
          <p:nvPr>
            <p:ph type="title"/>
          </p:nvPr>
        </p:nvSpPr>
        <p:spPr/>
        <p:txBody>
          <a:bodyPr/>
          <a:lstStyle/>
          <a:p>
            <a:r>
              <a:rPr lang="ru-RU" dirty="0"/>
              <a:t>Выбор </a:t>
            </a:r>
            <a:r>
              <a:rPr lang="ru-RU" dirty="0" err="1"/>
              <a:t>бейзлайна</a:t>
            </a:r>
            <a:endParaRPr lang="ru-RU" dirty="0"/>
          </a:p>
        </p:txBody>
      </p:sp>
      <p:sp>
        <p:nvSpPr>
          <p:cNvPr id="4" name="Текст 3">
            <a:extLst>
              <a:ext uri="{FF2B5EF4-FFF2-40B4-BE49-F238E27FC236}">
                <a16:creationId xmlns:a16="http://schemas.microsoft.com/office/drawing/2014/main" id="{2F439421-7585-3E1F-8F6B-3D47D8E640B2}"/>
              </a:ext>
            </a:extLst>
          </p:cNvPr>
          <p:cNvSpPr>
            <a:spLocks noGrp="1"/>
          </p:cNvSpPr>
          <p:nvPr>
            <p:ph type="body" sz="quarter" idx="12"/>
          </p:nvPr>
        </p:nvSpPr>
        <p:spPr>
          <a:xfrm>
            <a:off x="585897" y="2379663"/>
            <a:ext cx="5599003" cy="3278640"/>
          </a:xfrm>
        </p:spPr>
        <p:txBody>
          <a:bodyPr/>
          <a:lstStyle/>
          <a:p>
            <a:r>
              <a:rPr lang="ru-RU" dirty="0"/>
              <a:t>В качестве </a:t>
            </a:r>
            <a:r>
              <a:rPr lang="ru-RU" dirty="0" err="1"/>
              <a:t>бейзлайна</a:t>
            </a:r>
            <a:r>
              <a:rPr lang="ru-RU" dirty="0"/>
              <a:t> выбрано усреднение </a:t>
            </a:r>
            <a:r>
              <a:rPr lang="ru-RU" dirty="0" err="1"/>
              <a:t>эмбеддингов</a:t>
            </a:r>
            <a:r>
              <a:rPr lang="ru-RU" dirty="0"/>
              <a:t> </a:t>
            </a:r>
            <a:r>
              <a:rPr lang="en-US" dirty="0"/>
              <a:t>(mean pooling)</a:t>
            </a:r>
            <a:r>
              <a:rPr lang="ru-RU" dirty="0"/>
              <a:t>, так как:</a:t>
            </a:r>
          </a:p>
          <a:p>
            <a:pPr marL="342900" lvl="0" indent="-342900">
              <a:buFont typeface="+mj-lt"/>
              <a:buAutoNum type="arabicPeriod"/>
            </a:pPr>
            <a:r>
              <a:rPr lang="en-RU" dirty="0"/>
              <a:t>Метод понятен и интерпретируем.</a:t>
            </a:r>
          </a:p>
          <a:p>
            <a:pPr marL="342900" lvl="0" indent="-342900">
              <a:buFont typeface="+mj-lt"/>
              <a:buAutoNum type="arabicPeriod"/>
            </a:pPr>
            <a:r>
              <a:rPr lang="en-RU" dirty="0"/>
              <a:t>Основан на тех же механизмах, что и конечное решение.</a:t>
            </a:r>
          </a:p>
          <a:p>
            <a:pPr marL="342900" indent="-342900">
              <a:buFont typeface="+mj-lt"/>
              <a:buAutoNum type="arabicPeriod"/>
            </a:pPr>
            <a:r>
              <a:rPr lang="en-RU" dirty="0"/>
              <a:t>Показывает неплохие результаты</a:t>
            </a:r>
            <a:r>
              <a:rPr lang="ru-RU" dirty="0"/>
              <a:t>.</a:t>
            </a:r>
          </a:p>
          <a:p>
            <a:endParaRPr lang="ru-RU" dirty="0"/>
          </a:p>
          <a:p>
            <a:endParaRPr lang="ru-RU" dirty="0"/>
          </a:p>
        </p:txBody>
      </p:sp>
      <p:sp>
        <p:nvSpPr>
          <p:cNvPr id="5" name="Текст 4">
            <a:extLst>
              <a:ext uri="{FF2B5EF4-FFF2-40B4-BE49-F238E27FC236}">
                <a16:creationId xmlns:a16="http://schemas.microsoft.com/office/drawing/2014/main" id="{3A7776EB-C229-D3FE-113E-4A27B87F46A4}"/>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A617F519-EE3D-D28B-A4B5-A5128EBD2E1D}"/>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825CA742-710F-9E3E-5C49-B6CC4161DCEC}"/>
              </a:ext>
            </a:extLst>
          </p:cNvPr>
          <p:cNvSpPr>
            <a:spLocks noGrp="1"/>
          </p:cNvSpPr>
          <p:nvPr>
            <p:ph type="body" sz="quarter" idx="15"/>
          </p:nvPr>
        </p:nvSpPr>
        <p:spPr>
          <a:xfrm>
            <a:off x="6259893" y="654193"/>
            <a:ext cx="2070100" cy="181530"/>
          </a:xfrm>
        </p:spPr>
        <p:txBody>
          <a:bodyPr/>
          <a:lstStyle/>
          <a:p>
            <a:r>
              <a:rPr lang="ru-RU" dirty="0"/>
              <a:t>Выбор </a:t>
            </a:r>
            <a:r>
              <a:rPr lang="ru-RU" dirty="0" err="1"/>
              <a:t>бейзлайна</a:t>
            </a:r>
            <a:endParaRPr lang="ru-RU" dirty="0"/>
          </a:p>
        </p:txBody>
      </p:sp>
      <p:sp>
        <p:nvSpPr>
          <p:cNvPr id="9" name="TextBox 8">
            <a:extLst>
              <a:ext uri="{FF2B5EF4-FFF2-40B4-BE49-F238E27FC236}">
                <a16:creationId xmlns:a16="http://schemas.microsoft.com/office/drawing/2014/main" id="{AF339577-A824-945E-1714-EE1EFD36129C}"/>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graphicFrame>
        <p:nvGraphicFramePr>
          <p:cNvPr id="2" name="Table 1">
            <a:extLst>
              <a:ext uri="{FF2B5EF4-FFF2-40B4-BE49-F238E27FC236}">
                <a16:creationId xmlns:a16="http://schemas.microsoft.com/office/drawing/2014/main" id="{AA44C945-0FE0-0D35-2777-6916D952DBE8}"/>
              </a:ext>
            </a:extLst>
          </p:cNvPr>
          <p:cNvGraphicFramePr>
            <a:graphicFrameLocks noGrp="1"/>
          </p:cNvGraphicFramePr>
          <p:nvPr>
            <p:extLst>
              <p:ext uri="{D42A27DB-BD31-4B8C-83A1-F6EECF244321}">
                <p14:modId xmlns:p14="http://schemas.microsoft.com/office/powerpoint/2010/main" val="1857466253"/>
              </p:ext>
            </p:extLst>
          </p:nvPr>
        </p:nvGraphicFramePr>
        <p:xfrm>
          <a:off x="6595954" y="2379663"/>
          <a:ext cx="5010149" cy="3278640"/>
        </p:xfrm>
        <a:graphic>
          <a:graphicData uri="http://schemas.openxmlformats.org/drawingml/2006/table">
            <a:tbl>
              <a:tblPr firstRow="1" firstCol="1" bandRow="1">
                <a:tableStyleId>{5C22544A-7EE6-4342-B048-85BDC9FD1C3A}</a:tableStyleId>
              </a:tblPr>
              <a:tblGrid>
                <a:gridCol w="1289050">
                  <a:extLst>
                    <a:ext uri="{9D8B030D-6E8A-4147-A177-3AD203B41FA5}">
                      <a16:colId xmlns:a16="http://schemas.microsoft.com/office/drawing/2014/main" val="577786113"/>
                    </a:ext>
                  </a:extLst>
                </a:gridCol>
                <a:gridCol w="2032000">
                  <a:extLst>
                    <a:ext uri="{9D8B030D-6E8A-4147-A177-3AD203B41FA5}">
                      <a16:colId xmlns:a16="http://schemas.microsoft.com/office/drawing/2014/main" val="906581491"/>
                    </a:ext>
                  </a:extLst>
                </a:gridCol>
                <a:gridCol w="946150">
                  <a:extLst>
                    <a:ext uri="{9D8B030D-6E8A-4147-A177-3AD203B41FA5}">
                      <a16:colId xmlns:a16="http://schemas.microsoft.com/office/drawing/2014/main" val="1078194238"/>
                    </a:ext>
                  </a:extLst>
                </a:gridCol>
                <a:gridCol w="742949">
                  <a:extLst>
                    <a:ext uri="{9D8B030D-6E8A-4147-A177-3AD203B41FA5}">
                      <a16:colId xmlns:a16="http://schemas.microsoft.com/office/drawing/2014/main" val="1730160005"/>
                    </a:ext>
                  </a:extLst>
                </a:gridCol>
              </a:tblGrid>
              <a:tr h="204915">
                <a:tc>
                  <a:txBody>
                    <a:bodyPr/>
                    <a:lstStyle/>
                    <a:p>
                      <a:pPr algn="just">
                        <a:lnSpc>
                          <a:spcPct val="150000"/>
                        </a:lnSpc>
                        <a:buNone/>
                      </a:pPr>
                      <a:r>
                        <a:rPr lang="en-RU" sz="1000" dirty="0">
                          <a:effectLst/>
                        </a:rPr>
                        <a:t>Энкодер</a:t>
                      </a:r>
                      <a:endParaRPr lang="en-RU"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Метод обнаружения аномалий</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US" sz="1000">
                          <a:effectLst/>
                        </a:rPr>
                        <a:t>ROC-AUC</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US" sz="1000">
                          <a:effectLst/>
                        </a:rPr>
                        <a:t>PR-AUC</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39247106"/>
                  </a:ext>
                </a:extLst>
              </a:tr>
              <a:tr h="204915">
                <a:tc rowSpan="5">
                  <a:txBody>
                    <a:bodyPr/>
                    <a:lstStyle/>
                    <a:p>
                      <a:pPr algn="just">
                        <a:lnSpc>
                          <a:spcPct val="150000"/>
                        </a:lnSpc>
                        <a:buNone/>
                      </a:pPr>
                      <a:r>
                        <a:rPr lang="en-RU" sz="1000" dirty="0">
                          <a:effectLst/>
                        </a:rPr>
                        <a:t>all-MiniLM-L6-v2</a:t>
                      </a:r>
                      <a:endParaRPr lang="en-RU"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Mahalanobis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0.8095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0.7843</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92642273"/>
                  </a:ext>
                </a:extLst>
              </a:tr>
              <a:tr h="204915">
                <a:tc vMerge="1">
                  <a:txBody>
                    <a:bodyPr/>
                    <a:lstStyle/>
                    <a:p>
                      <a:endParaRPr lang="en-RU"/>
                    </a:p>
                  </a:txBody>
                  <a:tcPr/>
                </a:tc>
                <a:tc>
                  <a:txBody>
                    <a:bodyPr/>
                    <a:lstStyle/>
                    <a:p>
                      <a:pPr algn="just">
                        <a:lnSpc>
                          <a:spcPct val="150000"/>
                        </a:lnSpc>
                        <a:buNone/>
                      </a:pPr>
                      <a:r>
                        <a:rPr lang="en-RU" sz="1000">
                          <a:effectLst/>
                        </a:rPr>
                        <a:t>IsolationForest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0.8203</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dirty="0">
                          <a:effectLst/>
                        </a:rPr>
                        <a:t>0.8062</a:t>
                      </a:r>
                      <a:endParaRPr lang="en-RU"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46039091"/>
                  </a:ext>
                </a:extLst>
              </a:tr>
              <a:tr h="204915">
                <a:tc vMerge="1">
                  <a:txBody>
                    <a:bodyPr/>
                    <a:lstStyle/>
                    <a:p>
                      <a:endParaRPr lang="en-RU"/>
                    </a:p>
                  </a:txBody>
                  <a:tcPr/>
                </a:tc>
                <a:tc>
                  <a:txBody>
                    <a:bodyPr/>
                    <a:lstStyle/>
                    <a:p>
                      <a:pPr algn="just">
                        <a:lnSpc>
                          <a:spcPct val="150000"/>
                        </a:lnSpc>
                        <a:buNone/>
                      </a:pPr>
                      <a:r>
                        <a:rPr lang="en-RU" sz="1000">
                          <a:effectLst/>
                        </a:rPr>
                        <a:t>kNN</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0.8106</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0.7935</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53349552"/>
                  </a:ext>
                </a:extLst>
              </a:tr>
              <a:tr h="204915">
                <a:tc vMerge="1">
                  <a:txBody>
                    <a:bodyPr/>
                    <a:lstStyle/>
                    <a:p>
                      <a:endParaRPr lang="en-RU"/>
                    </a:p>
                  </a:txBody>
                  <a:tcPr/>
                </a:tc>
                <a:tc>
                  <a:txBody>
                    <a:bodyPr/>
                    <a:lstStyle/>
                    <a:p>
                      <a:pPr algn="just">
                        <a:lnSpc>
                          <a:spcPct val="150000"/>
                        </a:lnSpc>
                        <a:buNone/>
                      </a:pPr>
                      <a:r>
                        <a:rPr lang="en-RU" sz="1000">
                          <a:effectLst/>
                        </a:rPr>
                        <a:t>LOF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0.8054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0.7901</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85045784"/>
                  </a:ext>
                </a:extLst>
              </a:tr>
              <a:tr h="204915">
                <a:tc vMerge="1">
                  <a:txBody>
                    <a:bodyPr/>
                    <a:lstStyle/>
                    <a:p>
                      <a:endParaRPr lang="en-RU"/>
                    </a:p>
                  </a:txBody>
                  <a:tcPr/>
                </a:tc>
                <a:tc>
                  <a:txBody>
                    <a:bodyPr/>
                    <a:lstStyle/>
                    <a:p>
                      <a:pPr algn="just">
                        <a:lnSpc>
                          <a:spcPct val="150000"/>
                        </a:lnSpc>
                        <a:buNone/>
                      </a:pPr>
                      <a:r>
                        <a:rPr lang="en-RU" sz="1000">
                          <a:effectLst/>
                        </a:rPr>
                        <a:t>Autoencoder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0.8319</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0.8222</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47360100"/>
                  </a:ext>
                </a:extLst>
              </a:tr>
              <a:tr h="204915">
                <a:tc rowSpan="5">
                  <a:txBody>
                    <a:bodyPr/>
                    <a:lstStyle/>
                    <a:p>
                      <a:pPr algn="just">
                        <a:lnSpc>
                          <a:spcPct val="150000"/>
                        </a:lnSpc>
                        <a:buNone/>
                      </a:pPr>
                      <a:r>
                        <a:rPr lang="en-RU" sz="1000">
                          <a:effectLst/>
                        </a:rPr>
                        <a:t>all-mpnet-base-v2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Mahalanobis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0.8313</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0.8051</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66212379"/>
                  </a:ext>
                </a:extLst>
              </a:tr>
              <a:tr h="204915">
                <a:tc vMerge="1">
                  <a:txBody>
                    <a:bodyPr/>
                    <a:lstStyle/>
                    <a:p>
                      <a:endParaRPr lang="en-RU"/>
                    </a:p>
                  </a:txBody>
                  <a:tcPr/>
                </a:tc>
                <a:tc>
                  <a:txBody>
                    <a:bodyPr/>
                    <a:lstStyle/>
                    <a:p>
                      <a:pPr algn="just">
                        <a:lnSpc>
                          <a:spcPct val="150000"/>
                        </a:lnSpc>
                        <a:buNone/>
                      </a:pPr>
                      <a:r>
                        <a:rPr lang="en-RU" sz="1000">
                          <a:effectLst/>
                        </a:rPr>
                        <a:t>IsolationForest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0.8593</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0.8504</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42925751"/>
                  </a:ext>
                </a:extLst>
              </a:tr>
              <a:tr h="204915">
                <a:tc vMerge="1">
                  <a:txBody>
                    <a:bodyPr/>
                    <a:lstStyle/>
                    <a:p>
                      <a:endParaRPr lang="en-RU"/>
                    </a:p>
                  </a:txBody>
                  <a:tcPr/>
                </a:tc>
                <a:tc>
                  <a:txBody>
                    <a:bodyPr/>
                    <a:lstStyle/>
                    <a:p>
                      <a:pPr algn="just">
                        <a:lnSpc>
                          <a:spcPct val="150000"/>
                        </a:lnSpc>
                        <a:buNone/>
                      </a:pPr>
                      <a:r>
                        <a:rPr lang="en-RU" sz="1000">
                          <a:effectLst/>
                        </a:rPr>
                        <a:t>kNN</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0.8242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0.8107</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64242164"/>
                  </a:ext>
                </a:extLst>
              </a:tr>
              <a:tr h="204915">
                <a:tc vMerge="1">
                  <a:txBody>
                    <a:bodyPr/>
                    <a:lstStyle/>
                    <a:p>
                      <a:endParaRPr lang="en-RU"/>
                    </a:p>
                  </a:txBody>
                  <a:tcPr/>
                </a:tc>
                <a:tc>
                  <a:txBody>
                    <a:bodyPr/>
                    <a:lstStyle/>
                    <a:p>
                      <a:pPr algn="just">
                        <a:lnSpc>
                          <a:spcPct val="150000"/>
                        </a:lnSpc>
                        <a:buNone/>
                      </a:pPr>
                      <a:r>
                        <a:rPr lang="en-RU" sz="1000">
                          <a:effectLst/>
                        </a:rPr>
                        <a:t>LOF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0.8271</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0.8162</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86771953"/>
                  </a:ext>
                </a:extLst>
              </a:tr>
              <a:tr h="204915">
                <a:tc vMerge="1">
                  <a:txBody>
                    <a:bodyPr/>
                    <a:lstStyle/>
                    <a:p>
                      <a:endParaRPr lang="en-RU"/>
                    </a:p>
                  </a:txBody>
                  <a:tcPr/>
                </a:tc>
                <a:tc>
                  <a:txBody>
                    <a:bodyPr/>
                    <a:lstStyle/>
                    <a:p>
                      <a:pPr algn="just">
                        <a:lnSpc>
                          <a:spcPct val="150000"/>
                        </a:lnSpc>
                        <a:buNone/>
                      </a:pPr>
                      <a:r>
                        <a:rPr lang="en-RU" sz="1000" b="1" dirty="0">
                          <a:effectLst/>
                        </a:rPr>
                        <a:t>Autoencoder</a:t>
                      </a:r>
                      <a:r>
                        <a:rPr lang="en-RU" sz="1000" dirty="0">
                          <a:effectLst/>
                        </a:rPr>
                        <a:t>          </a:t>
                      </a:r>
                      <a:endParaRPr lang="en-RU"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b="1">
                          <a:effectLst/>
                        </a:rPr>
                        <a:t>0.8600</a:t>
                      </a:r>
                      <a:endParaRPr lang="en-RU" sz="1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b="1" dirty="0">
                          <a:effectLst/>
                        </a:rPr>
                        <a:t>0.8510</a:t>
                      </a:r>
                      <a:endParaRPr lang="en-RU" sz="10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68922406"/>
                  </a:ext>
                </a:extLst>
              </a:tr>
              <a:tr h="204915">
                <a:tc rowSpan="5">
                  <a:txBody>
                    <a:bodyPr/>
                    <a:lstStyle/>
                    <a:p>
                      <a:pPr algn="just">
                        <a:lnSpc>
                          <a:spcPct val="150000"/>
                        </a:lnSpc>
                        <a:buNone/>
                      </a:pPr>
                      <a:r>
                        <a:rPr lang="en-RU" sz="1000" dirty="0">
                          <a:effectLst/>
                        </a:rPr>
                        <a:t>intfloat/e5-base</a:t>
                      </a:r>
                      <a:endParaRPr lang="en-RU"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Mahalanobis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0.8360</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0.8170</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12488200"/>
                  </a:ext>
                </a:extLst>
              </a:tr>
              <a:tr h="204915">
                <a:tc vMerge="1">
                  <a:txBody>
                    <a:bodyPr/>
                    <a:lstStyle/>
                    <a:p>
                      <a:endParaRPr lang="en-RU"/>
                    </a:p>
                  </a:txBody>
                  <a:tcPr/>
                </a:tc>
                <a:tc>
                  <a:txBody>
                    <a:bodyPr/>
                    <a:lstStyle/>
                    <a:p>
                      <a:pPr algn="just">
                        <a:lnSpc>
                          <a:spcPct val="150000"/>
                        </a:lnSpc>
                        <a:buNone/>
                      </a:pPr>
                      <a:r>
                        <a:rPr lang="en-RU" sz="1000">
                          <a:effectLst/>
                        </a:rPr>
                        <a:t>IsolationForest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0.8504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0.8424</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02584042"/>
                  </a:ext>
                </a:extLst>
              </a:tr>
              <a:tr h="204915">
                <a:tc vMerge="1">
                  <a:txBody>
                    <a:bodyPr/>
                    <a:lstStyle/>
                    <a:p>
                      <a:endParaRPr lang="en-RU"/>
                    </a:p>
                  </a:txBody>
                  <a:tcPr/>
                </a:tc>
                <a:tc>
                  <a:txBody>
                    <a:bodyPr/>
                    <a:lstStyle/>
                    <a:p>
                      <a:pPr algn="just">
                        <a:lnSpc>
                          <a:spcPct val="150000"/>
                        </a:lnSpc>
                        <a:buNone/>
                      </a:pPr>
                      <a:r>
                        <a:rPr lang="en-RU" sz="1000">
                          <a:effectLst/>
                        </a:rPr>
                        <a:t>kNN</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0.8474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0.8366</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52525805"/>
                  </a:ext>
                </a:extLst>
              </a:tr>
              <a:tr h="204915">
                <a:tc vMerge="1">
                  <a:txBody>
                    <a:bodyPr/>
                    <a:lstStyle/>
                    <a:p>
                      <a:endParaRPr lang="en-RU"/>
                    </a:p>
                  </a:txBody>
                  <a:tcPr/>
                </a:tc>
                <a:tc>
                  <a:txBody>
                    <a:bodyPr/>
                    <a:lstStyle/>
                    <a:p>
                      <a:pPr algn="just">
                        <a:lnSpc>
                          <a:spcPct val="150000"/>
                        </a:lnSpc>
                        <a:buNone/>
                      </a:pPr>
                      <a:r>
                        <a:rPr lang="en-RU" sz="1000">
                          <a:effectLst/>
                        </a:rPr>
                        <a:t>LOF                  </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0.8442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0.8335</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63230334"/>
                  </a:ext>
                </a:extLst>
              </a:tr>
              <a:tr h="204915">
                <a:tc vMerge="1">
                  <a:txBody>
                    <a:bodyPr/>
                    <a:lstStyle/>
                    <a:p>
                      <a:endParaRPr lang="en-RU"/>
                    </a:p>
                  </a:txBody>
                  <a:tcPr/>
                </a:tc>
                <a:tc>
                  <a:txBody>
                    <a:bodyPr/>
                    <a:lstStyle/>
                    <a:p>
                      <a:pPr algn="just">
                        <a:lnSpc>
                          <a:spcPct val="150000"/>
                        </a:lnSpc>
                        <a:buNone/>
                      </a:pPr>
                      <a:r>
                        <a:rPr lang="en-RU" sz="1000" dirty="0">
                          <a:effectLst/>
                        </a:rPr>
                        <a:t>Autoencoder          </a:t>
                      </a:r>
                      <a:endParaRPr lang="en-RU"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0.8524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dirty="0">
                          <a:effectLst/>
                        </a:rPr>
                        <a:t>0.8441</a:t>
                      </a:r>
                      <a:endParaRPr lang="en-RU"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955257"/>
                  </a:ext>
                </a:extLst>
              </a:tr>
            </a:tbl>
          </a:graphicData>
        </a:graphic>
      </p:graphicFrame>
    </p:spTree>
    <p:extLst>
      <p:ext uri="{BB962C8B-B14F-4D97-AF65-F5344CB8AC3E}">
        <p14:creationId xmlns:p14="http://schemas.microsoft.com/office/powerpoint/2010/main" val="1067935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F1BA9-1C5F-A4FC-446A-9DA247ED45DF}"/>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9A1CBFDD-3D4B-DA4A-DB11-1D992BFD9F20}"/>
              </a:ext>
            </a:extLst>
          </p:cNvPr>
          <p:cNvSpPr>
            <a:spLocks noGrp="1"/>
          </p:cNvSpPr>
          <p:nvPr>
            <p:ph type="title"/>
          </p:nvPr>
        </p:nvSpPr>
        <p:spPr>
          <a:xfrm>
            <a:off x="585898" y="1447790"/>
            <a:ext cx="3757677" cy="777025"/>
          </a:xfrm>
        </p:spPr>
        <p:txBody>
          <a:bodyPr/>
          <a:lstStyle/>
          <a:p>
            <a:r>
              <a:rPr lang="ru-RU" dirty="0"/>
              <a:t>Увеличение размерности пространства </a:t>
            </a:r>
            <a:r>
              <a:rPr lang="ru-RU" dirty="0" err="1"/>
              <a:t>эмбеддингов</a:t>
            </a:r>
            <a:endParaRPr lang="ru-RU" dirty="0"/>
          </a:p>
        </p:txBody>
      </p:sp>
      <mc:AlternateContent xmlns:mc="http://schemas.openxmlformats.org/markup-compatibility/2006">
        <mc:Choice xmlns:a14="http://schemas.microsoft.com/office/drawing/2010/main" Requires="a14">
          <p:sp>
            <p:nvSpPr>
              <p:cNvPr id="4" name="Текст 3">
                <a:extLst>
                  <a:ext uri="{FF2B5EF4-FFF2-40B4-BE49-F238E27FC236}">
                    <a16:creationId xmlns:a16="http://schemas.microsoft.com/office/drawing/2014/main" id="{168856D2-6469-8B1D-E078-0D30FA567578}"/>
                  </a:ext>
                </a:extLst>
              </p:cNvPr>
              <p:cNvSpPr>
                <a:spLocks noGrp="1"/>
              </p:cNvSpPr>
              <p:nvPr>
                <p:ph type="body" sz="quarter" idx="12"/>
              </p:nvPr>
            </p:nvSpPr>
            <p:spPr>
              <a:xfrm>
                <a:off x="585897" y="2379663"/>
                <a:ext cx="5599003" cy="3393234"/>
              </a:xfrm>
            </p:spPr>
            <p:txBody>
              <a:bodyPr>
                <a:normAutofit/>
              </a:bodyPr>
              <a:lstStyle/>
              <a:p>
                <a:pPr marL="285750" indent="-285750">
                  <a:buFont typeface="Arial" panose="020B0604020202020204" pitchFamily="34" charset="0"/>
                  <a:buChar char="•"/>
                </a:pPr>
                <a:r>
                  <a:rPr lang="ru-RU" dirty="0"/>
                  <a:t>Конкатенация </a:t>
                </a:r>
                <a:r>
                  <a:rPr lang="ru-RU" dirty="0" err="1"/>
                  <a:t>бейзлайна</a:t>
                </a:r>
                <a:r>
                  <a:rPr lang="ru-RU" dirty="0"/>
                  <a:t> с другими </a:t>
                </a:r>
                <a:r>
                  <a:rPr lang="ru-RU" dirty="0" err="1"/>
                  <a:t>эмбеддингами</a:t>
                </a:r>
                <a:r>
                  <a:rPr lang="ru-RU" dirty="0"/>
                  <a:t>:</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𝑐𝑜𝑛𝑐𝑎𝑡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ru-RU"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ru-RU" b="0" i="1" smtClean="0">
                          <a:latin typeface="Cambria Math" panose="02040503050406030204" pitchFamily="18" charset="0"/>
                        </a:rPr>
                        <m:t>эмбеддинги</m:t>
                      </m:r>
                    </m:oMath>
                  </m:oMathPara>
                </a14:m>
                <a:endParaRPr lang="ru-RU" b="0" dirty="0"/>
              </a:p>
              <a:p>
                <a:pPr/>
                <a14:m>
                  <m:oMathPara xmlns:m="http://schemas.openxmlformats.org/officeDocument/2006/math">
                    <m:oMathParaPr>
                      <m:jc m:val="left"/>
                    </m:oMathParaPr>
                    <m:oMath xmlns:m="http://schemas.openxmlformats.org/officeDocument/2006/math">
                      <m:sSub>
                        <m:sSubPr>
                          <m:ctrlPr>
                            <a:rPr lang="ru-RU"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ru-RU" b="0" i="1" smtClean="0">
                          <a:latin typeface="Cambria Math" panose="02040503050406030204" pitchFamily="18" charset="0"/>
                        </a:rPr>
                        <m:t>коэффициенты масштаба</m:t>
                      </m:r>
                    </m:oMath>
                  </m:oMathPara>
                </a14:m>
                <a:endParaRPr lang="ru-RU" b="0"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 −</m:t>
                      </m:r>
                      <m:r>
                        <a:rPr lang="ru-RU" b="0" i="1" smtClean="0">
                          <a:latin typeface="Cambria Math" panose="02040503050406030204" pitchFamily="18" charset="0"/>
                        </a:rPr>
                        <m:t>результирующий вектор текста</m:t>
                      </m:r>
                    </m:oMath>
                  </m:oMathPara>
                </a14:m>
                <a:endParaRPr lang="ru-RU" b="0" dirty="0"/>
              </a:p>
              <a:p>
                <a:pPr algn="ctr"/>
                <a:endParaRPr lang="ru-RU" dirty="0"/>
              </a:p>
              <a:p>
                <a:pPr marL="285750" indent="-285750">
                  <a:buFont typeface="Arial" panose="020B0604020202020204" pitchFamily="34" charset="0"/>
                  <a:buChar char="•"/>
                </a:pPr>
                <a:r>
                  <a:rPr lang="ru-RU" dirty="0"/>
                  <a:t>Подбор коэффициента </a:t>
                </a:r>
                <a:r>
                  <a:rPr lang="en-US" dirty="0"/>
                  <a:t>t</a:t>
                </a:r>
                <a:r>
                  <a:rPr lang="ru-RU" dirty="0"/>
                  <a:t>.</a:t>
                </a:r>
              </a:p>
              <a:p>
                <a:pPr marL="285750" indent="-285750">
                  <a:buFont typeface="Arial" panose="020B0604020202020204" pitchFamily="34" charset="0"/>
                  <a:buChar char="•"/>
                </a:pPr>
                <a:r>
                  <a:rPr lang="ru-RU" dirty="0"/>
                  <a:t>Определение максимальной </a:t>
                </a:r>
                <a:r>
                  <a:rPr lang="en-US" dirty="0"/>
                  <a:t>ROC-AUC</a:t>
                </a:r>
                <a:r>
                  <a:rPr lang="ru-RU" dirty="0"/>
                  <a:t>.</a:t>
                </a:r>
              </a:p>
              <a:p>
                <a:pPr marL="285750" indent="-285750">
                  <a:buFont typeface="Arial" panose="020B0604020202020204" pitchFamily="34" charset="0"/>
                  <a:buChar char="•"/>
                </a:pPr>
                <a:r>
                  <a:rPr lang="ru-RU" dirty="0"/>
                  <a:t>Использовался </a:t>
                </a:r>
                <a:r>
                  <a:rPr lang="ru-RU" dirty="0" err="1"/>
                  <a:t>автокодировщик</a:t>
                </a:r>
                <a:r>
                  <a:rPr lang="ru-RU" dirty="0"/>
                  <a:t>.</a:t>
                </a:r>
              </a:p>
              <a:p>
                <a:r>
                  <a:rPr lang="ru-RU" dirty="0"/>
                  <a:t>Также:</a:t>
                </a:r>
              </a:p>
              <a:p>
                <a:pPr marL="285750" indent="-285750">
                  <a:buFont typeface="Arial" panose="020B0604020202020204" pitchFamily="34" charset="0"/>
                  <a:buChar char="•"/>
                </a:pPr>
                <a:r>
                  <a:rPr lang="ru-RU" dirty="0"/>
                  <a:t>Нормализация </a:t>
                </a:r>
                <a:r>
                  <a:rPr lang="en-US" dirty="0"/>
                  <a:t>L2</a:t>
                </a:r>
                <a:r>
                  <a:rPr lang="ru-RU" dirty="0"/>
                  <a:t>.</a:t>
                </a:r>
              </a:p>
              <a:p>
                <a:pPr marL="285750" indent="-285750">
                  <a:buFont typeface="Arial" panose="020B0604020202020204" pitchFamily="34" charset="0"/>
                  <a:buChar char="•"/>
                </a:pPr>
                <a:r>
                  <a:rPr lang="ru-RU" dirty="0"/>
                  <a:t>Центрирование по среднему.</a:t>
                </a:r>
              </a:p>
              <a:p>
                <a:endParaRPr lang="ru-RU" dirty="0"/>
              </a:p>
              <a:p>
                <a:endParaRPr lang="ru-RU" dirty="0"/>
              </a:p>
            </p:txBody>
          </p:sp>
        </mc:Choice>
        <mc:Fallback>
          <p:sp>
            <p:nvSpPr>
              <p:cNvPr id="4" name="Текст 3">
                <a:extLst>
                  <a:ext uri="{FF2B5EF4-FFF2-40B4-BE49-F238E27FC236}">
                    <a16:creationId xmlns:a16="http://schemas.microsoft.com/office/drawing/2014/main" id="{168856D2-6469-8B1D-E078-0D30FA567578}"/>
                  </a:ext>
                </a:extLst>
              </p:cNvPr>
              <p:cNvSpPr>
                <a:spLocks noGrp="1" noRot="1" noChangeAspect="1" noMove="1" noResize="1" noEditPoints="1" noAdjustHandles="1" noChangeArrowheads="1" noChangeShapeType="1" noTextEdit="1"/>
              </p:cNvSpPr>
              <p:nvPr>
                <p:ph type="body" sz="quarter" idx="12"/>
              </p:nvPr>
            </p:nvSpPr>
            <p:spPr>
              <a:xfrm>
                <a:off x="585897" y="2379663"/>
                <a:ext cx="5599003" cy="3393234"/>
              </a:xfrm>
              <a:blipFill>
                <a:blip r:embed="rId2"/>
                <a:stretch>
                  <a:fillRect l="-2036" t="-1493"/>
                </a:stretch>
              </a:blipFill>
            </p:spPr>
            <p:txBody>
              <a:bodyPr/>
              <a:lstStyle/>
              <a:p>
                <a:r>
                  <a:rPr lang="en-RU">
                    <a:noFill/>
                  </a:rPr>
                  <a:t> </a:t>
                </a:r>
              </a:p>
            </p:txBody>
          </p:sp>
        </mc:Fallback>
      </mc:AlternateContent>
      <p:sp>
        <p:nvSpPr>
          <p:cNvPr id="5" name="Текст 4">
            <a:extLst>
              <a:ext uri="{FF2B5EF4-FFF2-40B4-BE49-F238E27FC236}">
                <a16:creationId xmlns:a16="http://schemas.microsoft.com/office/drawing/2014/main" id="{E2F5D99D-0B99-A23A-06E7-7B61B4ACA4F1}"/>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9EA48F9F-22E0-587F-124A-1C73B9197C79}"/>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A4857FF6-EBAD-29DA-62D0-75CD470396D2}"/>
              </a:ext>
            </a:extLst>
          </p:cNvPr>
          <p:cNvSpPr>
            <a:spLocks noGrp="1"/>
          </p:cNvSpPr>
          <p:nvPr>
            <p:ph type="body" sz="quarter" idx="15"/>
          </p:nvPr>
        </p:nvSpPr>
        <p:spPr>
          <a:xfrm>
            <a:off x="6259892" y="654193"/>
            <a:ext cx="3836607" cy="181530"/>
          </a:xfrm>
        </p:spPr>
        <p:txBody>
          <a:bodyPr/>
          <a:lstStyle/>
          <a:p>
            <a:r>
              <a:rPr lang="ru-RU" dirty="0"/>
              <a:t>Увеличение размерности пространства </a:t>
            </a:r>
            <a:r>
              <a:rPr lang="ru-RU" dirty="0" err="1"/>
              <a:t>эмбеддингов</a:t>
            </a:r>
            <a:endParaRPr lang="ru-RU" dirty="0"/>
          </a:p>
        </p:txBody>
      </p:sp>
      <p:sp>
        <p:nvSpPr>
          <p:cNvPr id="9" name="TextBox 8">
            <a:extLst>
              <a:ext uri="{FF2B5EF4-FFF2-40B4-BE49-F238E27FC236}">
                <a16:creationId xmlns:a16="http://schemas.microsoft.com/office/drawing/2014/main" id="{1C78D0D3-6E78-9A2E-799B-7471A6C9CBC8}"/>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pic>
        <p:nvPicPr>
          <p:cNvPr id="8" name="Picture 7">
            <a:extLst>
              <a:ext uri="{FF2B5EF4-FFF2-40B4-BE49-F238E27FC236}">
                <a16:creationId xmlns:a16="http://schemas.microsoft.com/office/drawing/2014/main" id="{4218A211-A2C9-4CF9-236B-DBF869D1FB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89626" y="1801488"/>
            <a:ext cx="3757677" cy="1851740"/>
          </a:xfrm>
          <a:prstGeom prst="rect">
            <a:avLst/>
          </a:prstGeom>
          <a:noFill/>
          <a:ln>
            <a:noFill/>
          </a:ln>
        </p:spPr>
      </p:pic>
      <p:pic>
        <p:nvPicPr>
          <p:cNvPr id="10" name="Picture 9">
            <a:extLst>
              <a:ext uri="{FF2B5EF4-FFF2-40B4-BE49-F238E27FC236}">
                <a16:creationId xmlns:a16="http://schemas.microsoft.com/office/drawing/2014/main" id="{067C29EB-8976-7DA7-8595-5D8AD384F5A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89624" y="3921156"/>
            <a:ext cx="3757679" cy="1851741"/>
          </a:xfrm>
          <a:prstGeom prst="rect">
            <a:avLst/>
          </a:prstGeom>
          <a:noFill/>
          <a:ln>
            <a:noFill/>
          </a:ln>
        </p:spPr>
      </p:pic>
    </p:spTree>
    <p:extLst>
      <p:ext uri="{BB962C8B-B14F-4D97-AF65-F5344CB8AC3E}">
        <p14:creationId xmlns:p14="http://schemas.microsoft.com/office/powerpoint/2010/main" val="3266497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45B23-20BB-FFE6-E7EC-C22CD86C2BD2}"/>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CFD48796-9139-7E2C-FAF8-3C2EB681186E}"/>
              </a:ext>
            </a:extLst>
          </p:cNvPr>
          <p:cNvSpPr>
            <a:spLocks noGrp="1"/>
          </p:cNvSpPr>
          <p:nvPr>
            <p:ph type="title"/>
          </p:nvPr>
        </p:nvSpPr>
        <p:spPr>
          <a:xfrm>
            <a:off x="585898" y="1447790"/>
            <a:ext cx="3744802" cy="777025"/>
          </a:xfrm>
        </p:spPr>
        <p:txBody>
          <a:bodyPr/>
          <a:lstStyle/>
          <a:p>
            <a:r>
              <a:rPr lang="ru-RU" dirty="0"/>
              <a:t>Увеличение размерности пространства </a:t>
            </a:r>
            <a:r>
              <a:rPr lang="ru-RU" dirty="0" err="1"/>
              <a:t>эмбеддингов</a:t>
            </a:r>
            <a:endParaRPr lang="ru-RU" dirty="0"/>
          </a:p>
        </p:txBody>
      </p:sp>
      <p:sp>
        <p:nvSpPr>
          <p:cNvPr id="4" name="Текст 3">
            <a:extLst>
              <a:ext uri="{FF2B5EF4-FFF2-40B4-BE49-F238E27FC236}">
                <a16:creationId xmlns:a16="http://schemas.microsoft.com/office/drawing/2014/main" id="{4EDF4E14-D5B2-559F-B65E-2F9CED91D640}"/>
              </a:ext>
            </a:extLst>
          </p:cNvPr>
          <p:cNvSpPr>
            <a:spLocks noGrp="1"/>
          </p:cNvSpPr>
          <p:nvPr>
            <p:ph type="body" sz="quarter" idx="12"/>
          </p:nvPr>
        </p:nvSpPr>
        <p:spPr>
          <a:xfrm>
            <a:off x="585897" y="2379663"/>
            <a:ext cx="4525853" cy="3393234"/>
          </a:xfrm>
        </p:spPr>
        <p:txBody>
          <a:bodyPr/>
          <a:lstStyle/>
          <a:p>
            <a:r>
              <a:rPr lang="ru-RU" dirty="0"/>
              <a:t>Результаты:</a:t>
            </a:r>
          </a:p>
          <a:p>
            <a:pPr marL="342900" indent="-342900">
              <a:buAutoNum type="arabicPeriod"/>
            </a:pPr>
            <a:r>
              <a:rPr lang="en-US" dirty="0"/>
              <a:t>Mean pooling + mean diff pooling </a:t>
            </a:r>
            <a:r>
              <a:rPr lang="ru-RU" dirty="0"/>
              <a:t>и </a:t>
            </a:r>
            <a:r>
              <a:rPr lang="en-US" dirty="0"/>
              <a:t>t=1.2.</a:t>
            </a:r>
          </a:p>
          <a:p>
            <a:pPr marL="342900" indent="-342900">
              <a:buAutoNum type="arabicPeriod"/>
            </a:pPr>
            <a:r>
              <a:rPr lang="ru-RU" dirty="0"/>
              <a:t>Нормализация имеет значение.</a:t>
            </a:r>
          </a:p>
          <a:p>
            <a:pPr marL="342900" indent="-342900">
              <a:buAutoNum type="arabicPeriod"/>
            </a:pPr>
            <a:r>
              <a:rPr lang="ru-RU" dirty="0"/>
              <a:t>Центрирование не имеет значения.</a:t>
            </a:r>
          </a:p>
          <a:p>
            <a:pPr marL="342900" indent="-342900">
              <a:buAutoNum type="arabicPeriod"/>
            </a:pPr>
            <a:r>
              <a:rPr lang="ru-RU" dirty="0"/>
              <a:t>Модель </a:t>
            </a:r>
            <a:r>
              <a:rPr lang="en-US" dirty="0"/>
              <a:t>all-mpnet-base-v2.</a:t>
            </a:r>
            <a:endParaRPr lang="ru-RU" dirty="0"/>
          </a:p>
          <a:p>
            <a:endParaRPr lang="ru-RU" dirty="0"/>
          </a:p>
          <a:p>
            <a:endParaRPr lang="ru-RU" dirty="0"/>
          </a:p>
        </p:txBody>
      </p:sp>
      <p:sp>
        <p:nvSpPr>
          <p:cNvPr id="5" name="Текст 4">
            <a:extLst>
              <a:ext uri="{FF2B5EF4-FFF2-40B4-BE49-F238E27FC236}">
                <a16:creationId xmlns:a16="http://schemas.microsoft.com/office/drawing/2014/main" id="{BED1A142-6065-37F3-12ED-CD5DF8E02C21}"/>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A27190F5-8F96-CDF8-09E5-B434DD269B8C}"/>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8CC5B3B3-1FF6-C6C2-B47E-244869530CB0}"/>
              </a:ext>
            </a:extLst>
          </p:cNvPr>
          <p:cNvSpPr>
            <a:spLocks noGrp="1"/>
          </p:cNvSpPr>
          <p:nvPr>
            <p:ph type="body" sz="quarter" idx="15"/>
          </p:nvPr>
        </p:nvSpPr>
        <p:spPr>
          <a:xfrm>
            <a:off x="6259892" y="654193"/>
            <a:ext cx="3836607" cy="181530"/>
          </a:xfrm>
        </p:spPr>
        <p:txBody>
          <a:bodyPr/>
          <a:lstStyle/>
          <a:p>
            <a:r>
              <a:rPr lang="ru-RU" dirty="0"/>
              <a:t>Увеличение размерности пространства </a:t>
            </a:r>
            <a:r>
              <a:rPr lang="ru-RU" dirty="0" err="1"/>
              <a:t>эмбеддингов</a:t>
            </a:r>
            <a:endParaRPr lang="ru-RU" dirty="0"/>
          </a:p>
        </p:txBody>
      </p:sp>
      <p:sp>
        <p:nvSpPr>
          <p:cNvPr id="9" name="TextBox 8">
            <a:extLst>
              <a:ext uri="{FF2B5EF4-FFF2-40B4-BE49-F238E27FC236}">
                <a16:creationId xmlns:a16="http://schemas.microsoft.com/office/drawing/2014/main" id="{69198DB3-A849-D952-229A-F61FF5A0F218}"/>
              </a:ext>
            </a:extLst>
          </p:cNvPr>
          <p:cNvSpPr txBox="1"/>
          <p:nvPr/>
        </p:nvSpPr>
        <p:spPr>
          <a:xfrm>
            <a:off x="8032750" y="4819650"/>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graphicFrame>
        <p:nvGraphicFramePr>
          <p:cNvPr id="2" name="Table 1">
            <a:extLst>
              <a:ext uri="{FF2B5EF4-FFF2-40B4-BE49-F238E27FC236}">
                <a16:creationId xmlns:a16="http://schemas.microsoft.com/office/drawing/2014/main" id="{98F2D51C-64A9-EC43-A9B5-88C0879D1EFE}"/>
              </a:ext>
            </a:extLst>
          </p:cNvPr>
          <p:cNvGraphicFramePr>
            <a:graphicFrameLocks noGrp="1"/>
          </p:cNvGraphicFramePr>
          <p:nvPr>
            <p:extLst>
              <p:ext uri="{D42A27DB-BD31-4B8C-83A1-F6EECF244321}">
                <p14:modId xmlns:p14="http://schemas.microsoft.com/office/powerpoint/2010/main" val="3791563900"/>
              </p:ext>
            </p:extLst>
          </p:nvPr>
        </p:nvGraphicFramePr>
        <p:xfrm>
          <a:off x="5306904" y="2379663"/>
          <a:ext cx="6299199" cy="3731952"/>
        </p:xfrm>
        <a:graphic>
          <a:graphicData uri="http://schemas.openxmlformats.org/drawingml/2006/table">
            <a:tbl>
              <a:tblPr firstRow="1" firstCol="1" bandRow="1">
                <a:tableStyleId>{5C22544A-7EE6-4342-B048-85BDC9FD1C3A}</a:tableStyleId>
              </a:tblPr>
              <a:tblGrid>
                <a:gridCol w="1261100">
                  <a:extLst>
                    <a:ext uri="{9D8B030D-6E8A-4147-A177-3AD203B41FA5}">
                      <a16:colId xmlns:a16="http://schemas.microsoft.com/office/drawing/2014/main" val="234937680"/>
                    </a:ext>
                  </a:extLst>
                </a:gridCol>
                <a:gridCol w="1185509">
                  <a:extLst>
                    <a:ext uri="{9D8B030D-6E8A-4147-A177-3AD203B41FA5}">
                      <a16:colId xmlns:a16="http://schemas.microsoft.com/office/drawing/2014/main" val="2891630490"/>
                    </a:ext>
                  </a:extLst>
                </a:gridCol>
                <a:gridCol w="1085981">
                  <a:extLst>
                    <a:ext uri="{9D8B030D-6E8A-4147-A177-3AD203B41FA5}">
                      <a16:colId xmlns:a16="http://schemas.microsoft.com/office/drawing/2014/main" val="473342712"/>
                    </a:ext>
                  </a:extLst>
                </a:gridCol>
                <a:gridCol w="1087242">
                  <a:extLst>
                    <a:ext uri="{9D8B030D-6E8A-4147-A177-3AD203B41FA5}">
                      <a16:colId xmlns:a16="http://schemas.microsoft.com/office/drawing/2014/main" val="4283536733"/>
                    </a:ext>
                  </a:extLst>
                </a:gridCol>
                <a:gridCol w="889447">
                  <a:extLst>
                    <a:ext uri="{9D8B030D-6E8A-4147-A177-3AD203B41FA5}">
                      <a16:colId xmlns:a16="http://schemas.microsoft.com/office/drawing/2014/main" val="4129589561"/>
                    </a:ext>
                  </a:extLst>
                </a:gridCol>
                <a:gridCol w="789920">
                  <a:extLst>
                    <a:ext uri="{9D8B030D-6E8A-4147-A177-3AD203B41FA5}">
                      <a16:colId xmlns:a16="http://schemas.microsoft.com/office/drawing/2014/main" val="511876646"/>
                    </a:ext>
                  </a:extLst>
                </a:gridCol>
              </a:tblGrid>
              <a:tr h="177712">
                <a:tc>
                  <a:txBody>
                    <a:bodyPr/>
                    <a:lstStyle/>
                    <a:p>
                      <a:pPr algn="just">
                        <a:lnSpc>
                          <a:spcPct val="150000"/>
                        </a:lnSpc>
                        <a:buNone/>
                      </a:pPr>
                      <a:r>
                        <a:rPr lang="ru-RU" sz="800">
                          <a:effectLst/>
                        </a:rPr>
                        <a:t>Модель</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Агрегация</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dirty="0">
                          <a:effectLst/>
                        </a:rPr>
                        <a:t>Центрирование</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Нормализация</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US" sz="800">
                          <a:effectLst/>
                        </a:rPr>
                        <a:t>ROC-AUC</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US" sz="800">
                          <a:effectLst/>
                        </a:rPr>
                        <a:t>t</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34483603"/>
                  </a:ext>
                </a:extLst>
              </a:tr>
              <a:tr h="177712">
                <a:tc>
                  <a:txBody>
                    <a:bodyPr/>
                    <a:lstStyle/>
                    <a:p>
                      <a:pPr algn="just">
                        <a:lnSpc>
                          <a:spcPct val="150000"/>
                        </a:lnSpc>
                        <a:buNone/>
                      </a:pPr>
                      <a:r>
                        <a:rPr lang="en-RU" sz="800" dirty="0">
                          <a:effectLst/>
                        </a:rPr>
                        <a:t>all-mpnet-base-v2   </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dirty="0">
                          <a:effectLst/>
                        </a:rPr>
                        <a:t>mean diff pooling</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0.9229</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1.2</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04203080"/>
                  </a:ext>
                </a:extLst>
              </a:tr>
              <a:tr h="177712">
                <a:tc>
                  <a:txBody>
                    <a:bodyPr/>
                    <a:lstStyle/>
                    <a:p>
                      <a:pPr algn="just">
                        <a:lnSpc>
                          <a:spcPct val="150000"/>
                        </a:lnSpc>
                        <a:buNone/>
                      </a:pPr>
                      <a:r>
                        <a:rPr lang="en-RU" sz="800">
                          <a:effectLst/>
                        </a:rPr>
                        <a:t>all-mpnet-base-v2   </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0.9225</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1.0</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69330272"/>
                  </a:ext>
                </a:extLst>
              </a:tr>
              <a:tr h="177712">
                <a:tc>
                  <a:txBody>
                    <a:bodyPr/>
                    <a:lstStyle/>
                    <a:p>
                      <a:pPr algn="just">
                        <a:lnSpc>
                          <a:spcPct val="150000"/>
                        </a:lnSpc>
                        <a:buNone/>
                      </a:pPr>
                      <a:r>
                        <a:rPr lang="en-RU" sz="800">
                          <a:effectLst/>
                        </a:rPr>
                        <a:t>intfloat/e5-base   </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0.9104</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0.8</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76297142"/>
                  </a:ext>
                </a:extLst>
              </a:tr>
              <a:tr h="177712">
                <a:tc>
                  <a:txBody>
                    <a:bodyPr/>
                    <a:lstStyle/>
                    <a:p>
                      <a:pPr algn="just">
                        <a:lnSpc>
                          <a:spcPct val="150000"/>
                        </a:lnSpc>
                        <a:buNone/>
                      </a:pPr>
                      <a:r>
                        <a:rPr lang="en-RU" sz="800">
                          <a:effectLst/>
                        </a:rPr>
                        <a:t>all-MiniLM-L6-v2   </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0.9082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1.2</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11170081"/>
                  </a:ext>
                </a:extLst>
              </a:tr>
              <a:tr h="177712">
                <a:tc>
                  <a:txBody>
                    <a:bodyPr/>
                    <a:lstStyle/>
                    <a:p>
                      <a:pPr algn="just">
                        <a:lnSpc>
                          <a:spcPct val="150000"/>
                        </a:lnSpc>
                        <a:buNone/>
                      </a:pPr>
                      <a:r>
                        <a:rPr lang="en-RU" sz="800">
                          <a:effectLst/>
                        </a:rPr>
                        <a:t>intfloat/e5-base   </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0.9076</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0.8</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06276141"/>
                  </a:ext>
                </a:extLst>
              </a:tr>
              <a:tr h="177712">
                <a:tc>
                  <a:txBody>
                    <a:bodyPr/>
                    <a:lstStyle/>
                    <a:p>
                      <a:pPr algn="just">
                        <a:lnSpc>
                          <a:spcPct val="150000"/>
                        </a:lnSpc>
                        <a:buNone/>
                      </a:pPr>
                      <a:r>
                        <a:rPr lang="en-RU" sz="800">
                          <a:effectLst/>
                        </a:rPr>
                        <a:t>all-MiniLM-L6-v2   </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0.9072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0.8</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64503400"/>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median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0.8798</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2.0</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54465047"/>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median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0.8797</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2.0</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39257130"/>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var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0.8743</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1.0</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25868666"/>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var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0.8742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1.0</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93163112"/>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dwp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0.8739</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0.5</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2188557"/>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max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0.8729</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1.6</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41251516"/>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dirty="0">
                          <a:effectLst/>
                        </a:rPr>
                        <a:t>dwp pooling</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0.8716</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0.4</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2943984"/>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var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0.8707</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0.9</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09720347"/>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var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dirty="0">
                          <a:effectLst/>
                        </a:rPr>
                        <a:t>Нет</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0.8705</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dirty="0">
                          <a:effectLst/>
                        </a:rPr>
                        <a:t>0.8</a:t>
                      </a:r>
                      <a:endParaRPr lang="en-RU" sz="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12195112"/>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median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0.8701</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0.7</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37177275"/>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max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0.8693</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1.2</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93179501"/>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dwp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Нет</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0.8690</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0.4</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48492004"/>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max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0.8685</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0.9</a:t>
                      </a:r>
                      <a:endParaRPr lang="en-RU" sz="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13631203"/>
                  </a:ext>
                </a:extLst>
              </a:tr>
              <a:tr h="177712">
                <a:tc>
                  <a:txBody>
                    <a:bodyPr/>
                    <a:lstStyle/>
                    <a:p>
                      <a:pPr algn="just">
                        <a:lnSpc>
                          <a:spcPct val="150000"/>
                        </a:lnSpc>
                        <a:buNone/>
                      </a:pPr>
                      <a:r>
                        <a:rPr lang="en-RU" sz="800">
                          <a:effectLst/>
                        </a:rPr>
                        <a:t>all-mpnet-base-v2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min diff pooling</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dirty="0">
                          <a:effectLst/>
                        </a:rPr>
                        <a:t>Да</a:t>
                      </a:r>
                      <a:endParaRPr lang="en-RU" sz="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a:effectLst/>
                        </a:rPr>
                        <a:t>Да</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800">
                          <a:effectLst/>
                        </a:rPr>
                        <a:t>0.8682</a:t>
                      </a:r>
                      <a:endParaRPr lang="en-RU" sz="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ru-RU" sz="800" dirty="0">
                          <a:effectLst/>
                        </a:rPr>
                        <a:t>1.2</a:t>
                      </a:r>
                      <a:endParaRPr lang="en-RU" sz="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76405208"/>
                  </a:ext>
                </a:extLst>
              </a:tr>
            </a:tbl>
          </a:graphicData>
        </a:graphic>
      </p:graphicFrame>
    </p:spTree>
    <p:extLst>
      <p:ext uri="{BB962C8B-B14F-4D97-AF65-F5344CB8AC3E}">
        <p14:creationId xmlns:p14="http://schemas.microsoft.com/office/powerpoint/2010/main" val="1728111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9A5DB-495A-9C8E-9059-8D4CFF08B3E5}"/>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CD1D85EC-9161-6B98-589A-9038EC940288}"/>
              </a:ext>
            </a:extLst>
          </p:cNvPr>
          <p:cNvSpPr>
            <a:spLocks noGrp="1"/>
          </p:cNvSpPr>
          <p:nvPr>
            <p:ph type="title"/>
          </p:nvPr>
        </p:nvSpPr>
        <p:spPr>
          <a:xfrm>
            <a:off x="585898" y="1447790"/>
            <a:ext cx="3744802" cy="777025"/>
          </a:xfrm>
        </p:spPr>
        <p:txBody>
          <a:bodyPr/>
          <a:lstStyle/>
          <a:p>
            <a:r>
              <a:rPr lang="ru-RU" dirty="0"/>
              <a:t>Увеличение размерности пространства </a:t>
            </a:r>
            <a:r>
              <a:rPr lang="ru-RU" dirty="0" err="1"/>
              <a:t>эмбеддингов</a:t>
            </a:r>
            <a:endParaRPr lang="ru-RU" dirty="0"/>
          </a:p>
        </p:txBody>
      </p:sp>
      <p:sp>
        <p:nvSpPr>
          <p:cNvPr id="4" name="Текст 3">
            <a:extLst>
              <a:ext uri="{FF2B5EF4-FFF2-40B4-BE49-F238E27FC236}">
                <a16:creationId xmlns:a16="http://schemas.microsoft.com/office/drawing/2014/main" id="{D5058AD0-4720-53FC-459C-C728418C0BD2}"/>
              </a:ext>
            </a:extLst>
          </p:cNvPr>
          <p:cNvSpPr>
            <a:spLocks noGrp="1"/>
          </p:cNvSpPr>
          <p:nvPr>
            <p:ph type="body" sz="quarter" idx="12"/>
          </p:nvPr>
        </p:nvSpPr>
        <p:spPr>
          <a:xfrm>
            <a:off x="585898" y="2379663"/>
            <a:ext cx="4052150" cy="3393234"/>
          </a:xfrm>
        </p:spPr>
        <p:txBody>
          <a:bodyPr/>
          <a:lstStyle/>
          <a:p>
            <a:r>
              <a:rPr lang="en-US" dirty="0"/>
              <a:t>Mean pooling 		ROC-AUC = 0.8600</a:t>
            </a:r>
          </a:p>
          <a:p>
            <a:r>
              <a:rPr lang="en-US" dirty="0"/>
              <a:t>Mean diff pooling 		ROC-AUC = </a:t>
            </a:r>
            <a:r>
              <a:rPr lang="en-RU" dirty="0"/>
              <a:t>0.7661</a:t>
            </a:r>
            <a:endParaRPr lang="en-US" dirty="0"/>
          </a:p>
          <a:p>
            <a:r>
              <a:rPr lang="en-US" dirty="0"/>
              <a:t>Mean pooling + Mean diff pooling 	ROC-AUC = </a:t>
            </a:r>
            <a:r>
              <a:rPr lang="en-RU" dirty="0"/>
              <a:t>0.9229</a:t>
            </a:r>
          </a:p>
          <a:p>
            <a:endParaRPr lang="ru-RU" dirty="0"/>
          </a:p>
          <a:p>
            <a:endParaRPr lang="ru-RU" dirty="0"/>
          </a:p>
          <a:p>
            <a:r>
              <a:rPr lang="ru-RU" dirty="0"/>
              <a:t>Детали:</a:t>
            </a:r>
            <a:endParaRPr lang="en-RU" dirty="0"/>
          </a:p>
          <a:p>
            <a:pPr marL="285750" indent="-285750">
              <a:buFont typeface="Arial" panose="020B0604020202020204" pitchFamily="34" charset="0"/>
              <a:buChar char="•"/>
            </a:pPr>
            <a:r>
              <a:rPr lang="ru-RU" dirty="0" err="1"/>
              <a:t>Эмбеддинги</a:t>
            </a:r>
            <a:r>
              <a:rPr lang="ru-RU" dirty="0"/>
              <a:t> нормализованы</a:t>
            </a:r>
          </a:p>
          <a:p>
            <a:pPr marL="285750" indent="-285750">
              <a:buFont typeface="Arial" panose="020B0604020202020204" pitchFamily="34" charset="0"/>
              <a:buChar char="•"/>
            </a:pPr>
            <a:r>
              <a:rPr lang="en-GB" dirty="0"/>
              <a:t>t=1.2</a:t>
            </a:r>
            <a:endParaRPr lang="ru-RU" dirty="0"/>
          </a:p>
          <a:p>
            <a:pPr marL="285750" indent="-285750">
              <a:buFont typeface="Arial" panose="020B0604020202020204" pitchFamily="34" charset="0"/>
              <a:buChar char="•"/>
            </a:pPr>
            <a:r>
              <a:rPr lang="en-US" dirty="0"/>
              <a:t>all-mpnet-base-v2</a:t>
            </a:r>
            <a:endParaRPr lang="ru-RU" dirty="0"/>
          </a:p>
          <a:p>
            <a:pPr marL="285750" indent="-285750">
              <a:buFont typeface="Arial" panose="020B0604020202020204" pitchFamily="34" charset="0"/>
              <a:buChar char="•"/>
            </a:pPr>
            <a:r>
              <a:rPr lang="ru-RU" dirty="0" err="1"/>
              <a:t>Автокодировщик</a:t>
            </a:r>
            <a:endParaRPr lang="ru-RU" dirty="0"/>
          </a:p>
          <a:p>
            <a:endParaRPr lang="ru-RU" dirty="0"/>
          </a:p>
        </p:txBody>
      </p:sp>
      <p:sp>
        <p:nvSpPr>
          <p:cNvPr id="5" name="Текст 4">
            <a:extLst>
              <a:ext uri="{FF2B5EF4-FFF2-40B4-BE49-F238E27FC236}">
                <a16:creationId xmlns:a16="http://schemas.microsoft.com/office/drawing/2014/main" id="{A1CA5F3F-8E47-AC47-7852-714206922BF7}"/>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C763FB22-81A4-BB22-34DA-E10FC14B1126}"/>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208D6829-0460-9AD5-4AE0-A209C84E7AE4}"/>
              </a:ext>
            </a:extLst>
          </p:cNvPr>
          <p:cNvSpPr>
            <a:spLocks noGrp="1"/>
          </p:cNvSpPr>
          <p:nvPr>
            <p:ph type="body" sz="quarter" idx="15"/>
          </p:nvPr>
        </p:nvSpPr>
        <p:spPr>
          <a:xfrm>
            <a:off x="6259892" y="654193"/>
            <a:ext cx="3836607" cy="181530"/>
          </a:xfrm>
        </p:spPr>
        <p:txBody>
          <a:bodyPr/>
          <a:lstStyle/>
          <a:p>
            <a:r>
              <a:rPr lang="ru-RU" dirty="0"/>
              <a:t>Увеличение размерности пространства </a:t>
            </a:r>
            <a:r>
              <a:rPr lang="ru-RU" dirty="0" err="1"/>
              <a:t>эмбеддингов</a:t>
            </a:r>
            <a:endParaRPr lang="ru-RU" dirty="0"/>
          </a:p>
        </p:txBody>
      </p:sp>
      <p:sp>
        <p:nvSpPr>
          <p:cNvPr id="9" name="TextBox 8">
            <a:extLst>
              <a:ext uri="{FF2B5EF4-FFF2-40B4-BE49-F238E27FC236}">
                <a16:creationId xmlns:a16="http://schemas.microsoft.com/office/drawing/2014/main" id="{F6DF1DAB-8316-6CF4-AA9F-A1F2B17C617A}"/>
              </a:ext>
            </a:extLst>
          </p:cNvPr>
          <p:cNvSpPr txBox="1"/>
          <p:nvPr/>
        </p:nvSpPr>
        <p:spPr>
          <a:xfrm>
            <a:off x="8293099" y="4819651"/>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pic>
        <p:nvPicPr>
          <p:cNvPr id="8" name="Picture 7">
            <a:extLst>
              <a:ext uri="{FF2B5EF4-FFF2-40B4-BE49-F238E27FC236}">
                <a16:creationId xmlns:a16="http://schemas.microsoft.com/office/drawing/2014/main" id="{769D905B-A194-C4BA-5BEF-34D92753043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9423" y="2379664"/>
            <a:ext cx="2921635" cy="1439545"/>
          </a:xfrm>
          <a:prstGeom prst="rect">
            <a:avLst/>
          </a:prstGeom>
          <a:noFill/>
          <a:ln>
            <a:noFill/>
          </a:ln>
        </p:spPr>
      </p:pic>
      <p:pic>
        <p:nvPicPr>
          <p:cNvPr id="10" name="Picture 9">
            <a:extLst>
              <a:ext uri="{FF2B5EF4-FFF2-40B4-BE49-F238E27FC236}">
                <a16:creationId xmlns:a16="http://schemas.microsoft.com/office/drawing/2014/main" id="{4B49EFD4-57D1-3F87-7D4C-1256C9C2FAB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9422" y="3974057"/>
            <a:ext cx="2921635" cy="1439545"/>
          </a:xfrm>
          <a:prstGeom prst="rect">
            <a:avLst/>
          </a:prstGeom>
          <a:noFill/>
          <a:ln>
            <a:noFill/>
          </a:ln>
        </p:spPr>
      </p:pic>
      <p:pic>
        <p:nvPicPr>
          <p:cNvPr id="11" name="Picture 10">
            <a:extLst>
              <a:ext uri="{FF2B5EF4-FFF2-40B4-BE49-F238E27FC236}">
                <a16:creationId xmlns:a16="http://schemas.microsoft.com/office/drawing/2014/main" id="{640574C9-0709-D8F0-00B0-F984E42B2CC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8856" y="2379663"/>
            <a:ext cx="2921635" cy="1439545"/>
          </a:xfrm>
          <a:prstGeom prst="rect">
            <a:avLst/>
          </a:prstGeom>
          <a:noFill/>
          <a:ln>
            <a:noFill/>
          </a:ln>
        </p:spPr>
      </p:pic>
      <p:pic>
        <p:nvPicPr>
          <p:cNvPr id="12" name="Picture 11">
            <a:extLst>
              <a:ext uri="{FF2B5EF4-FFF2-40B4-BE49-F238E27FC236}">
                <a16:creationId xmlns:a16="http://schemas.microsoft.com/office/drawing/2014/main" id="{E7D5B9BC-2637-0BD5-763A-60C0F2B1C7C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38856" y="3974057"/>
            <a:ext cx="2915285" cy="1439545"/>
          </a:xfrm>
          <a:prstGeom prst="rect">
            <a:avLst/>
          </a:prstGeom>
          <a:noFill/>
          <a:ln>
            <a:noFill/>
          </a:ln>
        </p:spPr>
      </p:pic>
      <p:sp>
        <p:nvSpPr>
          <p:cNvPr id="13" name="Right Arrow 12">
            <a:extLst>
              <a:ext uri="{FF2B5EF4-FFF2-40B4-BE49-F238E27FC236}">
                <a16:creationId xmlns:a16="http://schemas.microsoft.com/office/drawing/2014/main" id="{C2D59C6A-CB19-2C35-5C26-A6DD8082510F}"/>
              </a:ext>
            </a:extLst>
          </p:cNvPr>
          <p:cNvSpPr/>
          <p:nvPr/>
        </p:nvSpPr>
        <p:spPr>
          <a:xfrm>
            <a:off x="8293099" y="3581401"/>
            <a:ext cx="145445" cy="647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197663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45C95-3DB0-E64C-EEAE-B410BF1633B7}"/>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3C23E26B-D65F-AF42-4806-6146D09162A1}"/>
              </a:ext>
            </a:extLst>
          </p:cNvPr>
          <p:cNvSpPr>
            <a:spLocks noGrp="1"/>
          </p:cNvSpPr>
          <p:nvPr>
            <p:ph type="title"/>
          </p:nvPr>
        </p:nvSpPr>
        <p:spPr>
          <a:xfrm>
            <a:off x="585898" y="1447790"/>
            <a:ext cx="3744802" cy="777025"/>
          </a:xfrm>
        </p:spPr>
        <p:txBody>
          <a:bodyPr/>
          <a:lstStyle/>
          <a:p>
            <a:r>
              <a:rPr lang="ru-RU" dirty="0"/>
              <a:t>Сходство </a:t>
            </a:r>
            <a:r>
              <a:rPr lang="ru-RU" dirty="0" err="1"/>
              <a:t>эмбеддингов</a:t>
            </a:r>
            <a:endParaRPr lang="ru-RU" dirty="0"/>
          </a:p>
        </p:txBody>
      </p:sp>
      <p:sp>
        <p:nvSpPr>
          <p:cNvPr id="4" name="Текст 3">
            <a:extLst>
              <a:ext uri="{FF2B5EF4-FFF2-40B4-BE49-F238E27FC236}">
                <a16:creationId xmlns:a16="http://schemas.microsoft.com/office/drawing/2014/main" id="{B79AD498-4087-3202-5335-9EEFE72DEC89}"/>
              </a:ext>
            </a:extLst>
          </p:cNvPr>
          <p:cNvSpPr>
            <a:spLocks noGrp="1"/>
          </p:cNvSpPr>
          <p:nvPr>
            <p:ph type="body" sz="quarter" idx="12"/>
          </p:nvPr>
        </p:nvSpPr>
        <p:spPr>
          <a:xfrm>
            <a:off x="585898" y="2379663"/>
            <a:ext cx="5575562" cy="3393234"/>
          </a:xfrm>
        </p:spPr>
        <p:txBody>
          <a:bodyPr/>
          <a:lstStyle/>
          <a:p>
            <a:r>
              <a:rPr lang="ru-RU" dirty="0"/>
              <a:t>Вопросы:</a:t>
            </a:r>
          </a:p>
          <a:p>
            <a:pPr marL="342900" indent="-342900">
              <a:buFont typeface="+mj-lt"/>
              <a:buAutoNum type="arabicPeriod"/>
            </a:pPr>
            <a:r>
              <a:rPr lang="ru-RU" b="1" dirty="0"/>
              <a:t>На сколько похожи </a:t>
            </a:r>
            <a:r>
              <a:rPr lang="ru-RU" b="1" dirty="0" err="1"/>
              <a:t>эмбеддинги</a:t>
            </a:r>
            <a:r>
              <a:rPr lang="ru-RU" b="1" dirty="0"/>
              <a:t> друг на друга?</a:t>
            </a:r>
          </a:p>
          <a:p>
            <a:pPr marL="342900" indent="-342900">
              <a:buFont typeface="+mj-lt"/>
              <a:buAutoNum type="arabicPeriod"/>
            </a:pPr>
            <a:r>
              <a:rPr lang="ru-RU" b="1" dirty="0"/>
              <a:t>Можно ли определить, какие </a:t>
            </a:r>
            <a:r>
              <a:rPr lang="ru-RU" b="1" dirty="0" err="1"/>
              <a:t>эмбеддинги</a:t>
            </a:r>
            <a:r>
              <a:rPr lang="ru-RU" b="1" dirty="0"/>
              <a:t> будут комплиментарными?</a:t>
            </a:r>
            <a:endParaRPr lang="en-US" b="1" dirty="0"/>
          </a:p>
          <a:p>
            <a:endParaRPr lang="ru-RU" b="1" dirty="0"/>
          </a:p>
        </p:txBody>
      </p:sp>
      <p:sp>
        <p:nvSpPr>
          <p:cNvPr id="5" name="Текст 4">
            <a:extLst>
              <a:ext uri="{FF2B5EF4-FFF2-40B4-BE49-F238E27FC236}">
                <a16:creationId xmlns:a16="http://schemas.microsoft.com/office/drawing/2014/main" id="{7C6DC54A-A355-2968-D2BC-5E54A7025975}"/>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D17F3527-94C8-1379-287A-8C121E1A8959}"/>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DF7A21C7-DD4D-4310-092E-D8348BF7D059}"/>
              </a:ext>
            </a:extLst>
          </p:cNvPr>
          <p:cNvSpPr>
            <a:spLocks noGrp="1"/>
          </p:cNvSpPr>
          <p:nvPr>
            <p:ph type="body" sz="quarter" idx="15"/>
          </p:nvPr>
        </p:nvSpPr>
        <p:spPr>
          <a:xfrm>
            <a:off x="6259892" y="654193"/>
            <a:ext cx="3836607" cy="181530"/>
          </a:xfrm>
        </p:spPr>
        <p:txBody>
          <a:bodyPr/>
          <a:lstStyle/>
          <a:p>
            <a:r>
              <a:rPr lang="ru-RU" dirty="0"/>
              <a:t>Сходство </a:t>
            </a:r>
            <a:r>
              <a:rPr lang="ru-RU" dirty="0" err="1"/>
              <a:t>эмбеддингов</a:t>
            </a:r>
            <a:endParaRPr lang="ru-RU" dirty="0"/>
          </a:p>
        </p:txBody>
      </p:sp>
      <p:sp>
        <p:nvSpPr>
          <p:cNvPr id="9" name="TextBox 8">
            <a:extLst>
              <a:ext uri="{FF2B5EF4-FFF2-40B4-BE49-F238E27FC236}">
                <a16:creationId xmlns:a16="http://schemas.microsoft.com/office/drawing/2014/main" id="{E05ADFAF-E300-4527-5EE3-442674AA793B}"/>
              </a:ext>
            </a:extLst>
          </p:cNvPr>
          <p:cNvSpPr txBox="1"/>
          <p:nvPr/>
        </p:nvSpPr>
        <p:spPr>
          <a:xfrm>
            <a:off x="8293099" y="4819651"/>
            <a:ext cx="184731" cy="246221"/>
          </a:xfrm>
          <a:prstGeom prst="rect">
            <a:avLst/>
          </a:prstGeom>
          <a:noFill/>
        </p:spPr>
        <p:txBody>
          <a:bodyPr wrap="none" rtlCol="0">
            <a:spAutoFit/>
          </a:bodyPr>
          <a:lstStyle/>
          <a:p>
            <a:pPr algn="l"/>
            <a:endParaRPr lang="en-RU" sz="1000" dirty="0">
              <a:latin typeface="HSE Sans" panose="02000000000000000000" pitchFamily="2" charset="0"/>
            </a:endParaRPr>
          </a:p>
        </p:txBody>
      </p:sp>
      <p:pic>
        <p:nvPicPr>
          <p:cNvPr id="16" name="Picture 15">
            <a:extLst>
              <a:ext uri="{FF2B5EF4-FFF2-40B4-BE49-F238E27FC236}">
                <a16:creationId xmlns:a16="http://schemas.microsoft.com/office/drawing/2014/main" id="{3BCB7BB5-81CC-BDFC-56B5-43A58C334F5C}"/>
              </a:ext>
            </a:extLst>
          </p:cNvPr>
          <p:cNvPicPr>
            <a:picLocks noChangeAspect="1"/>
          </p:cNvPicPr>
          <p:nvPr/>
        </p:nvPicPr>
        <p:blipFill>
          <a:blip r:embed="rId2"/>
          <a:srcRect t="40077" r="50063" b="40057"/>
          <a:stretch>
            <a:fillRect/>
          </a:stretch>
        </p:blipFill>
        <p:spPr>
          <a:xfrm>
            <a:off x="6905825" y="2191466"/>
            <a:ext cx="4251082" cy="3573760"/>
          </a:xfrm>
          <a:prstGeom prst="rect">
            <a:avLst/>
          </a:prstGeom>
        </p:spPr>
      </p:pic>
    </p:spTree>
    <p:extLst>
      <p:ext uri="{BB962C8B-B14F-4D97-AF65-F5344CB8AC3E}">
        <p14:creationId xmlns:p14="http://schemas.microsoft.com/office/powerpoint/2010/main" val="3950841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28EA-F011-FB4A-1582-9F9DEA94611D}"/>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1D31EE6A-BD62-2785-DCE6-A47EEE4189C2}"/>
              </a:ext>
            </a:extLst>
          </p:cNvPr>
          <p:cNvSpPr>
            <a:spLocks noGrp="1"/>
          </p:cNvSpPr>
          <p:nvPr>
            <p:ph type="title"/>
          </p:nvPr>
        </p:nvSpPr>
        <p:spPr>
          <a:xfrm>
            <a:off x="585898" y="1447790"/>
            <a:ext cx="3744802" cy="777025"/>
          </a:xfrm>
        </p:spPr>
        <p:txBody>
          <a:bodyPr/>
          <a:lstStyle/>
          <a:p>
            <a:r>
              <a:rPr lang="ru-RU" dirty="0"/>
              <a:t>Сравнение с </a:t>
            </a:r>
            <a:r>
              <a:rPr lang="ru-RU" dirty="0" err="1"/>
              <a:t>бейзлайном</a:t>
            </a:r>
            <a:endParaRPr lang="ru-RU" dirty="0"/>
          </a:p>
        </p:txBody>
      </p:sp>
      <p:sp>
        <p:nvSpPr>
          <p:cNvPr id="5" name="Текст 4">
            <a:extLst>
              <a:ext uri="{FF2B5EF4-FFF2-40B4-BE49-F238E27FC236}">
                <a16:creationId xmlns:a16="http://schemas.microsoft.com/office/drawing/2014/main" id="{356C5710-C7E6-A6F4-4C0C-730B39B1E4B5}"/>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3AA3CD12-4F35-965F-010B-65D368212949}"/>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66526DAF-0FF9-4F37-2720-3432193143A3}"/>
              </a:ext>
            </a:extLst>
          </p:cNvPr>
          <p:cNvSpPr>
            <a:spLocks noGrp="1"/>
          </p:cNvSpPr>
          <p:nvPr>
            <p:ph type="body" sz="quarter" idx="15"/>
          </p:nvPr>
        </p:nvSpPr>
        <p:spPr>
          <a:xfrm>
            <a:off x="6259892" y="654193"/>
            <a:ext cx="3836607" cy="181530"/>
          </a:xfrm>
        </p:spPr>
        <p:txBody>
          <a:bodyPr/>
          <a:lstStyle/>
          <a:p>
            <a:r>
              <a:rPr lang="ru-RU" dirty="0"/>
              <a:t>Сравнение с </a:t>
            </a:r>
            <a:r>
              <a:rPr lang="ru-RU" dirty="0" err="1"/>
              <a:t>бейзлайном</a:t>
            </a:r>
            <a:endParaRPr lang="ru-RU" dirty="0"/>
          </a:p>
        </p:txBody>
      </p:sp>
      <p:graphicFrame>
        <p:nvGraphicFramePr>
          <p:cNvPr id="9" name="Table 8">
            <a:extLst>
              <a:ext uri="{FF2B5EF4-FFF2-40B4-BE49-F238E27FC236}">
                <a16:creationId xmlns:a16="http://schemas.microsoft.com/office/drawing/2014/main" id="{EB8DE3B2-29A0-6DB1-EF6F-8B0F55880A8F}"/>
              </a:ext>
            </a:extLst>
          </p:cNvPr>
          <p:cNvGraphicFramePr>
            <a:graphicFrameLocks noGrp="1"/>
          </p:cNvGraphicFramePr>
          <p:nvPr>
            <p:extLst>
              <p:ext uri="{D42A27DB-BD31-4B8C-83A1-F6EECF244321}">
                <p14:modId xmlns:p14="http://schemas.microsoft.com/office/powerpoint/2010/main" val="749542634"/>
              </p:ext>
            </p:extLst>
          </p:nvPr>
        </p:nvGraphicFramePr>
        <p:xfrm>
          <a:off x="2807909" y="2408509"/>
          <a:ext cx="6248400" cy="3240000"/>
        </p:xfrm>
        <a:graphic>
          <a:graphicData uri="http://schemas.openxmlformats.org/drawingml/2006/table">
            <a:tbl>
              <a:tblPr firstRow="1" firstCol="1" bandRow="1">
                <a:tableStyleId>{5C22544A-7EE6-4342-B048-85BDC9FD1C3A}</a:tableStyleId>
              </a:tblPr>
              <a:tblGrid>
                <a:gridCol w="2082800">
                  <a:extLst>
                    <a:ext uri="{9D8B030D-6E8A-4147-A177-3AD203B41FA5}">
                      <a16:colId xmlns:a16="http://schemas.microsoft.com/office/drawing/2014/main" val="1187821495"/>
                    </a:ext>
                  </a:extLst>
                </a:gridCol>
                <a:gridCol w="2082800">
                  <a:extLst>
                    <a:ext uri="{9D8B030D-6E8A-4147-A177-3AD203B41FA5}">
                      <a16:colId xmlns:a16="http://schemas.microsoft.com/office/drawing/2014/main" val="27238212"/>
                    </a:ext>
                  </a:extLst>
                </a:gridCol>
                <a:gridCol w="2082800">
                  <a:extLst>
                    <a:ext uri="{9D8B030D-6E8A-4147-A177-3AD203B41FA5}">
                      <a16:colId xmlns:a16="http://schemas.microsoft.com/office/drawing/2014/main" val="1348773240"/>
                    </a:ext>
                  </a:extLst>
                </a:gridCol>
              </a:tblGrid>
              <a:tr h="324000">
                <a:tc>
                  <a:txBody>
                    <a:bodyPr/>
                    <a:lstStyle/>
                    <a:p>
                      <a:pPr algn="l">
                        <a:lnSpc>
                          <a:spcPct val="150000"/>
                        </a:lnSpc>
                        <a:buNone/>
                      </a:pPr>
                      <a:r>
                        <a:rPr lang="ru-RU" sz="1200" dirty="0">
                          <a:effectLst/>
                          <a:latin typeface="+mn-lt"/>
                        </a:rPr>
                        <a:t>Метрика</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US" sz="1000" dirty="0">
                          <a:effectLst/>
                          <a:latin typeface="+mn-lt"/>
                        </a:rPr>
                        <a:t>Mean pooling</a:t>
                      </a:r>
                      <a:endParaRPr lang="en-RU" sz="10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US" sz="1000" dirty="0">
                          <a:effectLst/>
                          <a:latin typeface="+mn-lt"/>
                        </a:rPr>
                        <a:t>Mean pooling + mean diff pooling</a:t>
                      </a:r>
                      <a:endParaRPr lang="en-RU" sz="10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2633611203"/>
                  </a:ext>
                </a:extLst>
              </a:tr>
              <a:tr h="324000">
                <a:tc>
                  <a:txBody>
                    <a:bodyPr/>
                    <a:lstStyle/>
                    <a:p>
                      <a:pPr algn="l">
                        <a:buNone/>
                      </a:pPr>
                      <a:r>
                        <a:rPr lang="en-RU" sz="1200" dirty="0">
                          <a:effectLst/>
                          <a:latin typeface="+mn-lt"/>
                        </a:rPr>
                        <a:t>ROC AUC</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0.86</a:t>
                      </a:r>
                      <a:r>
                        <a:rPr lang="ru-RU" sz="1200" dirty="0">
                          <a:effectLst/>
                          <a:latin typeface="+mn-lt"/>
                        </a:rPr>
                        <a:t>00</a:t>
                      </a:r>
                      <a:endParaRPr lang="en-RU" sz="1200" dirty="0">
                        <a:effectLst/>
                        <a:latin typeface="+mn-lt"/>
                        <a:ea typeface="Times New Roman" panose="02020603050405020304" pitchFamily="18" charset="0"/>
                      </a:endParaRPr>
                    </a:p>
                  </a:txBody>
                  <a:tcPr marL="68580" marR="68580" marT="0" marB="0" anchor="ctr"/>
                </a:tc>
                <a:tc>
                  <a:txBody>
                    <a:bodyPr/>
                    <a:lstStyle/>
                    <a:p>
                      <a:pPr algn="l">
                        <a:buNone/>
                      </a:pPr>
                      <a:r>
                        <a:rPr lang="en-RU" sz="1200">
                          <a:effectLst/>
                          <a:latin typeface="+mn-lt"/>
                        </a:rPr>
                        <a:t>0.9229</a:t>
                      </a:r>
                      <a:endParaRPr lang="en-RU" sz="120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789547808"/>
                  </a:ext>
                </a:extLst>
              </a:tr>
              <a:tr h="324000">
                <a:tc>
                  <a:txBody>
                    <a:bodyPr/>
                    <a:lstStyle/>
                    <a:p>
                      <a:pPr algn="l">
                        <a:lnSpc>
                          <a:spcPct val="150000"/>
                        </a:lnSpc>
                        <a:buNone/>
                      </a:pPr>
                      <a:r>
                        <a:rPr lang="en-RU" sz="1200" dirty="0">
                          <a:effectLst/>
                          <a:latin typeface="+mn-lt"/>
                        </a:rPr>
                        <a:t>PR AUC</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0.85</a:t>
                      </a:r>
                      <a:r>
                        <a:rPr lang="ru-RU" sz="1200" dirty="0">
                          <a:effectLst/>
                          <a:latin typeface="+mn-lt"/>
                        </a:rPr>
                        <a:t>10</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0.9078</a:t>
                      </a:r>
                      <a:endParaRPr lang="en-RU" sz="120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468716747"/>
                  </a:ext>
                </a:extLst>
              </a:tr>
              <a:tr h="324000">
                <a:tc>
                  <a:txBody>
                    <a:bodyPr/>
                    <a:lstStyle/>
                    <a:p>
                      <a:pPr algn="l">
                        <a:lnSpc>
                          <a:spcPct val="150000"/>
                        </a:lnSpc>
                        <a:buNone/>
                      </a:pPr>
                      <a:r>
                        <a:rPr lang="en-RU" sz="1200">
                          <a:effectLst/>
                          <a:latin typeface="+mn-lt"/>
                        </a:rPr>
                        <a:t>Accuracy</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0.7843</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0.8474</a:t>
                      </a:r>
                      <a:endParaRPr lang="en-RU" sz="120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866366706"/>
                  </a:ext>
                </a:extLst>
              </a:tr>
              <a:tr h="324000">
                <a:tc>
                  <a:txBody>
                    <a:bodyPr/>
                    <a:lstStyle/>
                    <a:p>
                      <a:pPr algn="l">
                        <a:lnSpc>
                          <a:spcPct val="150000"/>
                        </a:lnSpc>
                        <a:buNone/>
                      </a:pPr>
                      <a:r>
                        <a:rPr lang="en-RU" sz="1200">
                          <a:effectLst/>
                          <a:latin typeface="+mn-lt"/>
                        </a:rPr>
                        <a:t>Precision</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0.7731</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0.8195</a:t>
                      </a:r>
                      <a:endParaRPr lang="en-RU" sz="120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849888605"/>
                  </a:ext>
                </a:extLst>
              </a:tr>
              <a:tr h="324000">
                <a:tc>
                  <a:txBody>
                    <a:bodyPr/>
                    <a:lstStyle/>
                    <a:p>
                      <a:pPr algn="l">
                        <a:lnSpc>
                          <a:spcPct val="150000"/>
                        </a:lnSpc>
                        <a:buNone/>
                      </a:pPr>
                      <a:r>
                        <a:rPr lang="en-RU" sz="1200">
                          <a:effectLst/>
                          <a:latin typeface="+mn-lt"/>
                        </a:rPr>
                        <a:t>Recall</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0.8050</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0.8910</a:t>
                      </a:r>
                      <a:endParaRPr lang="en-RU" sz="120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940475432"/>
                  </a:ext>
                </a:extLst>
              </a:tr>
              <a:tr h="324000">
                <a:tc>
                  <a:txBody>
                    <a:bodyPr/>
                    <a:lstStyle/>
                    <a:p>
                      <a:pPr algn="l">
                        <a:lnSpc>
                          <a:spcPct val="150000"/>
                        </a:lnSpc>
                        <a:buNone/>
                      </a:pPr>
                      <a:r>
                        <a:rPr lang="en-RU" sz="1200">
                          <a:effectLst/>
                          <a:latin typeface="+mn-lt"/>
                        </a:rPr>
                        <a:t>F1</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0.7887</a:t>
                      </a:r>
                      <a:endParaRPr lang="en-RU" sz="1200" dirty="0">
                        <a:effectLst/>
                        <a:latin typeface="+mn-lt"/>
                        <a:ea typeface="Times New Roman" panose="02020603050405020304" pitchFamily="18" charset="0"/>
                      </a:endParaRPr>
                    </a:p>
                  </a:txBody>
                  <a:tcPr marL="68580" marR="68580" marT="0" marB="0" anchor="ctr"/>
                </a:tc>
                <a:tc>
                  <a:txBody>
                    <a:bodyPr/>
                    <a:lstStyle/>
                    <a:p>
                      <a:pPr algn="l">
                        <a:buNone/>
                      </a:pPr>
                      <a:r>
                        <a:rPr lang="en-RU" sz="1200" dirty="0">
                          <a:effectLst/>
                          <a:latin typeface="+mn-lt"/>
                        </a:rPr>
                        <a:t>0.8538</a:t>
                      </a:r>
                      <a:endParaRPr lang="en-RU" sz="12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748661708"/>
                  </a:ext>
                </a:extLst>
              </a:tr>
              <a:tr h="324000">
                <a:tc>
                  <a:txBody>
                    <a:bodyPr/>
                    <a:lstStyle/>
                    <a:p>
                      <a:pPr algn="l">
                        <a:lnSpc>
                          <a:spcPct val="150000"/>
                        </a:lnSpc>
                        <a:buNone/>
                      </a:pPr>
                      <a:r>
                        <a:rPr lang="en-RU" sz="1200">
                          <a:effectLst/>
                          <a:latin typeface="+mn-lt"/>
                        </a:rPr>
                        <a:t>FPR@95TPR</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0.5241</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0.2787</a:t>
                      </a:r>
                      <a:endParaRPr lang="en-RU" sz="12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771097"/>
                  </a:ext>
                </a:extLst>
              </a:tr>
              <a:tr h="324000">
                <a:tc>
                  <a:txBody>
                    <a:bodyPr/>
                    <a:lstStyle/>
                    <a:p>
                      <a:pPr algn="l">
                        <a:lnSpc>
                          <a:spcPct val="150000"/>
                        </a:lnSpc>
                        <a:buNone/>
                      </a:pPr>
                      <a:r>
                        <a:rPr lang="en-RU" sz="1200">
                          <a:effectLst/>
                          <a:latin typeface="+mn-lt"/>
                        </a:rPr>
                        <a:t>FPR@99TPR</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a:effectLst/>
                          <a:latin typeface="+mn-lt"/>
                        </a:rPr>
                        <a:t>0.7738</a:t>
                      </a:r>
                      <a:endParaRPr lang="en-RU" sz="120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0.5988</a:t>
                      </a:r>
                      <a:endParaRPr lang="en-RU" sz="12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3407632209"/>
                  </a:ext>
                </a:extLst>
              </a:tr>
              <a:tr h="324000">
                <a:tc>
                  <a:txBody>
                    <a:bodyPr/>
                    <a:lstStyle/>
                    <a:p>
                      <a:pPr algn="l">
                        <a:lnSpc>
                          <a:spcPct val="150000"/>
                        </a:lnSpc>
                        <a:buNone/>
                      </a:pPr>
                      <a:r>
                        <a:rPr lang="en-RU" sz="1200" dirty="0">
                          <a:effectLst/>
                          <a:latin typeface="+mn-lt"/>
                        </a:rPr>
                        <a:t>Best threshold</a:t>
                      </a:r>
                      <a:endParaRPr lang="en-RU" sz="1200" dirty="0">
                        <a:effectLst/>
                        <a:latin typeface="+mn-lt"/>
                        <a:ea typeface="Times New Roman" panose="02020603050405020304" pitchFamily="18" charset="0"/>
                      </a:endParaRPr>
                    </a:p>
                  </a:txBody>
                  <a:tcPr marL="68580" marR="68580" marT="0" marB="0" anchor="ctr"/>
                </a:tc>
                <a:tc>
                  <a:txBody>
                    <a:bodyPr/>
                    <a:lstStyle/>
                    <a:p>
                      <a:pPr algn="l">
                        <a:buNone/>
                      </a:pPr>
                      <a:r>
                        <a:rPr lang="en-RU" sz="1200" dirty="0">
                          <a:effectLst/>
                          <a:latin typeface="+mn-lt"/>
                        </a:rPr>
                        <a:t>0.0003</a:t>
                      </a:r>
                      <a:endParaRPr lang="en-RU" sz="1200" dirty="0">
                        <a:effectLst/>
                        <a:latin typeface="+mn-lt"/>
                        <a:ea typeface="Times New Roman" panose="02020603050405020304" pitchFamily="18" charset="0"/>
                      </a:endParaRPr>
                    </a:p>
                  </a:txBody>
                  <a:tcPr marL="68580" marR="68580" marT="0" marB="0" anchor="ctr"/>
                </a:tc>
                <a:tc>
                  <a:txBody>
                    <a:bodyPr/>
                    <a:lstStyle/>
                    <a:p>
                      <a:pPr algn="l">
                        <a:lnSpc>
                          <a:spcPct val="150000"/>
                        </a:lnSpc>
                        <a:buNone/>
                      </a:pPr>
                      <a:r>
                        <a:rPr lang="en-RU" sz="1200" dirty="0">
                          <a:effectLst/>
                          <a:latin typeface="+mn-lt"/>
                        </a:rPr>
                        <a:t>0.0008</a:t>
                      </a:r>
                      <a:endParaRPr lang="en-RU" sz="12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576721187"/>
                  </a:ext>
                </a:extLst>
              </a:tr>
            </a:tbl>
          </a:graphicData>
        </a:graphic>
      </p:graphicFrame>
    </p:spTree>
    <p:extLst>
      <p:ext uri="{BB962C8B-B14F-4D97-AF65-F5344CB8AC3E}">
        <p14:creationId xmlns:p14="http://schemas.microsoft.com/office/powerpoint/2010/main" val="1898593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AD5D2-1732-8E34-D35C-263CD876324D}"/>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B4A44F80-C14C-D1E6-86D2-A43B11A2B3E9}"/>
              </a:ext>
            </a:extLst>
          </p:cNvPr>
          <p:cNvSpPr>
            <a:spLocks noGrp="1"/>
          </p:cNvSpPr>
          <p:nvPr>
            <p:ph type="title"/>
          </p:nvPr>
        </p:nvSpPr>
        <p:spPr>
          <a:xfrm>
            <a:off x="585898" y="1447790"/>
            <a:ext cx="3744802" cy="777025"/>
          </a:xfrm>
        </p:spPr>
        <p:txBody>
          <a:bodyPr/>
          <a:lstStyle/>
          <a:p>
            <a:r>
              <a:rPr lang="ru-RU" dirty="0"/>
              <a:t>Улучшение решения</a:t>
            </a:r>
          </a:p>
        </p:txBody>
      </p:sp>
      <p:sp>
        <p:nvSpPr>
          <p:cNvPr id="5" name="Текст 4">
            <a:extLst>
              <a:ext uri="{FF2B5EF4-FFF2-40B4-BE49-F238E27FC236}">
                <a16:creationId xmlns:a16="http://schemas.microsoft.com/office/drawing/2014/main" id="{573A95F6-5B6C-9198-1A21-17E3C852817A}"/>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0E524635-492F-3482-733D-5B2A3B34AEEA}"/>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FD882329-B866-2C8D-978B-A09A07CA3ADC}"/>
              </a:ext>
            </a:extLst>
          </p:cNvPr>
          <p:cNvSpPr>
            <a:spLocks noGrp="1"/>
          </p:cNvSpPr>
          <p:nvPr>
            <p:ph type="body" sz="quarter" idx="15"/>
          </p:nvPr>
        </p:nvSpPr>
        <p:spPr>
          <a:xfrm>
            <a:off x="6259892" y="654193"/>
            <a:ext cx="3836607" cy="181530"/>
          </a:xfrm>
        </p:spPr>
        <p:txBody>
          <a:bodyPr/>
          <a:lstStyle/>
          <a:p>
            <a:r>
              <a:rPr lang="ru-RU" dirty="0"/>
              <a:t>Улучшение решения</a:t>
            </a:r>
          </a:p>
        </p:txBody>
      </p:sp>
      <p:sp>
        <p:nvSpPr>
          <p:cNvPr id="4" name="Текст 3">
            <a:extLst>
              <a:ext uri="{FF2B5EF4-FFF2-40B4-BE49-F238E27FC236}">
                <a16:creationId xmlns:a16="http://schemas.microsoft.com/office/drawing/2014/main" id="{60F9493C-9DF7-F60C-34F5-1A083DE5354E}"/>
              </a:ext>
            </a:extLst>
          </p:cNvPr>
          <p:cNvSpPr>
            <a:spLocks noGrp="1"/>
          </p:cNvSpPr>
          <p:nvPr>
            <p:ph type="body" sz="quarter" idx="12"/>
          </p:nvPr>
        </p:nvSpPr>
        <p:spPr>
          <a:xfrm>
            <a:off x="585898" y="2379663"/>
            <a:ext cx="5575562" cy="3393234"/>
          </a:xfrm>
        </p:spPr>
        <p:txBody>
          <a:bodyPr/>
          <a:lstStyle/>
          <a:p>
            <a:pPr marL="342900" indent="-342900">
              <a:buAutoNum type="arabicPeriod"/>
            </a:pPr>
            <a:r>
              <a:rPr lang="ru-RU" dirty="0"/>
              <a:t>Конкатенация большего количества </a:t>
            </a:r>
            <a:r>
              <a:rPr lang="ru-RU" dirty="0" err="1"/>
              <a:t>эмбеддингов</a:t>
            </a:r>
            <a:r>
              <a:rPr lang="ru-RU" dirty="0"/>
              <a:t>.</a:t>
            </a:r>
          </a:p>
          <a:p>
            <a:pPr marL="342900" indent="-342900">
              <a:buAutoNum type="arabicPeriod"/>
            </a:pPr>
            <a:r>
              <a:rPr lang="ru-RU" dirty="0"/>
              <a:t>Использование более мощных моделей поиска аномалий (</a:t>
            </a:r>
            <a:r>
              <a:rPr lang="ru-RU" dirty="0" err="1"/>
              <a:t>автокодировщиков</a:t>
            </a:r>
            <a:r>
              <a:rPr lang="ru-RU" dirty="0"/>
              <a:t>):</a:t>
            </a:r>
          </a:p>
          <a:p>
            <a:pPr marL="800100" lvl="1" indent="-342900">
              <a:buAutoNum type="arabicPeriod"/>
            </a:pPr>
            <a:r>
              <a:rPr lang="en-RU" dirty="0"/>
              <a:t>Базовый автокодировщик (Vanilla Autoencoder, AE).</a:t>
            </a:r>
            <a:endParaRPr lang="ru-RU" dirty="0"/>
          </a:p>
          <a:p>
            <a:pPr marL="800100" lvl="1" indent="-342900">
              <a:buAutoNum type="arabicPeriod"/>
            </a:pPr>
            <a:r>
              <a:rPr lang="en-RU" dirty="0"/>
              <a:t>С подавлением шума (Denoising Autoencode, DAE);</a:t>
            </a:r>
            <a:endParaRPr lang="ru-RU" dirty="0"/>
          </a:p>
          <a:p>
            <a:pPr marL="800100" lvl="1" indent="-342900">
              <a:buAutoNum type="arabicPeriod"/>
            </a:pPr>
            <a:r>
              <a:rPr lang="en-RU" dirty="0"/>
              <a:t>Вариационный (Variational Autoencoder, VAE);</a:t>
            </a:r>
            <a:endParaRPr lang="ru-RU" dirty="0"/>
          </a:p>
          <a:p>
            <a:pPr marL="800100" lvl="1" indent="-342900">
              <a:buAutoNum type="arabicPeriod"/>
            </a:pPr>
            <a:r>
              <a:rPr lang="en-RU" dirty="0"/>
              <a:t>Контрактивный (Contractive Autoencoder, VAE);</a:t>
            </a:r>
            <a:endParaRPr lang="ru-RU" dirty="0"/>
          </a:p>
          <a:p>
            <a:pPr marL="800100" lvl="1" indent="-342900">
              <a:buAutoNum type="arabicPeriod"/>
            </a:pPr>
            <a:r>
              <a:rPr lang="en-RU" dirty="0"/>
              <a:t>Разреженный (Sparse Autoencoder, SAE).</a:t>
            </a:r>
          </a:p>
        </p:txBody>
      </p:sp>
      <p:graphicFrame>
        <p:nvGraphicFramePr>
          <p:cNvPr id="8" name="Table 7">
            <a:extLst>
              <a:ext uri="{FF2B5EF4-FFF2-40B4-BE49-F238E27FC236}">
                <a16:creationId xmlns:a16="http://schemas.microsoft.com/office/drawing/2014/main" id="{9E07D682-B14A-1CAC-7935-0AB160D6CADE}"/>
              </a:ext>
            </a:extLst>
          </p:cNvPr>
          <p:cNvGraphicFramePr>
            <a:graphicFrameLocks noGrp="1"/>
          </p:cNvGraphicFramePr>
          <p:nvPr>
            <p:extLst>
              <p:ext uri="{D42A27DB-BD31-4B8C-83A1-F6EECF244321}">
                <p14:modId xmlns:p14="http://schemas.microsoft.com/office/powerpoint/2010/main" val="3660472250"/>
              </p:ext>
            </p:extLst>
          </p:nvPr>
        </p:nvGraphicFramePr>
        <p:xfrm>
          <a:off x="6546013" y="2046630"/>
          <a:ext cx="4840738" cy="1224918"/>
        </p:xfrm>
        <a:graphic>
          <a:graphicData uri="http://schemas.openxmlformats.org/drawingml/2006/table">
            <a:tbl>
              <a:tblPr firstRow="1" firstCol="1" bandRow="1">
                <a:tableStyleId>{5C22544A-7EE6-4342-B048-85BDC9FD1C3A}</a:tableStyleId>
              </a:tblPr>
              <a:tblGrid>
                <a:gridCol w="2420369">
                  <a:extLst>
                    <a:ext uri="{9D8B030D-6E8A-4147-A177-3AD203B41FA5}">
                      <a16:colId xmlns:a16="http://schemas.microsoft.com/office/drawing/2014/main" val="3139896901"/>
                    </a:ext>
                  </a:extLst>
                </a:gridCol>
                <a:gridCol w="2420369">
                  <a:extLst>
                    <a:ext uri="{9D8B030D-6E8A-4147-A177-3AD203B41FA5}">
                      <a16:colId xmlns:a16="http://schemas.microsoft.com/office/drawing/2014/main" val="44586099"/>
                    </a:ext>
                  </a:extLst>
                </a:gridCol>
              </a:tblGrid>
              <a:tr h="204153">
                <a:tc>
                  <a:txBody>
                    <a:bodyPr/>
                    <a:lstStyle/>
                    <a:p>
                      <a:pPr algn="ctr">
                        <a:lnSpc>
                          <a:spcPct val="150000"/>
                        </a:lnSpc>
                        <a:buNone/>
                      </a:pPr>
                      <a:r>
                        <a:rPr lang="en-RU" sz="1000" dirty="0">
                          <a:effectLst/>
                        </a:rPr>
                        <a:t>ROC-AUC</a:t>
                      </a:r>
                      <a:endParaRPr lang="en-RU" sz="10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dirty="0">
                          <a:effectLst/>
                        </a:rPr>
                        <a:t>t</a:t>
                      </a:r>
                      <a:endParaRPr lang="en-RU" sz="1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47959047"/>
                  </a:ext>
                </a:extLst>
              </a:tr>
              <a:tr h="204153">
                <a:tc>
                  <a:txBody>
                    <a:bodyPr/>
                    <a:lstStyle/>
                    <a:p>
                      <a:pPr algn="ctr">
                        <a:lnSpc>
                          <a:spcPct val="150000"/>
                        </a:lnSpc>
                        <a:buNone/>
                      </a:pPr>
                      <a:r>
                        <a:rPr lang="en-RU" sz="1000">
                          <a:effectLst/>
                        </a:rPr>
                        <a:t>0.9242</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a:effectLst/>
                        </a:rPr>
                        <a:t>(1, 0.0, 1.2, 0.0, 0.0, 0.0)</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30892607"/>
                  </a:ext>
                </a:extLst>
              </a:tr>
              <a:tr h="204153">
                <a:tc>
                  <a:txBody>
                    <a:bodyPr/>
                    <a:lstStyle/>
                    <a:p>
                      <a:pPr algn="ctr">
                        <a:lnSpc>
                          <a:spcPct val="150000"/>
                        </a:lnSpc>
                        <a:buNone/>
                      </a:pPr>
                      <a:r>
                        <a:rPr lang="en-RU" sz="1000">
                          <a:effectLst/>
                        </a:rPr>
                        <a:t>0.9241</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a:effectLst/>
                        </a:rPr>
                        <a:t>(1, 0.0, 1.2, 0.4, 1.2, 0.0)</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40838650"/>
                  </a:ext>
                </a:extLst>
              </a:tr>
              <a:tr h="204153">
                <a:tc>
                  <a:txBody>
                    <a:bodyPr/>
                    <a:lstStyle/>
                    <a:p>
                      <a:pPr algn="ctr">
                        <a:lnSpc>
                          <a:spcPct val="150000"/>
                        </a:lnSpc>
                        <a:buNone/>
                      </a:pPr>
                      <a:r>
                        <a:rPr lang="en-RU" sz="1000">
                          <a:effectLst/>
                        </a:rPr>
                        <a:t>0.9236</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a:effectLst/>
                        </a:rPr>
                        <a:t>(1, 0.0, 1.2, 0.8, 0.8, 0.0)</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52612499"/>
                  </a:ext>
                </a:extLst>
              </a:tr>
              <a:tr h="204153">
                <a:tc>
                  <a:txBody>
                    <a:bodyPr/>
                    <a:lstStyle/>
                    <a:p>
                      <a:pPr algn="ctr">
                        <a:lnSpc>
                          <a:spcPct val="150000"/>
                        </a:lnSpc>
                        <a:buNone/>
                      </a:pPr>
                      <a:r>
                        <a:rPr lang="en-RU" sz="1000">
                          <a:effectLst/>
                        </a:rPr>
                        <a:t>0.9235</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a:effectLst/>
                        </a:rPr>
                        <a:t>(1, 0.4, 1.2, 0.0, 1.2, 0.0)</a:t>
                      </a:r>
                      <a:endParaRPr lang="en-RU"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5104107"/>
                  </a:ext>
                </a:extLst>
              </a:tr>
              <a:tr h="204153">
                <a:tc>
                  <a:txBody>
                    <a:bodyPr/>
                    <a:lstStyle/>
                    <a:p>
                      <a:pPr algn="ctr">
                        <a:lnSpc>
                          <a:spcPct val="150000"/>
                        </a:lnSpc>
                        <a:buNone/>
                      </a:pPr>
                      <a:r>
                        <a:rPr lang="en-RU" sz="1000" dirty="0">
                          <a:effectLst/>
                        </a:rPr>
                        <a:t>0.9234</a:t>
                      </a:r>
                      <a:endParaRPr lang="en-RU" sz="10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50000"/>
                        </a:lnSpc>
                        <a:buNone/>
                      </a:pPr>
                      <a:r>
                        <a:rPr lang="en-RU" sz="1000" dirty="0">
                          <a:effectLst/>
                        </a:rPr>
                        <a:t>(1, 0.4, 1.2, 0.4, 0.8, 0.0)</a:t>
                      </a:r>
                      <a:endParaRPr lang="en-RU" sz="1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517821783"/>
                  </a:ext>
                </a:extLst>
              </a:tr>
            </a:tbl>
          </a:graphicData>
        </a:graphic>
      </p:graphicFrame>
      <p:graphicFrame>
        <p:nvGraphicFramePr>
          <p:cNvPr id="10" name="Table 9">
            <a:extLst>
              <a:ext uri="{FF2B5EF4-FFF2-40B4-BE49-F238E27FC236}">
                <a16:creationId xmlns:a16="http://schemas.microsoft.com/office/drawing/2014/main" id="{A230244A-378F-8162-DCE0-509F55E7D8D4}"/>
              </a:ext>
            </a:extLst>
          </p:cNvPr>
          <p:cNvGraphicFramePr>
            <a:graphicFrameLocks noGrp="1"/>
          </p:cNvGraphicFramePr>
          <p:nvPr>
            <p:extLst>
              <p:ext uri="{D42A27DB-BD31-4B8C-83A1-F6EECF244321}">
                <p14:modId xmlns:p14="http://schemas.microsoft.com/office/powerpoint/2010/main" val="3892720353"/>
              </p:ext>
            </p:extLst>
          </p:nvPr>
        </p:nvGraphicFramePr>
        <p:xfrm>
          <a:off x="6546014" y="3723346"/>
          <a:ext cx="4840737" cy="2245683"/>
        </p:xfrm>
        <a:graphic>
          <a:graphicData uri="http://schemas.openxmlformats.org/drawingml/2006/table">
            <a:tbl>
              <a:tblPr firstRow="1" firstCol="1" bandRow="1">
                <a:tableStyleId>{5C22544A-7EE6-4342-B048-85BDC9FD1C3A}</a:tableStyleId>
              </a:tblPr>
              <a:tblGrid>
                <a:gridCol w="874331">
                  <a:extLst>
                    <a:ext uri="{9D8B030D-6E8A-4147-A177-3AD203B41FA5}">
                      <a16:colId xmlns:a16="http://schemas.microsoft.com/office/drawing/2014/main" val="3298187957"/>
                    </a:ext>
                  </a:extLst>
                </a:gridCol>
                <a:gridCol w="979271">
                  <a:extLst>
                    <a:ext uri="{9D8B030D-6E8A-4147-A177-3AD203B41FA5}">
                      <a16:colId xmlns:a16="http://schemas.microsoft.com/office/drawing/2014/main" val="1054856885"/>
                    </a:ext>
                  </a:extLst>
                </a:gridCol>
                <a:gridCol w="1452764">
                  <a:extLst>
                    <a:ext uri="{9D8B030D-6E8A-4147-A177-3AD203B41FA5}">
                      <a16:colId xmlns:a16="http://schemas.microsoft.com/office/drawing/2014/main" val="1290156868"/>
                    </a:ext>
                  </a:extLst>
                </a:gridCol>
                <a:gridCol w="1534371">
                  <a:extLst>
                    <a:ext uri="{9D8B030D-6E8A-4147-A177-3AD203B41FA5}">
                      <a16:colId xmlns:a16="http://schemas.microsoft.com/office/drawing/2014/main" val="942050381"/>
                    </a:ext>
                  </a:extLst>
                </a:gridCol>
              </a:tblGrid>
              <a:tr h="0">
                <a:tc>
                  <a:txBody>
                    <a:bodyPr/>
                    <a:lstStyle/>
                    <a:p>
                      <a:pPr algn="just">
                        <a:lnSpc>
                          <a:spcPct val="150000"/>
                        </a:lnSpc>
                        <a:buNone/>
                      </a:pPr>
                      <a:r>
                        <a:rPr lang="en-RU" sz="1000">
                          <a:effectLst/>
                        </a:rPr>
                        <a:t>ROC AUC</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PR AUC</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t</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Автокодировщик</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83209220"/>
                  </a:ext>
                </a:extLst>
              </a:tr>
              <a:tr h="0">
                <a:tc>
                  <a:txBody>
                    <a:bodyPr/>
                    <a:lstStyle/>
                    <a:p>
                      <a:pPr algn="just">
                        <a:lnSpc>
                          <a:spcPct val="150000"/>
                        </a:lnSpc>
                        <a:buNone/>
                      </a:pPr>
                      <a:r>
                        <a:rPr lang="en-RU" sz="1000">
                          <a:effectLst/>
                        </a:rPr>
                        <a:t>0.9270</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(1.0, 0.4, 1.2, 0.0, 1.2)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10551809"/>
                  </a:ext>
                </a:extLst>
              </a:tr>
              <a:tr h="0">
                <a:tc>
                  <a:txBody>
                    <a:bodyPr/>
                    <a:lstStyle/>
                    <a:p>
                      <a:pPr algn="just">
                        <a:lnSpc>
                          <a:spcPct val="150000"/>
                        </a:lnSpc>
                        <a:buNone/>
                      </a:pPr>
                      <a:r>
                        <a:rPr lang="en-RU" sz="1000">
                          <a:effectLst/>
                        </a:rPr>
                        <a:t>0.9267</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0.9091</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(1.0, 0.4, 1.2, 0.0, 1.2)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7845684"/>
                  </a:ext>
                </a:extLst>
              </a:tr>
              <a:tr h="0">
                <a:tc>
                  <a:txBody>
                    <a:bodyPr/>
                    <a:lstStyle/>
                    <a:p>
                      <a:pPr algn="just">
                        <a:lnSpc>
                          <a:spcPct val="150000"/>
                        </a:lnSpc>
                        <a:buNone/>
                      </a:pPr>
                      <a:r>
                        <a:rPr lang="en-RU" sz="1000">
                          <a:effectLst/>
                        </a:rPr>
                        <a:t>0.9266</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0.9105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(1.0, 0.4, 1.2, 0.0, 1.2)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48255351"/>
                  </a:ext>
                </a:extLst>
              </a:tr>
              <a:tr h="0">
                <a:tc>
                  <a:txBody>
                    <a:bodyPr/>
                    <a:lstStyle/>
                    <a:p>
                      <a:pPr algn="just">
                        <a:lnSpc>
                          <a:spcPct val="150000"/>
                        </a:lnSpc>
                        <a:buNone/>
                      </a:pPr>
                      <a:r>
                        <a:rPr lang="en-RU" sz="1000">
                          <a:effectLst/>
                        </a:rPr>
                        <a:t>0.9266</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0.9114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(1.0, 0.0, 1.2, 0.8, 1.2)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dirty="0">
                          <a:effectLst/>
                        </a:rPr>
                        <a:t>DAE</a:t>
                      </a:r>
                      <a:endParaRPr lang="en-RU"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63259845"/>
                  </a:ext>
                </a:extLst>
              </a:tr>
              <a:tr h="0">
                <a:tc>
                  <a:txBody>
                    <a:bodyPr/>
                    <a:lstStyle/>
                    <a:p>
                      <a:pPr algn="just">
                        <a:lnSpc>
                          <a:spcPct val="150000"/>
                        </a:lnSpc>
                        <a:buNone/>
                      </a:pPr>
                      <a:r>
                        <a:rPr lang="en-RU" sz="1000">
                          <a:effectLst/>
                        </a:rPr>
                        <a:t>0.9266</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0.9107</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(1.0, 0.0, 1.2, 0.8, 1.2)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dirty="0">
                          <a:effectLst/>
                        </a:rPr>
                        <a:t>SAE</a:t>
                      </a:r>
                      <a:endParaRPr lang="en-RU"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25070817"/>
                  </a:ext>
                </a:extLst>
              </a:tr>
              <a:tr h="0">
                <a:tc>
                  <a:txBody>
                    <a:bodyPr/>
                    <a:lstStyle/>
                    <a:p>
                      <a:pPr algn="just">
                        <a:lnSpc>
                          <a:spcPct val="150000"/>
                        </a:lnSpc>
                        <a:buNone/>
                      </a:pPr>
                      <a:r>
                        <a:rPr lang="en-RU" sz="1000">
                          <a:effectLst/>
                        </a:rPr>
                        <a:t>0.9265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0.9120</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(1.0, 0.0, 1.2, 0.8, 0.8)</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81854872"/>
                  </a:ext>
                </a:extLst>
              </a:tr>
              <a:tr h="0">
                <a:tc>
                  <a:txBody>
                    <a:bodyPr/>
                    <a:lstStyle/>
                    <a:p>
                      <a:pPr algn="just">
                        <a:lnSpc>
                          <a:spcPct val="150000"/>
                        </a:lnSpc>
                        <a:buNone/>
                      </a:pPr>
                      <a:r>
                        <a:rPr lang="en-RU" sz="1000">
                          <a:effectLst/>
                        </a:rPr>
                        <a:t>0.9265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0.9125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(1.0, 0.4, 1.2, 0.8, 0.8)</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97904417"/>
                  </a:ext>
                </a:extLst>
              </a:tr>
              <a:tr h="0">
                <a:tc>
                  <a:txBody>
                    <a:bodyPr/>
                    <a:lstStyle/>
                    <a:p>
                      <a:pPr algn="just">
                        <a:lnSpc>
                          <a:spcPct val="150000"/>
                        </a:lnSpc>
                        <a:buNone/>
                      </a:pPr>
                      <a:r>
                        <a:rPr lang="en-RU" sz="1000">
                          <a:effectLst/>
                        </a:rPr>
                        <a:t>0.9264</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0.9105</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(1.0, 0.0, 1.2, 1.2, 1.2)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SAE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7698340"/>
                  </a:ext>
                </a:extLst>
              </a:tr>
              <a:tr h="0">
                <a:tc>
                  <a:txBody>
                    <a:bodyPr/>
                    <a:lstStyle/>
                    <a:p>
                      <a:pPr algn="just">
                        <a:lnSpc>
                          <a:spcPct val="150000"/>
                        </a:lnSpc>
                        <a:buNone/>
                      </a:pPr>
                      <a:r>
                        <a:rPr lang="en-RU" sz="1000">
                          <a:effectLst/>
                        </a:rPr>
                        <a:t>0.9263</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0.9107</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(1.0, 0.0, 1.2, 0.8, 1.2)</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DAE</a:t>
                      </a:r>
                      <a:endParaRPr lang="en-RU"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50652816"/>
                  </a:ext>
                </a:extLst>
              </a:tr>
              <a:tr h="0">
                <a:tc>
                  <a:txBody>
                    <a:bodyPr/>
                    <a:lstStyle/>
                    <a:p>
                      <a:pPr algn="just">
                        <a:lnSpc>
                          <a:spcPct val="150000"/>
                        </a:lnSpc>
                        <a:buNone/>
                      </a:pPr>
                      <a:r>
                        <a:rPr lang="en-RU" sz="1000">
                          <a:effectLst/>
                        </a:rPr>
                        <a:t>0.9263</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0.9137</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a:effectLst/>
                        </a:rPr>
                        <a:t>(1.0, 0.4, 1.2, 0.4, 0.8)</a:t>
                      </a:r>
                      <a:endParaRPr lang="en-RU"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50000"/>
                        </a:lnSpc>
                        <a:buNone/>
                      </a:pPr>
                      <a:r>
                        <a:rPr lang="en-RU" sz="1000" dirty="0">
                          <a:effectLst/>
                        </a:rPr>
                        <a:t>AE</a:t>
                      </a:r>
                      <a:endParaRPr lang="en-RU"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27664739"/>
                  </a:ext>
                </a:extLst>
              </a:tr>
            </a:tbl>
          </a:graphicData>
        </a:graphic>
      </p:graphicFrame>
    </p:spTree>
    <p:extLst>
      <p:ext uri="{BB962C8B-B14F-4D97-AF65-F5344CB8AC3E}">
        <p14:creationId xmlns:p14="http://schemas.microsoft.com/office/powerpoint/2010/main" val="327149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7E34-8A53-2027-C3C0-7513021C040E}"/>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FF4E2505-681A-1F0C-0DF9-97BEEF497067}"/>
              </a:ext>
            </a:extLst>
          </p:cNvPr>
          <p:cNvSpPr>
            <a:spLocks noGrp="1"/>
          </p:cNvSpPr>
          <p:nvPr>
            <p:ph type="title"/>
          </p:nvPr>
        </p:nvSpPr>
        <p:spPr>
          <a:xfrm>
            <a:off x="585898" y="1447790"/>
            <a:ext cx="3744802" cy="777025"/>
          </a:xfrm>
        </p:spPr>
        <p:txBody>
          <a:bodyPr/>
          <a:lstStyle/>
          <a:p>
            <a:r>
              <a:rPr lang="ru-RU" dirty="0"/>
              <a:t>Выводы</a:t>
            </a:r>
          </a:p>
        </p:txBody>
      </p:sp>
      <p:sp>
        <p:nvSpPr>
          <p:cNvPr id="4" name="Текст 3">
            <a:extLst>
              <a:ext uri="{FF2B5EF4-FFF2-40B4-BE49-F238E27FC236}">
                <a16:creationId xmlns:a16="http://schemas.microsoft.com/office/drawing/2014/main" id="{0B41555B-1A0F-6EBA-C7F3-A4A0C16523BF}"/>
              </a:ext>
            </a:extLst>
          </p:cNvPr>
          <p:cNvSpPr>
            <a:spLocks noGrp="1"/>
          </p:cNvSpPr>
          <p:nvPr>
            <p:ph type="body" sz="quarter" idx="12"/>
          </p:nvPr>
        </p:nvSpPr>
        <p:spPr>
          <a:xfrm>
            <a:off x="585898" y="2379663"/>
            <a:ext cx="11021902" cy="3393234"/>
          </a:xfrm>
        </p:spPr>
        <p:txBody>
          <a:bodyPr/>
          <a:lstStyle/>
          <a:p>
            <a:pPr marL="342900" indent="-342900">
              <a:buAutoNum type="arabicPeriod"/>
            </a:pPr>
            <a:r>
              <a:rPr lang="ru-RU" dirty="0" err="1"/>
              <a:t>Эмбеддинги</a:t>
            </a:r>
            <a:r>
              <a:rPr lang="ru-RU" dirty="0"/>
              <a:t> разных методов агрегирования могут быть комплиментарными.</a:t>
            </a:r>
          </a:p>
          <a:p>
            <a:pPr marL="342900" indent="-342900">
              <a:buAutoNum type="arabicPeriod"/>
            </a:pPr>
            <a:r>
              <a:rPr lang="ru-RU" dirty="0"/>
              <a:t>Неочевидно, какие именно </a:t>
            </a:r>
            <a:r>
              <a:rPr lang="ru-RU" dirty="0" err="1"/>
              <a:t>эмбеддинги</a:t>
            </a:r>
            <a:r>
              <a:rPr lang="ru-RU" dirty="0"/>
              <a:t> окажутся комплиментарными.</a:t>
            </a:r>
          </a:p>
          <a:p>
            <a:pPr marL="342900" indent="-342900">
              <a:buAutoNum type="arabicPeriod"/>
            </a:pPr>
            <a:r>
              <a:rPr lang="ru-RU" dirty="0" err="1"/>
              <a:t>Эмбеддинги</a:t>
            </a:r>
            <a:r>
              <a:rPr lang="ru-RU" dirty="0"/>
              <a:t> разных методов агрегирования имеют различные масштабы.</a:t>
            </a:r>
          </a:p>
          <a:p>
            <a:pPr marL="342900" indent="-342900">
              <a:buAutoNum type="arabicPeriod"/>
            </a:pPr>
            <a:r>
              <a:rPr lang="ru-RU" dirty="0"/>
              <a:t>Сложно определить, какие именно аспекты текста содержит </a:t>
            </a:r>
            <a:r>
              <a:rPr lang="ru-RU" dirty="0" err="1"/>
              <a:t>эмбеддинг</a:t>
            </a:r>
            <a:r>
              <a:rPr lang="ru-RU" dirty="0"/>
              <a:t>.</a:t>
            </a:r>
          </a:p>
          <a:p>
            <a:pPr marL="342900" indent="-342900">
              <a:buAutoNum type="arabicPeriod"/>
            </a:pPr>
            <a:r>
              <a:rPr lang="ru-RU" dirty="0"/>
              <a:t>Не все классификаторы адекватно работают с пространством большой размерности.</a:t>
            </a:r>
          </a:p>
          <a:p>
            <a:pPr marL="342900" indent="-342900">
              <a:buAutoNum type="arabicPeriod"/>
            </a:pPr>
            <a:r>
              <a:rPr lang="ru-RU" dirty="0"/>
              <a:t>Структура пространства </a:t>
            </a:r>
            <a:r>
              <a:rPr lang="ru-RU" dirty="0" err="1"/>
              <a:t>эмбеддингов</a:t>
            </a:r>
            <a:r>
              <a:rPr lang="ru-RU" dirty="0"/>
              <a:t> влияет на метрику сильнее, чем модель-классификатор.</a:t>
            </a:r>
          </a:p>
          <a:p>
            <a:pPr marL="342900" indent="-342900">
              <a:buAutoNum type="arabicPeriod"/>
            </a:pPr>
            <a:r>
              <a:rPr lang="ru-RU" dirty="0"/>
              <a:t>Живые тексты могут быть более похожи, чем синтетические.</a:t>
            </a:r>
          </a:p>
          <a:p>
            <a:endParaRPr lang="ru-RU" dirty="0"/>
          </a:p>
        </p:txBody>
      </p:sp>
      <p:sp>
        <p:nvSpPr>
          <p:cNvPr id="5" name="Текст 4">
            <a:extLst>
              <a:ext uri="{FF2B5EF4-FFF2-40B4-BE49-F238E27FC236}">
                <a16:creationId xmlns:a16="http://schemas.microsoft.com/office/drawing/2014/main" id="{9E0D0AEC-F028-CF15-E836-6C2AE1708439}"/>
              </a:ext>
            </a:extLst>
          </p:cNvPr>
          <p:cNvSpPr>
            <a:spLocks noGrp="1"/>
          </p:cNvSpPr>
          <p:nvPr>
            <p:ph type="body" sz="quarter" idx="13"/>
          </p:nvPr>
        </p:nvSpPr>
        <p:spPr/>
        <p:txBody>
          <a:bodyPr/>
          <a:lstStyle/>
          <a:p>
            <a:r>
              <a:rPr lang="ru-RU" dirty="0"/>
              <a:t>ФКН</a:t>
            </a:r>
          </a:p>
          <a:p>
            <a:r>
              <a:rPr lang="ru-RU" dirty="0"/>
              <a:t>Искусственный Интеллект</a:t>
            </a:r>
          </a:p>
        </p:txBody>
      </p:sp>
      <p:sp>
        <p:nvSpPr>
          <p:cNvPr id="6" name="Текст 5">
            <a:extLst>
              <a:ext uri="{FF2B5EF4-FFF2-40B4-BE49-F238E27FC236}">
                <a16:creationId xmlns:a16="http://schemas.microsoft.com/office/drawing/2014/main" id="{0BF0ADD5-4CB4-2CD6-F317-ED17E2A6E4EE}"/>
              </a:ext>
            </a:extLst>
          </p:cNvPr>
          <p:cNvSpPr>
            <a:spLocks noGrp="1"/>
          </p:cNvSpPr>
          <p:nvPr>
            <p:ph type="body" sz="quarter" idx="14"/>
          </p:nvPr>
        </p:nvSpPr>
        <p:spPr>
          <a:xfrm>
            <a:off x="3459163" y="540904"/>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p:txBody>
      </p:sp>
      <p:sp>
        <p:nvSpPr>
          <p:cNvPr id="7" name="Текст 6">
            <a:extLst>
              <a:ext uri="{FF2B5EF4-FFF2-40B4-BE49-F238E27FC236}">
                <a16:creationId xmlns:a16="http://schemas.microsoft.com/office/drawing/2014/main" id="{CE274E70-2950-B87D-A4B9-F657801916BE}"/>
              </a:ext>
            </a:extLst>
          </p:cNvPr>
          <p:cNvSpPr>
            <a:spLocks noGrp="1"/>
          </p:cNvSpPr>
          <p:nvPr>
            <p:ph type="body" sz="quarter" idx="15"/>
          </p:nvPr>
        </p:nvSpPr>
        <p:spPr>
          <a:xfrm>
            <a:off x="6259892" y="654193"/>
            <a:ext cx="3836607" cy="181530"/>
          </a:xfrm>
        </p:spPr>
        <p:txBody>
          <a:bodyPr/>
          <a:lstStyle/>
          <a:p>
            <a:r>
              <a:rPr lang="ru-RU" dirty="0"/>
              <a:t>Выводы</a:t>
            </a:r>
          </a:p>
        </p:txBody>
      </p:sp>
    </p:spTree>
    <p:extLst>
      <p:ext uri="{BB962C8B-B14F-4D97-AF65-F5344CB8AC3E}">
        <p14:creationId xmlns:p14="http://schemas.microsoft.com/office/powerpoint/2010/main" val="3052954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4F6BFCD-F491-50A9-13D1-27EF35C97F43}"/>
              </a:ext>
            </a:extLst>
          </p:cNvPr>
          <p:cNvSpPr>
            <a:spLocks noGrp="1"/>
          </p:cNvSpPr>
          <p:nvPr>
            <p:ph type="body" sz="quarter" idx="13"/>
          </p:nvPr>
        </p:nvSpPr>
        <p:spPr/>
        <p:txBody>
          <a:bodyPr/>
          <a:lstStyle/>
          <a:p>
            <a:r>
              <a:rPr lang="ru-RU" dirty="0"/>
              <a:t>ФКН</a:t>
            </a:r>
          </a:p>
          <a:p>
            <a:r>
              <a:rPr lang="ru-RU" dirty="0"/>
              <a:t>Искусственный Интеллект</a:t>
            </a:r>
          </a:p>
          <a:p>
            <a:endParaRPr lang="en-RU" dirty="0"/>
          </a:p>
        </p:txBody>
      </p:sp>
      <p:sp>
        <p:nvSpPr>
          <p:cNvPr id="6" name="Text Placeholder 5">
            <a:extLst>
              <a:ext uri="{FF2B5EF4-FFF2-40B4-BE49-F238E27FC236}">
                <a16:creationId xmlns:a16="http://schemas.microsoft.com/office/drawing/2014/main" id="{79EF7980-DF97-D110-7D1E-A212131D918F}"/>
              </a:ext>
            </a:extLst>
          </p:cNvPr>
          <p:cNvSpPr>
            <a:spLocks noGrp="1"/>
          </p:cNvSpPr>
          <p:nvPr>
            <p:ph type="body" sz="quarter" idx="14"/>
          </p:nvPr>
        </p:nvSpPr>
        <p:spPr>
          <a:xfrm>
            <a:off x="3459163" y="548720"/>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a:p>
            <a:endParaRPr lang="en-RU" sz="900" dirty="0"/>
          </a:p>
        </p:txBody>
      </p:sp>
      <p:pic>
        <p:nvPicPr>
          <p:cNvPr id="9" name="Picture 8">
            <a:extLst>
              <a:ext uri="{FF2B5EF4-FFF2-40B4-BE49-F238E27FC236}">
                <a16:creationId xmlns:a16="http://schemas.microsoft.com/office/drawing/2014/main" id="{ABF656B7-79D0-E2A2-D6F8-8135D6F0749C}"/>
              </a:ext>
            </a:extLst>
          </p:cNvPr>
          <p:cNvPicPr>
            <a:picLocks noChangeAspect="1"/>
          </p:cNvPicPr>
          <p:nvPr/>
        </p:nvPicPr>
        <p:blipFill>
          <a:blip r:embed="rId2"/>
          <a:stretch>
            <a:fillRect/>
          </a:stretch>
        </p:blipFill>
        <p:spPr>
          <a:xfrm>
            <a:off x="1961292" y="1746422"/>
            <a:ext cx="7772400" cy="4212139"/>
          </a:xfrm>
          <a:prstGeom prst="rect">
            <a:avLst/>
          </a:prstGeom>
        </p:spPr>
      </p:pic>
      <p:sp>
        <p:nvSpPr>
          <p:cNvPr id="12" name="Текст 6">
            <a:extLst>
              <a:ext uri="{FF2B5EF4-FFF2-40B4-BE49-F238E27FC236}">
                <a16:creationId xmlns:a16="http://schemas.microsoft.com/office/drawing/2014/main" id="{00F681F2-3FDB-DAAF-0C34-E3B0998EFFDC}"/>
              </a:ext>
            </a:extLst>
          </p:cNvPr>
          <p:cNvSpPr txBox="1">
            <a:spLocks/>
          </p:cNvSpPr>
          <p:nvPr/>
        </p:nvSpPr>
        <p:spPr>
          <a:xfrm>
            <a:off x="6259892" y="654193"/>
            <a:ext cx="3836607" cy="18153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Дополнение 1. Сравнение признаков</a:t>
            </a:r>
          </a:p>
        </p:txBody>
      </p:sp>
    </p:spTree>
    <p:extLst>
      <p:ext uri="{BB962C8B-B14F-4D97-AF65-F5344CB8AC3E}">
        <p14:creationId xmlns:p14="http://schemas.microsoft.com/office/powerpoint/2010/main" val="820260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E5BE6-D9DE-D342-56D2-0465DA25D68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14B0FA2-6403-2769-6C5D-ACE0CDC25BAA}"/>
              </a:ext>
            </a:extLst>
          </p:cNvPr>
          <p:cNvSpPr>
            <a:spLocks noGrp="1"/>
          </p:cNvSpPr>
          <p:nvPr>
            <p:ph type="body" sz="quarter" idx="13"/>
          </p:nvPr>
        </p:nvSpPr>
        <p:spPr/>
        <p:txBody>
          <a:bodyPr/>
          <a:lstStyle/>
          <a:p>
            <a:r>
              <a:rPr lang="ru-RU" dirty="0"/>
              <a:t>ФКН</a:t>
            </a:r>
          </a:p>
          <a:p>
            <a:r>
              <a:rPr lang="ru-RU" dirty="0"/>
              <a:t>Искусственный Интеллект</a:t>
            </a:r>
          </a:p>
          <a:p>
            <a:endParaRPr lang="en-RU" dirty="0"/>
          </a:p>
        </p:txBody>
      </p:sp>
      <p:sp>
        <p:nvSpPr>
          <p:cNvPr id="6" name="Text Placeholder 5">
            <a:extLst>
              <a:ext uri="{FF2B5EF4-FFF2-40B4-BE49-F238E27FC236}">
                <a16:creationId xmlns:a16="http://schemas.microsoft.com/office/drawing/2014/main" id="{B9EA3822-B53D-4A8A-3D6E-E58716A000B3}"/>
              </a:ext>
            </a:extLst>
          </p:cNvPr>
          <p:cNvSpPr>
            <a:spLocks noGrp="1"/>
          </p:cNvSpPr>
          <p:nvPr>
            <p:ph type="body" sz="quarter" idx="14"/>
          </p:nvPr>
        </p:nvSpPr>
        <p:spPr>
          <a:xfrm>
            <a:off x="3459163" y="548720"/>
            <a:ext cx="2472946" cy="408109"/>
          </a:xfrm>
        </p:spPr>
        <p:txBody>
          <a:bodyPr/>
          <a:lstStyle/>
          <a:p>
            <a:r>
              <a:rPr lang="ru-RU" sz="900" dirty="0"/>
              <a:t>Разработка системы для распознавания сгенерированных искусственным интеллектом текстов  в академическом письме</a:t>
            </a:r>
          </a:p>
          <a:p>
            <a:endParaRPr lang="en-RU" sz="900" dirty="0"/>
          </a:p>
        </p:txBody>
      </p:sp>
      <p:sp>
        <p:nvSpPr>
          <p:cNvPr id="12" name="Текст 6">
            <a:extLst>
              <a:ext uri="{FF2B5EF4-FFF2-40B4-BE49-F238E27FC236}">
                <a16:creationId xmlns:a16="http://schemas.microsoft.com/office/drawing/2014/main" id="{80FEE4D0-9096-4C22-41E4-1AD0771F95BD}"/>
              </a:ext>
            </a:extLst>
          </p:cNvPr>
          <p:cNvSpPr txBox="1">
            <a:spLocks/>
          </p:cNvSpPr>
          <p:nvPr/>
        </p:nvSpPr>
        <p:spPr>
          <a:xfrm>
            <a:off x="6259892" y="654193"/>
            <a:ext cx="3836607" cy="18153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Дополнение 2. Сходства </a:t>
            </a:r>
            <a:r>
              <a:rPr lang="ru-RU" dirty="0" err="1"/>
              <a:t>эмбеддингов</a:t>
            </a:r>
            <a:endParaRPr lang="ru-RU" dirty="0"/>
          </a:p>
        </p:txBody>
      </p:sp>
      <p:pic>
        <p:nvPicPr>
          <p:cNvPr id="2" name="Picture 1">
            <a:extLst>
              <a:ext uri="{FF2B5EF4-FFF2-40B4-BE49-F238E27FC236}">
                <a16:creationId xmlns:a16="http://schemas.microsoft.com/office/drawing/2014/main" id="{B9207AE9-B95C-4335-C02C-198793C36E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9868" b="39918"/>
          <a:stretch>
            <a:fillRect/>
          </a:stretch>
        </p:blipFill>
        <p:spPr bwMode="auto">
          <a:xfrm>
            <a:off x="3701722" y="1797496"/>
            <a:ext cx="7636461" cy="3263008"/>
          </a:xfrm>
          <a:prstGeom prst="rect">
            <a:avLst/>
          </a:prstGeom>
          <a:noFill/>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DDE51435-5E29-DAB6-5825-1CC84784DC20}"/>
              </a:ext>
            </a:extLst>
          </p:cNvPr>
          <p:cNvSpPr txBox="1"/>
          <p:nvPr/>
        </p:nvSpPr>
        <p:spPr>
          <a:xfrm>
            <a:off x="1143689" y="2440458"/>
            <a:ext cx="1593834" cy="2123658"/>
          </a:xfrm>
          <a:prstGeom prst="rect">
            <a:avLst/>
          </a:prstGeom>
          <a:noFill/>
        </p:spPr>
        <p:txBody>
          <a:bodyPr wrap="none" rtlCol="0">
            <a:spAutoFit/>
          </a:bodyPr>
          <a:lstStyle/>
          <a:p>
            <a:r>
              <a:rPr lang="en-US" sz="1200" dirty="0">
                <a:latin typeface="HSE Sans" panose="02000000000000000000" pitchFamily="2" charset="0"/>
              </a:rPr>
              <a:t>0. Mean pooling</a:t>
            </a:r>
          </a:p>
          <a:p>
            <a:r>
              <a:rPr lang="en-US" sz="1200" dirty="0">
                <a:latin typeface="HSE Sans" panose="02000000000000000000" pitchFamily="2" charset="0"/>
              </a:rPr>
              <a:t>1. Max pooling</a:t>
            </a:r>
          </a:p>
          <a:p>
            <a:r>
              <a:rPr lang="en-US" sz="1200" dirty="0">
                <a:latin typeface="HSE Sans" panose="02000000000000000000" pitchFamily="2" charset="0"/>
              </a:rPr>
              <a:t>2. Var pooling</a:t>
            </a:r>
          </a:p>
          <a:p>
            <a:r>
              <a:rPr lang="en-US" sz="1200" dirty="0">
                <a:latin typeface="HSE Sans" panose="02000000000000000000" pitchFamily="2" charset="0"/>
              </a:rPr>
              <a:t>3. Median pooling</a:t>
            </a:r>
          </a:p>
          <a:p>
            <a:r>
              <a:rPr lang="en-US" sz="1200" dirty="0">
                <a:latin typeface="HSE Sans" panose="02000000000000000000" pitchFamily="2" charset="0"/>
              </a:rPr>
              <a:t>4. Mean diff pooling</a:t>
            </a:r>
          </a:p>
          <a:p>
            <a:r>
              <a:rPr lang="en-US" sz="1200" dirty="0">
                <a:latin typeface="HSE Sans" panose="02000000000000000000" pitchFamily="2" charset="0"/>
              </a:rPr>
              <a:t>5. Max diff pooling</a:t>
            </a:r>
          </a:p>
          <a:p>
            <a:r>
              <a:rPr lang="en-US" sz="1200" dirty="0">
                <a:latin typeface="HSE Sans" panose="02000000000000000000" pitchFamily="2" charset="0"/>
              </a:rPr>
              <a:t>6. Min diff  pooling</a:t>
            </a:r>
          </a:p>
          <a:p>
            <a:r>
              <a:rPr lang="en-US" sz="1200" dirty="0">
                <a:latin typeface="HSE Sans" panose="02000000000000000000" pitchFamily="2" charset="0"/>
              </a:rPr>
              <a:t>7. Median diff  pooling</a:t>
            </a:r>
          </a:p>
          <a:p>
            <a:r>
              <a:rPr lang="en-US" sz="1200" dirty="0">
                <a:latin typeface="HSE Sans" panose="02000000000000000000" pitchFamily="2" charset="0"/>
              </a:rPr>
              <a:t>8. Var diff  pooling</a:t>
            </a:r>
          </a:p>
          <a:p>
            <a:r>
              <a:rPr lang="en-US" sz="1200" dirty="0">
                <a:latin typeface="HSE Sans" panose="02000000000000000000" pitchFamily="2" charset="0"/>
              </a:rPr>
              <a:t>9. DWP pooling</a:t>
            </a:r>
          </a:p>
          <a:p>
            <a:pPr marL="228600" indent="-228600" algn="l">
              <a:buAutoNum type="arabicPeriod"/>
            </a:pPr>
            <a:endParaRPr lang="en-RU" sz="1200" dirty="0">
              <a:latin typeface="HSE Sans" panose="02000000000000000000" pitchFamily="2" charset="0"/>
            </a:endParaRPr>
          </a:p>
        </p:txBody>
      </p:sp>
    </p:spTree>
    <p:extLst>
      <p:ext uri="{BB962C8B-B14F-4D97-AF65-F5344CB8AC3E}">
        <p14:creationId xmlns:p14="http://schemas.microsoft.com/office/powerpoint/2010/main" val="1686898887"/>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3.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4742</TotalTime>
  <Words>2348</Words>
  <Application>Microsoft Macintosh PowerPoint</Application>
  <PresentationFormat>Widescreen</PresentationFormat>
  <Paragraphs>651</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Cambria Math</vt:lpstr>
      <vt:lpstr>HSE Sans</vt:lpstr>
      <vt:lpstr>Times New Roman</vt:lpstr>
      <vt:lpstr>Office Theme</vt:lpstr>
      <vt:lpstr>Разработка системы для распознавания сгенерированных искусственным интеллектом текстов в академическом письме</vt:lpstr>
      <vt:lpstr>Описание проблемы</vt:lpstr>
      <vt:lpstr>Современное состояние</vt:lpstr>
      <vt:lpstr>Проблемы существующих методов</vt:lpstr>
      <vt:lpstr>Описание метода</vt:lpstr>
      <vt:lpstr>Описание метода</vt:lpstr>
      <vt:lpstr>Наборы данных</vt:lpstr>
      <vt:lpstr>Примеры текстов</vt:lpstr>
      <vt:lpstr>Модели-энкодеры</vt:lpstr>
      <vt:lpstr>Методы агрегирования</vt:lpstr>
      <vt:lpstr>Методы агрегирования</vt:lpstr>
      <vt:lpstr>Методы агрегирования</vt:lpstr>
      <vt:lpstr>Метрики качества</vt:lpstr>
      <vt:lpstr>Методы поиска аномалий</vt:lpstr>
      <vt:lpstr>Выбор бейзлайна</vt:lpstr>
      <vt:lpstr>Увеличение размерности пространства эмбеддингов</vt:lpstr>
      <vt:lpstr>Увеличение размерности пространства эмбеддингов</vt:lpstr>
      <vt:lpstr>Увеличение размерности пространства эмбеддингов</vt:lpstr>
      <vt:lpstr>Сходство эмбеддингов</vt:lpstr>
      <vt:lpstr>Сравнение с бейзлайном</vt:lpstr>
      <vt:lpstr>Улучшение решения</vt:lpstr>
      <vt:lpstr>Выводы</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a83990</cp:lastModifiedBy>
  <cp:revision>38</cp:revision>
  <cp:lastPrinted>2021-11-11T13:08:42Z</cp:lastPrinted>
  <dcterms:created xsi:type="dcterms:W3CDTF">2021-11-11T08:52:47Z</dcterms:created>
  <dcterms:modified xsi:type="dcterms:W3CDTF">2026-05-27T20:42:15Z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